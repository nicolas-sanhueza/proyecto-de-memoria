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261" r:id="rId7"/>
    <p:sldId id="258" r:id="rId8"/>
    <p:sldId id="262" r:id="rId9"/>
    <p:sldId id="263" r:id="rId10"/>
    <p:sldId id="265" r:id="rId11"/>
    <p:sldId id="264" r:id="rId12"/>
    <p:sldId id="256"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 Rienzo Federica (I&amp;N DH )" initials="DRF(D)" lastIdx="7" clrIdx="0"/>
  <p:cmAuthor id="2" name="Lenovo" initials="CPA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4" autoAdjust="0"/>
    <p:restoredTop sz="94015" autoAdjust="0"/>
  </p:normalViewPr>
  <p:slideViewPr>
    <p:cSldViewPr snapToGrid="0">
      <p:cViewPr varScale="1">
        <p:scale>
          <a:sx n="65" d="100"/>
          <a:sy n="65" d="100"/>
        </p:scale>
        <p:origin x="97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5-13T10:49:35.511" idx="1">
    <p:pos x="4836" y="1824"/>
    <p:text>In the other direction (from local systems to SMMePlus), SMMePlus exposes a service in the intranet that is used to provision information and request activities.</p:text>
  </p:cm>
  <p:cm authorId="1" dt="2020-05-13T10:51:58.903" idx="2">
    <p:pos x="4840" y="661"/>
    <p:text>The data collected by SMMePlus are also pushed on csv files, shared with local country using a cloud storage (Microsoft Storage Account) that, now, are accessed with a connection string that allows reading and write control.</p:text>
  </p:cm>
  <p:cm authorId="1" dt="2020-05-13T10:52:36.319" idx="3">
    <p:pos x="4843" y="1099"/>
    <p:text>Data collected by SMMePlus are pushed on Event Hub queues (Microsoft Azure) that are shared with distribution company. The integration service of local country has the key for connecting with the Event Hub with read-only permissions.</p:text>
  </p:cm>
  <p:cm authorId="1" dt="2020-05-13T10:54:37.254" idx="4">
    <p:pos x="979" y="2869"/>
    <p:text>The mobile application of SMMePlus manages local activities with meters, but doesn't manage local activities on concentrators yet.
Permissions are not defined at interface level, but, for each kind of activity, it’s possible to give/remove permissions to users.</p:text>
  </p:cm>
  <p:cm authorId="1" dt="2020-05-13T11:05:11.591" idx="6">
    <p:pos x="4290" y="2493"/>
    <p:text>Reports of the website uses the read-only replica of database</p:text>
  </p:cm>
  <p:cm authorId="1" dt="2020-05-13T11:06:05.750" idx="7">
    <p:pos x="4943" y="2803"/>
    <p:text>A specific table of read-only replica database is accessible from Stakeholders</p:tex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FF1651-13E0-44F4-B5B1-33CE82097ABA}" type="doc">
      <dgm:prSet loTypeId="urn:microsoft.com/office/officeart/2005/8/layout/gear1" loCatId="relationship" qsTypeId="urn:microsoft.com/office/officeart/2005/8/quickstyle/simple1" qsCatId="simple" csTypeId="urn:microsoft.com/office/officeart/2005/8/colors/accent1_2" csCatId="accent1" phldr="0"/>
      <dgm:spPr/>
    </dgm:pt>
    <dgm:pt modelId="{B665BFCA-7E7F-40A0-8A71-B68FBEEC606F}">
      <dgm:prSet phldrT="[Texto]" phldr="1"/>
      <dgm:spPr/>
      <dgm:t>
        <a:bodyPr/>
        <a:lstStyle/>
        <a:p>
          <a:endParaRPr lang="es-ES"/>
        </a:p>
      </dgm:t>
    </dgm:pt>
    <dgm:pt modelId="{3A81BF24-FF63-46DC-B5A3-F2015C85B7BC}" cxnId="{5BEECAB1-9B59-4C9B-858A-6A02F547DBEE}" type="parTrans">
      <dgm:prSet/>
      <dgm:spPr/>
      <dgm:t>
        <a:bodyPr/>
        <a:lstStyle/>
        <a:p>
          <a:endParaRPr lang="es-ES"/>
        </a:p>
      </dgm:t>
    </dgm:pt>
    <dgm:pt modelId="{2E6A8A30-980C-420C-807D-6B63E68DA492}" cxnId="{5BEECAB1-9B59-4C9B-858A-6A02F547DBEE}" type="sibTrans">
      <dgm:prSet/>
      <dgm:spPr/>
      <dgm:t>
        <a:bodyPr/>
        <a:lstStyle/>
        <a:p>
          <a:endParaRPr lang="es-ES"/>
        </a:p>
      </dgm:t>
    </dgm:pt>
    <dgm:pt modelId="{1D517EAE-6DEA-411B-A7AC-DD3F4C520ADB}">
      <dgm:prSet phldrT="[Texto]" phldr="1"/>
      <dgm:spPr/>
      <dgm:t>
        <a:bodyPr/>
        <a:lstStyle/>
        <a:p>
          <a:endParaRPr lang="es-ES"/>
        </a:p>
      </dgm:t>
    </dgm:pt>
    <dgm:pt modelId="{94E03AE6-C494-40CF-A064-7FDBDACD9BC4}" cxnId="{D58E6A3C-08B7-42B6-9A8E-0AD9CF28EBFC}" type="parTrans">
      <dgm:prSet/>
      <dgm:spPr/>
      <dgm:t>
        <a:bodyPr/>
        <a:lstStyle/>
        <a:p>
          <a:endParaRPr lang="es-ES"/>
        </a:p>
      </dgm:t>
    </dgm:pt>
    <dgm:pt modelId="{9D3BA1E8-C557-43D5-BBA7-6CC10A136650}" cxnId="{D58E6A3C-08B7-42B6-9A8E-0AD9CF28EBFC}" type="sibTrans">
      <dgm:prSet/>
      <dgm:spPr/>
      <dgm:t>
        <a:bodyPr/>
        <a:lstStyle/>
        <a:p>
          <a:endParaRPr lang="es-ES"/>
        </a:p>
      </dgm:t>
    </dgm:pt>
    <dgm:pt modelId="{533EE95F-5269-4CBA-9D04-609B33D17C8F}">
      <dgm:prSet phldrT="[Texto]" phldr="1"/>
      <dgm:spPr/>
      <dgm:t>
        <a:bodyPr/>
        <a:lstStyle/>
        <a:p>
          <a:endParaRPr lang="es-ES" dirty="0"/>
        </a:p>
      </dgm:t>
    </dgm:pt>
    <dgm:pt modelId="{2E3A2155-CE08-4B42-8A21-875396E2B91A}" cxnId="{2F4DCABA-0ACB-40F0-A739-4537BD9D2F20}" type="parTrans">
      <dgm:prSet/>
      <dgm:spPr/>
      <dgm:t>
        <a:bodyPr/>
        <a:lstStyle/>
        <a:p>
          <a:endParaRPr lang="es-ES"/>
        </a:p>
      </dgm:t>
    </dgm:pt>
    <dgm:pt modelId="{6218EA8B-7049-41B7-8C7E-FD9C9C4274F2}" cxnId="{2F4DCABA-0ACB-40F0-A739-4537BD9D2F20}" type="sibTrans">
      <dgm:prSet/>
      <dgm:spPr/>
      <dgm:t>
        <a:bodyPr/>
        <a:lstStyle/>
        <a:p>
          <a:endParaRPr lang="es-ES"/>
        </a:p>
      </dgm:t>
    </dgm:pt>
    <dgm:pt modelId="{8FA08A23-29F8-40E9-9082-8F4705FF82B5}" type="pres">
      <dgm:prSet presAssocID="{E3FF1651-13E0-44F4-B5B1-33CE82097ABA}" presName="composite" presStyleCnt="0">
        <dgm:presLayoutVars>
          <dgm:chMax val="3"/>
          <dgm:animLvl val="lvl"/>
          <dgm:resizeHandles val="exact"/>
        </dgm:presLayoutVars>
      </dgm:prSet>
      <dgm:spPr/>
    </dgm:pt>
    <dgm:pt modelId="{B7269FE8-54E1-43DA-BFBE-BBE1F530EBD5}" type="pres">
      <dgm:prSet presAssocID="{B665BFCA-7E7F-40A0-8A71-B68FBEEC606F}" presName="gear1" presStyleLbl="node1" presStyleIdx="0" presStyleCnt="3">
        <dgm:presLayoutVars>
          <dgm:chMax val="1"/>
          <dgm:bulletEnabled val="1"/>
        </dgm:presLayoutVars>
      </dgm:prSet>
      <dgm:spPr/>
      <dgm:t>
        <a:bodyPr/>
        <a:lstStyle/>
        <a:p>
          <a:endParaRPr lang="es-ES"/>
        </a:p>
      </dgm:t>
    </dgm:pt>
    <dgm:pt modelId="{27B7E3FF-7DDE-4371-97AF-BBA25CCDA537}" type="pres">
      <dgm:prSet presAssocID="{B665BFCA-7E7F-40A0-8A71-B68FBEEC606F}" presName="gear1srcNode" presStyleLbl="node1" presStyleIdx="0" presStyleCnt="3"/>
      <dgm:spPr/>
      <dgm:t>
        <a:bodyPr/>
        <a:lstStyle/>
        <a:p>
          <a:endParaRPr lang="es-ES"/>
        </a:p>
      </dgm:t>
    </dgm:pt>
    <dgm:pt modelId="{C6CAB283-88A7-4D26-80EC-FACFCCB958F6}" type="pres">
      <dgm:prSet presAssocID="{B665BFCA-7E7F-40A0-8A71-B68FBEEC606F}" presName="gear1dstNode" presStyleLbl="node1" presStyleIdx="0" presStyleCnt="3"/>
      <dgm:spPr/>
      <dgm:t>
        <a:bodyPr/>
        <a:lstStyle/>
        <a:p>
          <a:endParaRPr lang="es-ES"/>
        </a:p>
      </dgm:t>
    </dgm:pt>
    <dgm:pt modelId="{1F38C230-2E02-48FA-91FC-0347549BBF6D}" type="pres">
      <dgm:prSet presAssocID="{1D517EAE-6DEA-411B-A7AC-DD3F4C520ADB}" presName="gear2" presStyleLbl="node1" presStyleIdx="1" presStyleCnt="3">
        <dgm:presLayoutVars>
          <dgm:chMax val="1"/>
          <dgm:bulletEnabled val="1"/>
        </dgm:presLayoutVars>
      </dgm:prSet>
      <dgm:spPr/>
      <dgm:t>
        <a:bodyPr/>
        <a:lstStyle/>
        <a:p>
          <a:endParaRPr lang="es-ES"/>
        </a:p>
      </dgm:t>
    </dgm:pt>
    <dgm:pt modelId="{8133186F-41A7-4243-AD5E-9721E77B29E9}" type="pres">
      <dgm:prSet presAssocID="{1D517EAE-6DEA-411B-A7AC-DD3F4C520ADB}" presName="gear2srcNode" presStyleLbl="node1" presStyleIdx="1" presStyleCnt="3"/>
      <dgm:spPr/>
      <dgm:t>
        <a:bodyPr/>
        <a:lstStyle/>
        <a:p>
          <a:endParaRPr lang="es-ES"/>
        </a:p>
      </dgm:t>
    </dgm:pt>
    <dgm:pt modelId="{AACAE561-BAF5-4864-8CB7-9605FAFFF664}" type="pres">
      <dgm:prSet presAssocID="{1D517EAE-6DEA-411B-A7AC-DD3F4C520ADB}" presName="gear2dstNode" presStyleLbl="node1" presStyleIdx="1" presStyleCnt="3"/>
      <dgm:spPr/>
      <dgm:t>
        <a:bodyPr/>
        <a:lstStyle/>
        <a:p>
          <a:endParaRPr lang="es-ES"/>
        </a:p>
      </dgm:t>
    </dgm:pt>
    <dgm:pt modelId="{E564665D-9539-4369-A679-D8896453D240}" type="pres">
      <dgm:prSet presAssocID="{533EE95F-5269-4CBA-9D04-609B33D17C8F}" presName="gear3" presStyleLbl="node1" presStyleIdx="2" presStyleCnt="3"/>
      <dgm:spPr/>
      <dgm:t>
        <a:bodyPr/>
        <a:lstStyle/>
        <a:p>
          <a:endParaRPr lang="es-ES"/>
        </a:p>
      </dgm:t>
    </dgm:pt>
    <dgm:pt modelId="{BFEC1F6C-68E8-4E6C-B923-BADD17B36406}" type="pres">
      <dgm:prSet presAssocID="{533EE95F-5269-4CBA-9D04-609B33D17C8F}" presName="gear3tx" presStyleLbl="node1" presStyleIdx="2" presStyleCnt="3">
        <dgm:presLayoutVars>
          <dgm:chMax val="1"/>
          <dgm:bulletEnabled val="1"/>
        </dgm:presLayoutVars>
      </dgm:prSet>
      <dgm:spPr/>
      <dgm:t>
        <a:bodyPr/>
        <a:lstStyle/>
        <a:p>
          <a:endParaRPr lang="es-ES"/>
        </a:p>
      </dgm:t>
    </dgm:pt>
    <dgm:pt modelId="{3A88CDF9-C252-4A02-B8C5-F27700D26B17}" type="pres">
      <dgm:prSet presAssocID="{533EE95F-5269-4CBA-9D04-609B33D17C8F}" presName="gear3srcNode" presStyleLbl="node1" presStyleIdx="2" presStyleCnt="3"/>
      <dgm:spPr/>
      <dgm:t>
        <a:bodyPr/>
        <a:lstStyle/>
        <a:p>
          <a:endParaRPr lang="es-ES"/>
        </a:p>
      </dgm:t>
    </dgm:pt>
    <dgm:pt modelId="{7B0B2EF0-4B53-4FAC-88F9-D0A51F89345E}" type="pres">
      <dgm:prSet presAssocID="{533EE95F-5269-4CBA-9D04-609B33D17C8F}" presName="gear3dstNode" presStyleLbl="node1" presStyleIdx="2" presStyleCnt="3"/>
      <dgm:spPr/>
      <dgm:t>
        <a:bodyPr/>
        <a:lstStyle/>
        <a:p>
          <a:endParaRPr lang="es-ES"/>
        </a:p>
      </dgm:t>
    </dgm:pt>
    <dgm:pt modelId="{85EF889A-D39C-4AFE-BDE7-026D76557D60}" type="pres">
      <dgm:prSet presAssocID="{2E6A8A30-980C-420C-807D-6B63E68DA492}" presName="connector1" presStyleLbl="sibTrans2D1" presStyleIdx="0" presStyleCnt="3"/>
      <dgm:spPr/>
      <dgm:t>
        <a:bodyPr/>
        <a:lstStyle/>
        <a:p>
          <a:endParaRPr lang="es-ES"/>
        </a:p>
      </dgm:t>
    </dgm:pt>
    <dgm:pt modelId="{DE76BD2A-DDDC-4661-9C8F-03A97AE590ED}" type="pres">
      <dgm:prSet presAssocID="{9D3BA1E8-C557-43D5-BBA7-6CC10A136650}" presName="connector2" presStyleLbl="sibTrans2D1" presStyleIdx="1" presStyleCnt="3"/>
      <dgm:spPr/>
      <dgm:t>
        <a:bodyPr/>
        <a:lstStyle/>
        <a:p>
          <a:endParaRPr lang="es-ES"/>
        </a:p>
      </dgm:t>
    </dgm:pt>
    <dgm:pt modelId="{115CB727-B6D4-43F3-8E68-E1B7DEA80307}" type="pres">
      <dgm:prSet presAssocID="{6218EA8B-7049-41B7-8C7E-FD9C9C4274F2}" presName="connector3" presStyleLbl="sibTrans2D1" presStyleIdx="2" presStyleCnt="3"/>
      <dgm:spPr/>
      <dgm:t>
        <a:bodyPr/>
        <a:lstStyle/>
        <a:p>
          <a:endParaRPr lang="es-ES"/>
        </a:p>
      </dgm:t>
    </dgm:pt>
  </dgm:ptLst>
  <dgm:cxnLst>
    <dgm:cxn modelId="{D58E6A3C-08B7-42B6-9A8E-0AD9CF28EBFC}" srcId="{E3FF1651-13E0-44F4-B5B1-33CE82097ABA}" destId="{1D517EAE-6DEA-411B-A7AC-DD3F4C520ADB}" srcOrd="1" destOrd="0" parTransId="{94E03AE6-C494-40CF-A064-7FDBDACD9BC4}" sibTransId="{9D3BA1E8-C557-43D5-BBA7-6CC10A136650}"/>
    <dgm:cxn modelId="{94AD5413-7BC3-4E34-AEAD-F0D7F211F549}" type="presOf" srcId="{1D517EAE-6DEA-411B-A7AC-DD3F4C520ADB}" destId="{1F38C230-2E02-48FA-91FC-0347549BBF6D}" srcOrd="0" destOrd="0" presId="urn:microsoft.com/office/officeart/2005/8/layout/gear1"/>
    <dgm:cxn modelId="{E555D6A5-9249-4FB6-A12C-11EA7719B8D9}" type="presOf" srcId="{533EE95F-5269-4CBA-9D04-609B33D17C8F}" destId="{BFEC1F6C-68E8-4E6C-B923-BADD17B36406}" srcOrd="1" destOrd="0" presId="urn:microsoft.com/office/officeart/2005/8/layout/gear1"/>
    <dgm:cxn modelId="{48341F89-2822-425F-8A9D-DE0D65204866}" type="presOf" srcId="{B665BFCA-7E7F-40A0-8A71-B68FBEEC606F}" destId="{C6CAB283-88A7-4D26-80EC-FACFCCB958F6}" srcOrd="2" destOrd="0" presId="urn:microsoft.com/office/officeart/2005/8/layout/gear1"/>
    <dgm:cxn modelId="{855E26D6-0610-4EED-B968-490FAE843FA6}" type="presOf" srcId="{9D3BA1E8-C557-43D5-BBA7-6CC10A136650}" destId="{DE76BD2A-DDDC-4661-9C8F-03A97AE590ED}" srcOrd="0" destOrd="0" presId="urn:microsoft.com/office/officeart/2005/8/layout/gear1"/>
    <dgm:cxn modelId="{9EFA930A-9FF9-4520-8C64-069AB85216D5}" type="presOf" srcId="{2E6A8A30-980C-420C-807D-6B63E68DA492}" destId="{85EF889A-D39C-4AFE-BDE7-026D76557D60}" srcOrd="0" destOrd="0" presId="urn:microsoft.com/office/officeart/2005/8/layout/gear1"/>
    <dgm:cxn modelId="{5BD0121F-26FC-49E3-80D7-DDDE8A9D6B49}" type="presOf" srcId="{6218EA8B-7049-41B7-8C7E-FD9C9C4274F2}" destId="{115CB727-B6D4-43F3-8E68-E1B7DEA80307}" srcOrd="0" destOrd="0" presId="urn:microsoft.com/office/officeart/2005/8/layout/gear1"/>
    <dgm:cxn modelId="{2F4DCABA-0ACB-40F0-A739-4537BD9D2F20}" srcId="{E3FF1651-13E0-44F4-B5B1-33CE82097ABA}" destId="{533EE95F-5269-4CBA-9D04-609B33D17C8F}" srcOrd="2" destOrd="0" parTransId="{2E3A2155-CE08-4B42-8A21-875396E2B91A}" sibTransId="{6218EA8B-7049-41B7-8C7E-FD9C9C4274F2}"/>
    <dgm:cxn modelId="{77681756-61A0-49E8-92E1-181BF6757A1F}" type="presOf" srcId="{E3FF1651-13E0-44F4-B5B1-33CE82097ABA}" destId="{8FA08A23-29F8-40E9-9082-8F4705FF82B5}" srcOrd="0" destOrd="0" presId="urn:microsoft.com/office/officeart/2005/8/layout/gear1"/>
    <dgm:cxn modelId="{12D92A45-3D8B-443A-984F-0825C054C4BB}" type="presOf" srcId="{533EE95F-5269-4CBA-9D04-609B33D17C8F}" destId="{3A88CDF9-C252-4A02-B8C5-F27700D26B17}" srcOrd="2" destOrd="0" presId="urn:microsoft.com/office/officeart/2005/8/layout/gear1"/>
    <dgm:cxn modelId="{D045C932-570D-47AD-A686-BB62365A0CAF}" type="presOf" srcId="{B665BFCA-7E7F-40A0-8A71-B68FBEEC606F}" destId="{27B7E3FF-7DDE-4371-97AF-BBA25CCDA537}" srcOrd="1" destOrd="0" presId="urn:microsoft.com/office/officeart/2005/8/layout/gear1"/>
    <dgm:cxn modelId="{EE5B777E-86A7-4D80-A473-45C3BD63DE87}" type="presOf" srcId="{533EE95F-5269-4CBA-9D04-609B33D17C8F}" destId="{7B0B2EF0-4B53-4FAC-88F9-D0A51F89345E}" srcOrd="3" destOrd="0" presId="urn:microsoft.com/office/officeart/2005/8/layout/gear1"/>
    <dgm:cxn modelId="{FF2FB90D-8516-4BAE-B042-8A65FB8DA37B}" type="presOf" srcId="{1D517EAE-6DEA-411B-A7AC-DD3F4C520ADB}" destId="{AACAE561-BAF5-4864-8CB7-9605FAFFF664}" srcOrd="2" destOrd="0" presId="urn:microsoft.com/office/officeart/2005/8/layout/gear1"/>
    <dgm:cxn modelId="{8F91FB3F-83C4-4CEC-B923-1D359FFD62AB}" type="presOf" srcId="{1D517EAE-6DEA-411B-A7AC-DD3F4C520ADB}" destId="{8133186F-41A7-4243-AD5E-9721E77B29E9}" srcOrd="1" destOrd="0" presId="urn:microsoft.com/office/officeart/2005/8/layout/gear1"/>
    <dgm:cxn modelId="{329482E9-4449-42F6-A11E-0AE37136C153}" type="presOf" srcId="{B665BFCA-7E7F-40A0-8A71-B68FBEEC606F}" destId="{B7269FE8-54E1-43DA-BFBE-BBE1F530EBD5}" srcOrd="0" destOrd="0" presId="urn:microsoft.com/office/officeart/2005/8/layout/gear1"/>
    <dgm:cxn modelId="{5BEECAB1-9B59-4C9B-858A-6A02F547DBEE}" srcId="{E3FF1651-13E0-44F4-B5B1-33CE82097ABA}" destId="{B665BFCA-7E7F-40A0-8A71-B68FBEEC606F}" srcOrd="0" destOrd="0" parTransId="{3A81BF24-FF63-46DC-B5A3-F2015C85B7BC}" sibTransId="{2E6A8A30-980C-420C-807D-6B63E68DA492}"/>
    <dgm:cxn modelId="{FD3D5A16-75E0-442E-8497-46B22593A566}" type="presOf" srcId="{533EE95F-5269-4CBA-9D04-609B33D17C8F}" destId="{E564665D-9539-4369-A679-D8896453D240}" srcOrd="0" destOrd="0" presId="urn:microsoft.com/office/officeart/2005/8/layout/gear1"/>
    <dgm:cxn modelId="{1CCAD770-6F2C-4347-AE87-9E536BB859A7}" type="presParOf" srcId="{8FA08A23-29F8-40E9-9082-8F4705FF82B5}" destId="{B7269FE8-54E1-43DA-BFBE-BBE1F530EBD5}" srcOrd="0" destOrd="0" presId="urn:microsoft.com/office/officeart/2005/8/layout/gear1"/>
    <dgm:cxn modelId="{C0C76F24-19DE-497E-85E5-1569F4E15971}" type="presParOf" srcId="{8FA08A23-29F8-40E9-9082-8F4705FF82B5}" destId="{27B7E3FF-7DDE-4371-97AF-BBA25CCDA537}" srcOrd="1" destOrd="0" presId="urn:microsoft.com/office/officeart/2005/8/layout/gear1"/>
    <dgm:cxn modelId="{5A2F45AB-9632-49FE-8C73-50180984B564}" type="presParOf" srcId="{8FA08A23-29F8-40E9-9082-8F4705FF82B5}" destId="{C6CAB283-88A7-4D26-80EC-FACFCCB958F6}" srcOrd="2" destOrd="0" presId="urn:microsoft.com/office/officeart/2005/8/layout/gear1"/>
    <dgm:cxn modelId="{D0E3A98A-C187-46E4-BBBE-16BC3B446BFF}" type="presParOf" srcId="{8FA08A23-29F8-40E9-9082-8F4705FF82B5}" destId="{1F38C230-2E02-48FA-91FC-0347549BBF6D}" srcOrd="3" destOrd="0" presId="urn:microsoft.com/office/officeart/2005/8/layout/gear1"/>
    <dgm:cxn modelId="{ED5641BE-9A9F-4667-B60D-1600DF4263F0}" type="presParOf" srcId="{8FA08A23-29F8-40E9-9082-8F4705FF82B5}" destId="{8133186F-41A7-4243-AD5E-9721E77B29E9}" srcOrd="4" destOrd="0" presId="urn:microsoft.com/office/officeart/2005/8/layout/gear1"/>
    <dgm:cxn modelId="{0CF4FBCD-A1B4-4675-B6F1-93CDA7E30630}" type="presParOf" srcId="{8FA08A23-29F8-40E9-9082-8F4705FF82B5}" destId="{AACAE561-BAF5-4864-8CB7-9605FAFFF664}" srcOrd="5" destOrd="0" presId="urn:microsoft.com/office/officeart/2005/8/layout/gear1"/>
    <dgm:cxn modelId="{D991E890-9C98-44ED-A051-F3EB5C259FCF}" type="presParOf" srcId="{8FA08A23-29F8-40E9-9082-8F4705FF82B5}" destId="{E564665D-9539-4369-A679-D8896453D240}" srcOrd="6" destOrd="0" presId="urn:microsoft.com/office/officeart/2005/8/layout/gear1"/>
    <dgm:cxn modelId="{ECB22945-6F07-4DED-805F-4BAAAB6F11F4}" type="presParOf" srcId="{8FA08A23-29F8-40E9-9082-8F4705FF82B5}" destId="{BFEC1F6C-68E8-4E6C-B923-BADD17B36406}" srcOrd="7" destOrd="0" presId="urn:microsoft.com/office/officeart/2005/8/layout/gear1"/>
    <dgm:cxn modelId="{CF39B78C-5BE0-43E8-925C-2D791DA7F0D8}" type="presParOf" srcId="{8FA08A23-29F8-40E9-9082-8F4705FF82B5}" destId="{3A88CDF9-C252-4A02-B8C5-F27700D26B17}" srcOrd="8" destOrd="0" presId="urn:microsoft.com/office/officeart/2005/8/layout/gear1"/>
    <dgm:cxn modelId="{D9AE42E1-236C-4960-BB32-8BDC5274B678}" type="presParOf" srcId="{8FA08A23-29F8-40E9-9082-8F4705FF82B5}" destId="{7B0B2EF0-4B53-4FAC-88F9-D0A51F89345E}" srcOrd="9" destOrd="0" presId="urn:microsoft.com/office/officeart/2005/8/layout/gear1"/>
    <dgm:cxn modelId="{AA4C98D2-920F-4078-839E-155134AF449E}" type="presParOf" srcId="{8FA08A23-29F8-40E9-9082-8F4705FF82B5}" destId="{85EF889A-D39C-4AFE-BDE7-026D76557D60}" srcOrd="10" destOrd="0" presId="urn:microsoft.com/office/officeart/2005/8/layout/gear1"/>
    <dgm:cxn modelId="{778514D6-FA93-4661-8522-E3DC7C139658}" type="presParOf" srcId="{8FA08A23-29F8-40E9-9082-8F4705FF82B5}" destId="{DE76BD2A-DDDC-4661-9C8F-03A97AE590ED}" srcOrd="11" destOrd="0" presId="urn:microsoft.com/office/officeart/2005/8/layout/gear1"/>
    <dgm:cxn modelId="{298B1FD3-960C-48B9-B270-E685234D9206}" type="presParOf" srcId="{8FA08A23-29F8-40E9-9082-8F4705FF82B5}" destId="{115CB727-B6D4-43F3-8E68-E1B7DEA80307}" srcOrd="12" destOrd="0" presId="urn:microsoft.com/office/officeart/2005/8/layout/gear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69FE8-54E1-43DA-BFBE-BBE1F530EBD5}">
      <dsp:nvSpPr>
        <dsp:cNvPr id="0" name=""/>
        <dsp:cNvSpPr/>
      </dsp:nvSpPr>
      <dsp:spPr>
        <a:xfrm>
          <a:off x="267601" y="248429"/>
          <a:ext cx="286937" cy="286937"/>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325288" y="315643"/>
        <a:ext cx="171563" cy="147491"/>
      </dsp:txXfrm>
    </dsp:sp>
    <dsp:sp modelId="{1F38C230-2E02-48FA-91FC-0347549BBF6D}">
      <dsp:nvSpPr>
        <dsp:cNvPr id="0" name=""/>
        <dsp:cNvSpPr/>
      </dsp:nvSpPr>
      <dsp:spPr>
        <a:xfrm>
          <a:off x="100656" y="180607"/>
          <a:ext cx="208681" cy="208681"/>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a:p>
      </dsp:txBody>
      <dsp:txXfrm>
        <a:off x="153192" y="233461"/>
        <a:ext cx="103609" cy="102973"/>
      </dsp:txXfrm>
    </dsp:sp>
    <dsp:sp modelId="{E564665D-9539-4369-A679-D8896453D240}">
      <dsp:nvSpPr>
        <dsp:cNvPr id="0" name=""/>
        <dsp:cNvSpPr/>
      </dsp:nvSpPr>
      <dsp:spPr>
        <a:xfrm rot="20700000">
          <a:off x="217539" y="36638"/>
          <a:ext cx="204465" cy="204465"/>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endParaRPr lang="es-ES" sz="500" kern="1200" dirty="0"/>
        </a:p>
      </dsp:txBody>
      <dsp:txXfrm rot="-20700000">
        <a:off x="262384" y="81484"/>
        <a:ext cx="114774" cy="114774"/>
      </dsp:txXfrm>
    </dsp:sp>
    <dsp:sp modelId="{85EF889A-D39C-4AFE-BDE7-026D76557D60}">
      <dsp:nvSpPr>
        <dsp:cNvPr id="0" name=""/>
        <dsp:cNvSpPr/>
      </dsp:nvSpPr>
      <dsp:spPr>
        <a:xfrm>
          <a:off x="220258" y="216054"/>
          <a:ext cx="367279" cy="367279"/>
        </a:xfrm>
        <a:prstGeom prst="circularArrow">
          <a:avLst>
            <a:gd name="adj1" fmla="val 4687"/>
            <a:gd name="adj2" fmla="val 299029"/>
            <a:gd name="adj3" fmla="val 2198258"/>
            <a:gd name="adj4" fmla="val 17005404"/>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76BD2A-DDDC-4661-9C8F-03A97AE590ED}">
      <dsp:nvSpPr>
        <dsp:cNvPr id="0" name=""/>
        <dsp:cNvSpPr/>
      </dsp:nvSpPr>
      <dsp:spPr>
        <a:xfrm>
          <a:off x="63699" y="149064"/>
          <a:ext cx="266851" cy="266851"/>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15CB727-B6D4-43F3-8E68-E1B7DEA80307}">
      <dsp:nvSpPr>
        <dsp:cNvPr id="0" name=""/>
        <dsp:cNvSpPr/>
      </dsp:nvSpPr>
      <dsp:spPr>
        <a:xfrm>
          <a:off x="170244" y="6483"/>
          <a:ext cx="287719" cy="287719"/>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type="gear6" r:blip="" rot="-15">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873BA-4BD7-4998-96C6-53F9A3626D1A}" type="datetimeFigureOut">
              <a:rPr lang="it-IT" smtClean="0"/>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D47DE-41DD-483A-89E1-A820F02B1920}" type="slidenum">
              <a:rPr lang="it-IT" smtClean="0"/>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of them with read and write permissions in both directions, as appropriate.</a:t>
            </a:r>
            <a:r>
              <a:rPr lang="it-IT"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I9 and I10 interfaces will act as I7 and I8 interfaces, respectively, in case the Data Operator is created.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200" kern="1200" dirty="0" err="1">
                <a:solidFill>
                  <a:schemeClr val="tx1"/>
                </a:solidFill>
                <a:effectLst/>
                <a:latin typeface="+mn-lt"/>
                <a:ea typeface="+mn-ea"/>
                <a:cs typeface="+mn-cs"/>
              </a:rPr>
              <a:t>Superintendency</a:t>
            </a:r>
            <a:r>
              <a:rPr lang="en-US" sz="120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200" kern="1200" dirty="0">
              <a:solidFill>
                <a:schemeClr val="tx1"/>
              </a:solidFill>
              <a:effectLst/>
              <a:latin typeface="+mn-lt"/>
              <a:ea typeface="+mn-ea"/>
              <a:cs typeface="+mn-cs"/>
            </a:endParaRPr>
          </a:p>
          <a:p>
            <a:endParaRPr lang="it-IT" dirty="0"/>
          </a:p>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of them with read and write permissions in both directions, as appropriate.</a:t>
            </a:r>
            <a:r>
              <a:rPr lang="it-IT"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it-IT"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I9 and I10 interfaces will act as I7 and I8 interfaces, respectively, in case the Data Operator is created.</a:t>
            </a:r>
            <a:endParaRPr lang="it-IT"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200" kern="1200" dirty="0" err="1">
                <a:solidFill>
                  <a:schemeClr val="tx1"/>
                </a:solidFill>
                <a:effectLst/>
                <a:latin typeface="+mn-lt"/>
                <a:ea typeface="+mn-ea"/>
                <a:cs typeface="+mn-cs"/>
              </a:rPr>
              <a:t>Superintendency</a:t>
            </a:r>
            <a:r>
              <a:rPr lang="en-US" sz="120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200" kern="1200" dirty="0">
              <a:solidFill>
                <a:schemeClr val="tx1"/>
              </a:solidFill>
              <a:effectLst/>
              <a:latin typeface="+mn-lt"/>
              <a:ea typeface="+mn-ea"/>
              <a:cs typeface="+mn-cs"/>
            </a:endParaRPr>
          </a:p>
          <a:p>
            <a:endParaRPr lang="it-IT" dirty="0"/>
          </a:p>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smtClean="0"/>
              <a:t>The </a:t>
            </a:r>
            <a:r>
              <a:rPr lang="en-US" dirty="0"/>
              <a:t>I1 interface receives the messages from </a:t>
            </a:r>
            <a:r>
              <a:rPr lang="en-US" dirty="0" err="1"/>
              <a:t>EventHub</a:t>
            </a:r>
            <a:r>
              <a:rPr lang="en-US" dirty="0"/>
              <a:t>. Readings, load profile, events and alarms.</a:t>
            </a:r>
            <a:endParaRPr lang="en-US" dirty="0"/>
          </a:p>
          <a:p>
            <a:endParaRPr lang="es-CL" dirty="0"/>
          </a:p>
          <a:p>
            <a:r>
              <a:rPr lang="en-US" dirty="0"/>
              <a:t>The I2 interface persists the messages in each local integration database of the distributors. Oracle or PostgreSQL.</a:t>
            </a:r>
            <a:endParaRPr lang="en-US" dirty="0"/>
          </a:p>
          <a:p>
            <a:endParaRPr lang="es-CL" dirty="0"/>
          </a:p>
          <a:p>
            <a:r>
              <a:rPr lang="en-US" dirty="0"/>
              <a:t>The I3 interface sends the messages to the SOAP </a:t>
            </a:r>
            <a:r>
              <a:rPr lang="en-US" dirty="0" err="1"/>
              <a:t>Websevices</a:t>
            </a:r>
            <a:r>
              <a:rPr lang="en-US" dirty="0"/>
              <a:t> or API Rest owned by the distributors.</a:t>
            </a:r>
            <a:endParaRPr lang="en-US" dirty="0"/>
          </a:p>
          <a:p>
            <a:endParaRPr lang="es-CL" dirty="0"/>
          </a:p>
          <a:p>
            <a:r>
              <a:rPr lang="en-US" dirty="0"/>
              <a:t>The I4 interface sends the requests from the distributors own systems to the </a:t>
            </a:r>
            <a:r>
              <a:rPr lang="en-US" dirty="0" err="1"/>
              <a:t>ePlus</a:t>
            </a:r>
            <a:r>
              <a:rPr lang="en-US" dirty="0"/>
              <a:t> system, through SOAP </a:t>
            </a:r>
            <a:r>
              <a:rPr lang="en-US" dirty="0" err="1"/>
              <a:t>webservice</a:t>
            </a:r>
            <a:r>
              <a:rPr lang="en-US" dirty="0"/>
              <a:t>.</a:t>
            </a:r>
            <a:endParaRPr lang="en-US" dirty="0"/>
          </a:p>
          <a:p>
            <a:endParaRPr lang="es-CL" dirty="0"/>
          </a:p>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200" kern="1200" dirty="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050" kern="1200" dirty="0">
                <a:solidFill>
                  <a:schemeClr val="tx1"/>
                </a:solidFill>
                <a:effectLst/>
                <a:latin typeface="+mn-lt"/>
                <a:ea typeface="+mn-ea"/>
                <a:cs typeface="+mn-cs"/>
              </a:rPr>
              <a:t>The I0 interface allows local communication with the Measurement Unit and, if it exists, with the Concentrator Unit. The permissions may only be read, or read and write, depending on the authorization of the authorized personnel.</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Permissions are not defined at interface level, but, for each kind of activity, it’s possible to give/remove permissions to users.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mobile application of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manages local activities with meters, but doesn't manage local activities on concentrators yet.</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I1 interface enables the display of data from the Unit of Measure to the Visualizer, when applicable, and with read-only permission.</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It’s possible to see values from the display of the meter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Interfaces I2, I3 and I4 allow communication between the Measurement Unit and the Management and Operation System, between the Measurement Unit and the Concentrator Unit and between the Concentrator Unit and the Management and Operation System, respectively.</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All of them with read and write permissions in both directions, as appropriate.</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DLMS is not managed in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yet. It will be available in 2021.</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I5 interface allows the Distribution Company to save the required information in the Central Database, and to access it in order to guarantee its integrity.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I6 interface allows communication between the Management and Operation System with other systems and applications of the Distribution Company, with read and write permission in both directions, as appropriate.</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Data collected by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are pushed on Event Hub queues (Microsoft Azure) that are shared with distribution company. The integration service of local country has the key for connecting with the Event Hub with read-only permissions.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data collected by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are also pushed on csv files, shared with local country using a cloud storage (Microsoft Storage Account) that, now, are accessed with a connection string that allows </a:t>
            </a:r>
            <a:r>
              <a:rPr lang="en-US" sz="1050" kern="1200" dirty="0" err="1">
                <a:solidFill>
                  <a:schemeClr val="tx1"/>
                </a:solidFill>
                <a:effectLst/>
                <a:latin typeface="+mn-lt"/>
                <a:ea typeface="+mn-ea"/>
                <a:cs typeface="+mn-cs"/>
              </a:rPr>
              <a:t>readn</a:t>
            </a:r>
            <a:r>
              <a:rPr lang="en-US" sz="1050" kern="1200" dirty="0">
                <a:solidFill>
                  <a:schemeClr val="tx1"/>
                </a:solidFill>
                <a:effectLst/>
                <a:latin typeface="+mn-lt"/>
                <a:ea typeface="+mn-ea"/>
                <a:cs typeface="+mn-cs"/>
              </a:rPr>
              <a:t> and write control.</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 order to specify read or write permission the “Shared access signature” property of Azure Storage Account could be used.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In the other direction (from local systems to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a:t>
            </a:r>
            <a:r>
              <a:rPr lang="en-US" sz="1050" kern="1200" dirty="0" err="1">
                <a:solidFill>
                  <a:schemeClr val="tx1"/>
                </a:solidFill>
                <a:effectLst/>
                <a:latin typeface="+mn-lt"/>
                <a:ea typeface="+mn-ea"/>
                <a:cs typeface="+mn-cs"/>
              </a:rPr>
              <a:t>SMMePlus</a:t>
            </a:r>
            <a:r>
              <a:rPr lang="en-US" sz="1050" kern="1200" dirty="0">
                <a:solidFill>
                  <a:schemeClr val="tx1"/>
                </a:solidFill>
                <a:effectLst/>
                <a:latin typeface="+mn-lt"/>
                <a:ea typeface="+mn-ea"/>
                <a:cs typeface="+mn-cs"/>
              </a:rPr>
              <a:t> exposes a service in the intranet that is used to provision information and request activities.</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 </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I7 interface allows communication between the Central Database and the Data and Report Warehouse, and with read-only permission.</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Reports of the website uses the read-only replica of database</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I8 interface allows authorized Stakeholders access to information from the Central Database. They will have read-only permissions, and the collection of information may be automatic, scheduled and periodic, or upon request, as defined.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A specific table of read-only replica database is accessible from Stakeholders</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I9 and I10 interfaces will act as I7 and I8 interfaces, respectively, in case the Data Operator is created.</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en-US"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The I11 and I12 interfaces enable communication between the value added electrical services and the SMMC and the systems and applications of the Distribution Company, respectively. Permissions may be read only, or read and deed, as appropriate, and must be authorized by the </a:t>
            </a:r>
            <a:r>
              <a:rPr lang="en-US" sz="1050" kern="1200" dirty="0" err="1">
                <a:solidFill>
                  <a:schemeClr val="tx1"/>
                </a:solidFill>
                <a:effectLst/>
                <a:latin typeface="+mn-lt"/>
                <a:ea typeface="+mn-ea"/>
                <a:cs typeface="+mn-cs"/>
              </a:rPr>
              <a:t>Superintendency</a:t>
            </a:r>
            <a:r>
              <a:rPr lang="en-US" sz="1050" kern="1200" dirty="0">
                <a:solidFill>
                  <a:schemeClr val="tx1"/>
                </a:solidFill>
                <a:effectLst/>
                <a:latin typeface="+mn-lt"/>
                <a:ea typeface="+mn-ea"/>
                <a:cs typeface="+mn-cs"/>
              </a:rPr>
              <a:t>. In any case, the Client and / or User must authorize the use of their data as established in Chapter 8 of this Technical Annex.</a:t>
            </a:r>
            <a:endParaRPr lang="it-IT" sz="1050" kern="1200" dirty="0">
              <a:solidFill>
                <a:schemeClr val="tx1"/>
              </a:solidFill>
              <a:effectLst/>
              <a:latin typeface="+mn-lt"/>
              <a:ea typeface="+mn-ea"/>
              <a:cs typeface="+mn-cs"/>
            </a:endParaRPr>
          </a:p>
          <a:p>
            <a:r>
              <a:rPr lang="en-US" sz="1050" kern="1200" dirty="0">
                <a:solidFill>
                  <a:schemeClr val="tx1"/>
                </a:solidFill>
                <a:effectLst/>
                <a:latin typeface="+mn-lt"/>
                <a:ea typeface="+mn-ea"/>
                <a:cs typeface="+mn-cs"/>
              </a:rPr>
              <a:t>Not clear</a:t>
            </a:r>
            <a:endParaRPr lang="it-IT" sz="1050" kern="1200" dirty="0">
              <a:solidFill>
                <a:schemeClr val="tx1"/>
              </a:solidFill>
              <a:effectLst/>
              <a:latin typeface="+mn-lt"/>
              <a:ea typeface="+mn-ea"/>
              <a:cs typeface="+mn-cs"/>
            </a:endParaRPr>
          </a:p>
          <a:p>
            <a:endParaRPr lang="it-IT" sz="1050" dirty="0"/>
          </a:p>
        </p:txBody>
      </p:sp>
      <p:sp>
        <p:nvSpPr>
          <p:cNvPr id="4" name="Segnaposto numero diapositiva 3"/>
          <p:cNvSpPr>
            <a:spLocks noGrp="1"/>
          </p:cNvSpPr>
          <p:nvPr>
            <p:ph type="sldNum" sz="quarter" idx="10"/>
          </p:nvPr>
        </p:nvSpPr>
        <p:spPr/>
        <p:txBody>
          <a:bodyPr/>
          <a:lstStyle/>
          <a:p>
            <a:fld id="{732D47DE-41DD-483A-89E1-A820F02B1920}" type="slidenum">
              <a:rPr lang="it-IT" smtClean="0"/>
            </a:fld>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1524000" y="1122363"/>
            <a:ext cx="9144000" cy="2387600"/>
          </a:xfrm>
        </p:spPr>
        <p:txBody>
          <a:bodyPr anchor="b"/>
          <a:lstStyle>
            <a:lvl1pPr algn="ctr">
              <a:defRPr sz="6000"/>
            </a:lvl1pPr>
          </a:lstStyle>
          <a:p>
            <a:r>
              <a:rPr lang="it-IT"/>
              <a:t>Fare clic per modificare lo stile del titolo</a:t>
            </a:r>
            <a:endParaRPr lang="it-IT"/>
          </a:p>
        </p:txBody>
      </p:sp>
      <p:sp>
        <p:nvSpPr>
          <p:cNvPr id="3" name="Sottotito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contenuto 2"/>
          <p:cNvSpPr>
            <a:spLocks noGrp="1"/>
          </p:cNvSpPr>
          <p:nvPr>
            <p:ph idx="1" hasCustomPrompt="1"/>
          </p:nvPr>
        </p:nvSpPr>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1850" y="1709738"/>
            <a:ext cx="10515600" cy="2852737"/>
          </a:xfrm>
        </p:spPr>
        <p:txBody>
          <a:bodyPr anchor="b"/>
          <a:lstStyle>
            <a:lvl1pPr>
              <a:defRPr sz="6000"/>
            </a:lvl1pPr>
          </a:lstStyle>
          <a:p>
            <a:r>
              <a:rPr lang="it-IT"/>
              <a:t>Fare clic per modificare lo stile del titolo</a:t>
            </a:r>
            <a:endParaRPr lang="it-IT"/>
          </a:p>
        </p:txBody>
      </p:sp>
      <p:sp>
        <p:nvSpPr>
          <p:cNvPr id="3" name="Segnaposto tes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contenuto 2"/>
          <p:cNvSpPr>
            <a:spLocks noGrp="1"/>
          </p:cNvSpPr>
          <p:nvPr>
            <p:ph sz="half" idx="1" hasCustomPrompt="1"/>
          </p:nvPr>
        </p:nvSpPr>
        <p:spPr>
          <a:xfrm>
            <a:off x="838200" y="1825625"/>
            <a:ext cx="5181600" cy="435133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contenuto 3"/>
          <p:cNvSpPr>
            <a:spLocks noGrp="1"/>
          </p:cNvSpPr>
          <p:nvPr>
            <p:ph sz="half" idx="2" hasCustomPrompt="1"/>
          </p:nvPr>
        </p:nvSpPr>
        <p:spPr>
          <a:xfrm>
            <a:off x="6172200" y="1825625"/>
            <a:ext cx="5181600" cy="435133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365125"/>
            <a:ext cx="10515600" cy="1325563"/>
          </a:xfrm>
        </p:spPr>
        <p:txBody>
          <a:bodyPr/>
          <a:lstStyle/>
          <a:p>
            <a:r>
              <a:rPr lang="it-IT"/>
              <a:t>Fare clic per modificare lo stile del titolo</a:t>
            </a:r>
            <a:endParaRPr lang="it-IT"/>
          </a:p>
        </p:txBody>
      </p:sp>
      <p:sp>
        <p:nvSpPr>
          <p:cNvPr id="3" name="Segnaposto tes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endParaRPr lang="it-IT"/>
          </a:p>
        </p:txBody>
      </p:sp>
      <p:sp>
        <p:nvSpPr>
          <p:cNvPr id="4" name="Segnaposto contenuto 3"/>
          <p:cNvSpPr>
            <a:spLocks noGrp="1"/>
          </p:cNvSpPr>
          <p:nvPr>
            <p:ph sz="half" idx="2" hasCustomPrompt="1"/>
          </p:nvPr>
        </p:nvSpPr>
        <p:spPr>
          <a:xfrm>
            <a:off x="839788" y="2505075"/>
            <a:ext cx="5157787" cy="368458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5" name="Segnaposto tes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endParaRPr lang="it-IT"/>
          </a:p>
        </p:txBody>
      </p:sp>
      <p:sp>
        <p:nvSpPr>
          <p:cNvPr id="6" name="Segnaposto contenuto 5"/>
          <p:cNvSpPr>
            <a:spLocks noGrp="1"/>
          </p:cNvSpPr>
          <p:nvPr>
            <p:ph sz="quarter" idx="4" hasCustomPrompt="1"/>
          </p:nvPr>
        </p:nvSpPr>
        <p:spPr>
          <a:xfrm>
            <a:off x="6172200" y="2505075"/>
            <a:ext cx="5183188" cy="3684588"/>
          </a:xfrm>
        </p:spPr>
        <p:txBody>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7" name="Segnaposto data 6"/>
          <p:cNvSpPr>
            <a:spLocks noGrp="1"/>
          </p:cNvSpPr>
          <p:nvPr>
            <p:ph type="dt" sz="half" idx="10"/>
          </p:nvPr>
        </p:nvSpPr>
        <p:spPr/>
        <p:txBody>
          <a:bodyPr/>
          <a:lstStyle/>
          <a:p>
            <a:fld id="{070CDC2E-16AC-46C8-8D3F-850A5679FA20}" type="datetimeFigureOut">
              <a:rPr lang="it-IT" smtClean="0"/>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data 2"/>
          <p:cNvSpPr>
            <a:spLocks noGrp="1"/>
          </p:cNvSpPr>
          <p:nvPr>
            <p:ph type="dt" sz="half" idx="10"/>
          </p:nvPr>
        </p:nvSpPr>
        <p:spPr/>
        <p:txBody>
          <a:bodyPr/>
          <a:lstStyle/>
          <a:p>
            <a:fld id="{070CDC2E-16AC-46C8-8D3F-850A5679FA20}" type="datetimeFigureOut">
              <a:rPr lang="it-IT" smtClean="0"/>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70CDC2E-16AC-46C8-8D3F-850A5679FA20}" type="datetimeFigureOut">
              <a:rPr lang="it-IT" smtClean="0"/>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457200"/>
            <a:ext cx="3932237" cy="1600200"/>
          </a:xfrm>
        </p:spPr>
        <p:txBody>
          <a:bodyPr anchor="b"/>
          <a:lstStyle>
            <a:lvl1pPr>
              <a:defRPr sz="3200"/>
            </a:lvl1pPr>
          </a:lstStyle>
          <a:p>
            <a:r>
              <a:rPr lang="it-IT"/>
              <a:t>Fare clic per modificare lo stile del titolo</a:t>
            </a:r>
            <a:endParaRPr lang="it-IT"/>
          </a:p>
        </p:txBody>
      </p:sp>
      <p:sp>
        <p:nvSpPr>
          <p:cNvPr id="3" name="Segnaposto contenut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tes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39788" y="457200"/>
            <a:ext cx="3932237" cy="1600200"/>
          </a:xfrm>
        </p:spPr>
        <p:txBody>
          <a:bodyPr anchor="b"/>
          <a:lstStyle>
            <a:lvl1pPr>
              <a:defRPr sz="3200"/>
            </a:lvl1pPr>
          </a:lstStyle>
          <a:p>
            <a:r>
              <a:rPr lang="it-IT"/>
              <a:t>Fare clic per modificare lo stile del titolo</a:t>
            </a:r>
            <a:endParaRPr lang="it-IT"/>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endParaRPr lang="it-IT"/>
          </a:p>
        </p:txBody>
      </p:sp>
      <p:sp>
        <p:nvSpPr>
          <p:cNvPr id="5" name="Segnaposto data 4"/>
          <p:cNvSpPr>
            <a:spLocks noGrp="1"/>
          </p:cNvSpPr>
          <p:nvPr>
            <p:ph type="dt" sz="half" idx="10"/>
          </p:nvPr>
        </p:nvSpPr>
        <p:spPr/>
        <p:txBody>
          <a:bodyPr/>
          <a:lstStyle/>
          <a:p>
            <a:fld id="{070CDC2E-16AC-46C8-8D3F-850A5679FA20}" type="datetimeFigureOut">
              <a:rPr lang="it-IT" smtClean="0"/>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hasCustomPrompt="1"/>
          </p:nvPr>
        </p:nvSpPr>
        <p:spPr/>
        <p:txBody>
          <a:bodyPr/>
          <a:lstStyle/>
          <a:p>
            <a:r>
              <a:rPr lang="it-IT"/>
              <a:t>Fare clic per modificare lo stile del titolo</a:t>
            </a:r>
            <a:endParaRPr lang="it-IT"/>
          </a:p>
        </p:txBody>
      </p:sp>
      <p:sp>
        <p:nvSpPr>
          <p:cNvPr id="3" name="Segnaposto testo verticale 2"/>
          <p:cNvSpPr>
            <a:spLocks noGrp="1"/>
          </p:cNvSpPr>
          <p:nvPr>
            <p:ph type="body" orient="vert" idx="1" hasCustomPrompt="1"/>
          </p:nvPr>
        </p:nvSpPr>
        <p:spPr/>
        <p:txBody>
          <a:bodyPr vert="eaVert"/>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hasCustomPrompt="1"/>
          </p:nvPr>
        </p:nvSpPr>
        <p:spPr>
          <a:xfrm>
            <a:off x="8724900" y="365125"/>
            <a:ext cx="2628900" cy="5811838"/>
          </a:xfrm>
        </p:spPr>
        <p:txBody>
          <a:bodyPr vert="eaVert"/>
          <a:lstStyle/>
          <a:p>
            <a:r>
              <a:rPr lang="it-IT"/>
              <a:t>Fare clic per modificare lo stile del titolo</a:t>
            </a:r>
            <a:endParaRPr lang="it-IT"/>
          </a:p>
        </p:txBody>
      </p:sp>
      <p:sp>
        <p:nvSpPr>
          <p:cNvPr id="3" name="Segnaposto testo verticale 2"/>
          <p:cNvSpPr>
            <a:spLocks noGrp="1"/>
          </p:cNvSpPr>
          <p:nvPr>
            <p:ph type="body" orient="vert" idx="1" hasCustomPrompt="1"/>
          </p:nvPr>
        </p:nvSpPr>
        <p:spPr>
          <a:xfrm>
            <a:off x="838200" y="365125"/>
            <a:ext cx="7734300" cy="5811838"/>
          </a:xfrm>
        </p:spPr>
        <p:txBody>
          <a:bodyPr vert="eaVert"/>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10"/>
          </p:nvPr>
        </p:nvSpPr>
        <p:spPr/>
        <p:txBody>
          <a:bodyPr/>
          <a:lstStyle/>
          <a:p>
            <a:fld id="{070CDC2E-16AC-46C8-8D3F-850A5679FA20}" type="datetimeFigureOut">
              <a:rPr lang="it-IT" smtClean="0"/>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77D3BCE-B2B0-4943-971B-B6A87C193886}" type="slidenum">
              <a:rPr lang="it-IT" smtClean="0"/>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it-IT"/>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endParaRPr lang="it-IT"/>
          </a:p>
          <a:p>
            <a:pPr lvl="1"/>
            <a:r>
              <a:rPr lang="it-IT"/>
              <a:t>Secondo livello</a:t>
            </a:r>
            <a:endParaRPr lang="it-IT"/>
          </a:p>
          <a:p>
            <a:pPr lvl="2"/>
            <a:r>
              <a:rPr lang="it-IT"/>
              <a:t>Terzo livello</a:t>
            </a:r>
            <a:endParaRPr lang="it-IT"/>
          </a:p>
          <a:p>
            <a:pPr lvl="3"/>
            <a:r>
              <a:rPr lang="it-IT"/>
              <a:t>Quarto livello</a:t>
            </a:r>
            <a:endParaRPr lang="it-IT"/>
          </a:p>
          <a:p>
            <a:pPr lvl="4"/>
            <a:r>
              <a:rPr lang="it-IT"/>
              <a:t>Quinto livello</a:t>
            </a:r>
            <a:endParaRPr lang="it-IT"/>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0CDC2E-16AC-46C8-8D3F-850A5679FA20}" type="datetimeFigureOut">
              <a:rPr lang="it-IT" smtClean="0"/>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7D3BCE-B2B0-4943-971B-B6A87C193886}" type="slidenum">
              <a:rPr lang="it-IT" smtClean="0"/>
            </a:fld>
            <a:endParaRPr lang="it-IT"/>
          </a:p>
        </p:txBody>
      </p:sp>
      <p:sp>
        <p:nvSpPr>
          <p:cNvPr id="7" name="MSIPCMContentMarking" descr="{&quot;HashCode&quot;:1600875240,&quot;Placement&quot;:&quot;Header&quot;}"/>
          <p:cNvSpPr txBox="1"/>
          <p:nvPr userDrawn="1"/>
        </p:nvSpPr>
        <p:spPr>
          <a:xfrm>
            <a:off x="5723809" y="0"/>
            <a:ext cx="744382" cy="217646"/>
          </a:xfrm>
          <a:prstGeom prst="rect">
            <a:avLst/>
          </a:prstGeom>
          <a:noFill/>
        </p:spPr>
        <p:txBody>
          <a:bodyPr vert="horz" wrap="square" lIns="0" tIns="0" rIns="0" bIns="0" rtlCol="0" anchor="ctr" anchorCtr="1">
            <a:spAutoFit/>
          </a:bodyPr>
          <a:lstStyle/>
          <a:p>
            <a:pPr algn="ctr">
              <a:spcBef>
                <a:spcPts val="0"/>
              </a:spcBef>
              <a:spcAft>
                <a:spcPts val="0"/>
              </a:spcAft>
            </a:pPr>
            <a:r>
              <a:rPr lang="es-CL" sz="800" smtClean="0">
                <a:solidFill>
                  <a:srgbClr val="000000"/>
                </a:solidFill>
                <a:latin typeface="Arial" panose="020B0604020202020204" pitchFamily="34" charset="0"/>
              </a:rPr>
              <a:t>INTERNAL</a:t>
            </a:r>
            <a:endParaRPr lang="es-CL" sz="800">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diagramLayout" Target="../diagrams/layout2.xml"/><Relationship Id="rId8" Type="http://schemas.openxmlformats.org/officeDocument/2006/relationships/diagramData" Target="../diagrams/data2.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image" Target="../media/image1.png"/><Relationship Id="rId14" Type="http://schemas.openxmlformats.org/officeDocument/2006/relationships/notesSlide" Target="../notesSlides/notesSlide5.xml"/><Relationship Id="rId13" Type="http://schemas.openxmlformats.org/officeDocument/2006/relationships/slideLayout" Target="../slideLayouts/slideLayout7.xml"/><Relationship Id="rId12" Type="http://schemas.microsoft.com/office/2007/relationships/diagramDrawing" Target="../diagrams/drawing2.xml"/><Relationship Id="rId11" Type="http://schemas.openxmlformats.org/officeDocument/2006/relationships/diagramColors" Target="../diagrams/colors2.xml"/><Relationship Id="rId10" Type="http://schemas.openxmlformats.org/officeDocument/2006/relationships/diagramQuickStyle" Target="../diagrams/quickStyle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diagramLayout" Target="../diagrams/layout4.xml"/><Relationship Id="rId8" Type="http://schemas.openxmlformats.org/officeDocument/2006/relationships/diagramData" Target="../diagrams/data4.xml"/><Relationship Id="rId7" Type="http://schemas.microsoft.com/office/2007/relationships/diagramDrawing" Target="../diagrams/drawing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3" Type="http://schemas.openxmlformats.org/officeDocument/2006/relationships/diagramData" Target="../diagrams/data3.xml"/><Relationship Id="rId2" Type="http://schemas.openxmlformats.org/officeDocument/2006/relationships/image" Target="../media/image1.png"/><Relationship Id="rId14" Type="http://schemas.openxmlformats.org/officeDocument/2006/relationships/notesSlide" Target="../notesSlides/notesSlide6.xml"/><Relationship Id="rId13" Type="http://schemas.openxmlformats.org/officeDocument/2006/relationships/slideLayout" Target="../slideLayouts/slideLayout7.xml"/><Relationship Id="rId12" Type="http://schemas.microsoft.com/office/2007/relationships/diagramDrawing" Target="../diagrams/drawing4.xml"/><Relationship Id="rId11" Type="http://schemas.openxmlformats.org/officeDocument/2006/relationships/diagramColors" Target="../diagrams/colors4.xml"/><Relationship Id="rId10" Type="http://schemas.openxmlformats.org/officeDocument/2006/relationships/diagramQuickStyle" Target="../diagrams/quickStyle4.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56482" y="649786"/>
            <a:ext cx="7367452" cy="527739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p:cNvSpPr/>
          <p:nvPr/>
        </p:nvSpPr>
        <p:spPr>
          <a:xfrm>
            <a:off x="2403566" y="2011680"/>
            <a:ext cx="1345474"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err="1"/>
              <a:t>Unidad</a:t>
            </a:r>
            <a:r>
              <a:rPr lang="it-IT" sz="1400" b="1" dirty="0"/>
              <a:t> </a:t>
            </a:r>
            <a:r>
              <a:rPr lang="it-IT" sz="1400" b="1" dirty="0" err="1"/>
              <a:t>Concentradora</a:t>
            </a:r>
            <a:endParaRPr lang="it-IT" sz="1400" b="1" dirty="0"/>
          </a:p>
        </p:txBody>
      </p:sp>
      <p:sp>
        <p:nvSpPr>
          <p:cNvPr id="6" name="Rettangolo 5"/>
          <p:cNvSpPr/>
          <p:nvPr/>
        </p:nvSpPr>
        <p:spPr>
          <a:xfrm>
            <a:off x="457201" y="2011680"/>
            <a:ext cx="1188720"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err="1"/>
              <a:t>Unidad</a:t>
            </a:r>
            <a:r>
              <a:rPr lang="it-IT" sz="1400" b="1" dirty="0"/>
              <a:t> de </a:t>
            </a:r>
            <a:r>
              <a:rPr lang="it-IT" sz="1400" b="1" dirty="0" err="1"/>
              <a:t>Medida</a:t>
            </a:r>
            <a:endParaRPr lang="it-IT" sz="1400" b="1" dirty="0"/>
          </a:p>
          <a:p>
            <a:pPr algn="ctr"/>
            <a:endParaRPr lang="it-IT" sz="1400" b="1" dirty="0"/>
          </a:p>
          <a:p>
            <a:pPr algn="ctr"/>
            <a:r>
              <a:rPr lang="it-IT" sz="1400" dirty="0" err="1"/>
              <a:t>Visualizador</a:t>
            </a:r>
            <a:endParaRPr lang="it-IT" sz="1400" dirty="0"/>
          </a:p>
        </p:txBody>
      </p:sp>
      <p:sp>
        <p:nvSpPr>
          <p:cNvPr id="7" name="Rettangolo 6"/>
          <p:cNvSpPr/>
          <p:nvPr/>
        </p:nvSpPr>
        <p:spPr>
          <a:xfrm>
            <a:off x="2403566" y="4140926"/>
            <a:ext cx="1345473" cy="110598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Acceso Local</a:t>
            </a:r>
            <a:endParaRPr lang="it-IT" sz="1400" b="1" dirty="0"/>
          </a:p>
          <a:p>
            <a:pPr algn="ctr"/>
            <a:r>
              <a:rPr lang="it-IT" sz="1400" dirty="0" err="1"/>
              <a:t>ePlusMobile</a:t>
            </a:r>
            <a:endParaRPr lang="it-IT" sz="1400" dirty="0"/>
          </a:p>
        </p:txBody>
      </p:sp>
      <p:cxnSp>
        <p:nvCxnSpPr>
          <p:cNvPr id="11" name="Connettore 4 10"/>
          <p:cNvCxnSpPr>
            <a:stCxn id="7" idx="1"/>
            <a:endCxn id="6" idx="2"/>
          </p:cNvCxnSpPr>
          <p:nvPr/>
        </p:nvCxnSpPr>
        <p:spPr>
          <a:xfrm rot="10800000">
            <a:off x="1051562" y="3526972"/>
            <a:ext cx="1352005" cy="1166949"/>
          </a:xfrm>
          <a:prstGeom prst="bentConnector2">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Rettangolo arrotondato 12"/>
          <p:cNvSpPr/>
          <p:nvPr/>
        </p:nvSpPr>
        <p:spPr>
          <a:xfrm>
            <a:off x="1018903" y="414092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I0</a:t>
            </a:r>
            <a:endParaRPr lang="it-IT" dirty="0"/>
          </a:p>
        </p:txBody>
      </p:sp>
      <p:cxnSp>
        <p:nvCxnSpPr>
          <p:cNvPr id="15" name="Connettore 4 14"/>
          <p:cNvCxnSpPr>
            <a:stCxn id="5" idx="1"/>
            <a:endCxn id="6" idx="3"/>
          </p:cNvCxnSpPr>
          <p:nvPr/>
        </p:nvCxnSpPr>
        <p:spPr>
          <a:xfrm rot="10800000">
            <a:off x="1645922" y="2769326"/>
            <a:ext cx="757645" cy="1270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Rettangolo arrotondato 18"/>
          <p:cNvSpPr/>
          <p:nvPr/>
        </p:nvSpPr>
        <p:spPr>
          <a:xfrm>
            <a:off x="1796144" y="249065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20" name="Rettangolo 19"/>
          <p:cNvSpPr/>
          <p:nvPr/>
        </p:nvSpPr>
        <p:spPr>
          <a:xfrm>
            <a:off x="4841965" y="2011679"/>
            <a:ext cx="2344897" cy="325013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35" idx="1"/>
            <a:endCxn id="5" idx="3"/>
          </p:cNvCxnSpPr>
          <p:nvPr/>
        </p:nvCxnSpPr>
        <p:spPr>
          <a:xfrm rot="10800000" flipV="1">
            <a:off x="3749041" y="2424820"/>
            <a:ext cx="1225563" cy="344506"/>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ttangolo arrotondato 21"/>
          <p:cNvSpPr/>
          <p:nvPr/>
        </p:nvSpPr>
        <p:spPr>
          <a:xfrm>
            <a:off x="4049485" y="249065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I4</a:t>
            </a:r>
            <a:endParaRPr lang="it-IT" dirty="0"/>
          </a:p>
        </p:txBody>
      </p:sp>
      <p:sp>
        <p:nvSpPr>
          <p:cNvPr id="35" name="Rettangolo 34"/>
          <p:cNvSpPr/>
          <p:nvPr/>
        </p:nvSpPr>
        <p:spPr>
          <a:xfrm>
            <a:off x="4974603" y="2201973"/>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err="1"/>
              <a:t>Backend</a:t>
            </a:r>
            <a:endParaRPr lang="it-IT" sz="1400" dirty="0"/>
          </a:p>
        </p:txBody>
      </p:sp>
      <p:sp>
        <p:nvSpPr>
          <p:cNvPr id="37" name="Rettangolo 36"/>
          <p:cNvSpPr/>
          <p:nvPr/>
        </p:nvSpPr>
        <p:spPr>
          <a:xfrm>
            <a:off x="6058690" y="2542858"/>
            <a:ext cx="1010991" cy="44580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Integration</a:t>
            </a:r>
            <a:endParaRPr lang="it-IT" sz="1400" dirty="0"/>
          </a:p>
        </p:txBody>
      </p:sp>
      <p:sp>
        <p:nvSpPr>
          <p:cNvPr id="38" name="Rettangolo arrotondato 37"/>
          <p:cNvSpPr/>
          <p:nvPr/>
        </p:nvSpPr>
        <p:spPr>
          <a:xfrm>
            <a:off x="7850246" y="1562851"/>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 Queue</a:t>
            </a:r>
            <a:endParaRPr lang="es-ES" dirty="0"/>
          </a:p>
        </p:txBody>
      </p:sp>
      <p:cxnSp>
        <p:nvCxnSpPr>
          <p:cNvPr id="39" name="Connettore 4 38"/>
          <p:cNvCxnSpPr>
            <a:stCxn id="37" idx="3"/>
            <a:endCxn id="38" idx="1"/>
          </p:cNvCxnSpPr>
          <p:nvPr/>
        </p:nvCxnSpPr>
        <p:spPr>
          <a:xfrm flipV="1">
            <a:off x="7069681" y="2032109"/>
            <a:ext cx="780565" cy="73365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51" name="Gruppo 50"/>
          <p:cNvGrpSpPr/>
          <p:nvPr/>
        </p:nvGrpSpPr>
        <p:grpSpPr>
          <a:xfrm>
            <a:off x="7067324" y="2835996"/>
            <a:ext cx="1074235" cy="184058"/>
            <a:chOff x="7010399" y="3059657"/>
            <a:chExt cx="989621" cy="149773"/>
          </a:xfrm>
        </p:grpSpPr>
        <p:cxnSp>
          <p:nvCxnSpPr>
            <p:cNvPr id="46" name="Connettore diritto 45"/>
            <p:cNvCxnSpPr/>
            <p:nvPr/>
          </p:nvCxnSpPr>
          <p:spPr>
            <a:xfrm flipV="1">
              <a:off x="7010399" y="3137714"/>
              <a:ext cx="862150" cy="2961"/>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50" name="Ovale 49"/>
            <p:cNvSpPr/>
            <p:nvPr/>
          </p:nvSpPr>
          <p:spPr>
            <a:xfrm>
              <a:off x="7850247" y="3059657"/>
              <a:ext cx="149773" cy="14977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55" name="Rettangolo arrotondato 54"/>
          <p:cNvSpPr/>
          <p:nvPr/>
        </p:nvSpPr>
        <p:spPr>
          <a:xfrm>
            <a:off x="7850246" y="468351"/>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a:t>
            </a:r>
            <a:endParaRPr lang="es-ES" dirty="0"/>
          </a:p>
          <a:p>
            <a:pPr algn="ctr"/>
            <a:r>
              <a:rPr lang="it-IT" sz="1400" b="1" dirty="0"/>
              <a:t>File Storage</a:t>
            </a:r>
            <a:endParaRPr lang="it-IT"/>
          </a:p>
          <a:p>
            <a:pPr algn="ctr"/>
            <a:r>
              <a:rPr lang="it-IT" sz="1400" dirty="0"/>
              <a:t>CSV</a:t>
            </a:r>
            <a:endParaRPr lang="it-IT" sz="1400" dirty="0"/>
          </a:p>
        </p:txBody>
      </p:sp>
      <p:cxnSp>
        <p:nvCxnSpPr>
          <p:cNvPr id="58" name="Connettore 4 57"/>
          <p:cNvCxnSpPr>
            <a:stCxn id="37" idx="3"/>
            <a:endCxn id="55" idx="1"/>
          </p:cNvCxnSpPr>
          <p:nvPr/>
        </p:nvCxnSpPr>
        <p:spPr>
          <a:xfrm flipV="1">
            <a:off x="7069681" y="937609"/>
            <a:ext cx="780565" cy="182815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3" name="Rettangolo arrotondato 52"/>
          <p:cNvSpPr/>
          <p:nvPr/>
        </p:nvSpPr>
        <p:spPr>
          <a:xfrm>
            <a:off x="7200362" y="2647405"/>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62" name="Rettangolo 61"/>
          <p:cNvSpPr/>
          <p:nvPr/>
        </p:nvSpPr>
        <p:spPr>
          <a:xfrm>
            <a:off x="9429548" y="2032109"/>
            <a:ext cx="1682058" cy="7372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dirty="0" err="1"/>
              <a:t>SMMePlus</a:t>
            </a:r>
            <a:r>
              <a:rPr lang="it-IT" sz="1600" dirty="0"/>
              <a:t> </a:t>
            </a:r>
            <a:r>
              <a:rPr lang="it-IT" sz="1600" dirty="0" err="1"/>
              <a:t>integration</a:t>
            </a:r>
            <a:r>
              <a:rPr lang="it-IT" sz="1600" dirty="0"/>
              <a:t> </a:t>
            </a:r>
            <a:r>
              <a:rPr lang="it-IT" sz="1600" dirty="0" err="1"/>
              <a:t>platform</a:t>
            </a:r>
            <a:endParaRPr lang="it-IT" sz="1600" dirty="0"/>
          </a:p>
        </p:txBody>
      </p:sp>
      <p:cxnSp>
        <p:nvCxnSpPr>
          <p:cNvPr id="63" name="Connettore 4 62"/>
          <p:cNvCxnSpPr>
            <a:stCxn id="62" idx="1"/>
            <a:endCxn id="50" idx="6"/>
          </p:cNvCxnSpPr>
          <p:nvPr/>
        </p:nvCxnSpPr>
        <p:spPr>
          <a:xfrm rot="10800000" flipV="1">
            <a:off x="8141560" y="2400717"/>
            <a:ext cx="1287989" cy="527307"/>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7" name="Connettore 4 66"/>
          <p:cNvCxnSpPr>
            <a:stCxn id="38" idx="3"/>
            <a:endCxn id="62" idx="0"/>
          </p:cNvCxnSpPr>
          <p:nvPr/>
        </p:nvCxnSpPr>
        <p:spPr>
          <a:xfrm>
            <a:off x="8799815" y="2032109"/>
            <a:ext cx="1470762" cy="1270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2" name="Rettangolo 71"/>
          <p:cNvSpPr/>
          <p:nvPr/>
        </p:nvSpPr>
        <p:spPr>
          <a:xfrm>
            <a:off x="6027098" y="3432797"/>
            <a:ext cx="1016764" cy="44116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Reports</a:t>
            </a:r>
            <a:endParaRPr lang="it-IT" sz="1400" dirty="0"/>
          </a:p>
        </p:txBody>
      </p:sp>
      <p:sp>
        <p:nvSpPr>
          <p:cNvPr id="74" name="Rettangolo 73"/>
          <p:cNvSpPr/>
          <p:nvPr/>
        </p:nvSpPr>
        <p:spPr>
          <a:xfrm>
            <a:off x="4907280" y="1778985"/>
            <a:ext cx="1071127" cy="338554"/>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it-IT" sz="1600" dirty="0" err="1"/>
              <a:t>SMMePlus</a:t>
            </a:r>
            <a:endParaRPr lang="it-IT" sz="1600" dirty="0"/>
          </a:p>
        </p:txBody>
      </p:sp>
      <p:cxnSp>
        <p:nvCxnSpPr>
          <p:cNvPr id="93" name="Connettore 4 92"/>
          <p:cNvCxnSpPr>
            <a:stCxn id="35" idx="3"/>
            <a:endCxn id="37" idx="0"/>
          </p:cNvCxnSpPr>
          <p:nvPr/>
        </p:nvCxnSpPr>
        <p:spPr>
          <a:xfrm>
            <a:off x="5991367" y="2424820"/>
            <a:ext cx="572819" cy="11803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6" name="Connettore 4 95"/>
          <p:cNvCxnSpPr>
            <a:stCxn id="35" idx="2"/>
            <a:endCxn id="73" idx="1"/>
          </p:cNvCxnSpPr>
          <p:nvPr/>
        </p:nvCxnSpPr>
        <p:spPr>
          <a:xfrm rot="5400000">
            <a:off x="4597408" y="3412103"/>
            <a:ext cx="1650014" cy="12114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05" name="Gruppo 104"/>
          <p:cNvGrpSpPr/>
          <p:nvPr/>
        </p:nvGrpSpPr>
        <p:grpSpPr>
          <a:xfrm>
            <a:off x="5124078" y="4297680"/>
            <a:ext cx="475533" cy="568712"/>
            <a:chOff x="5124078" y="4297680"/>
            <a:chExt cx="475533" cy="568712"/>
          </a:xfrm>
        </p:grpSpPr>
        <p:sp>
          <p:nvSpPr>
            <p:cNvPr id="73" name="Cilindro 72"/>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2"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106" name="Gruppo 105"/>
          <p:cNvGrpSpPr/>
          <p:nvPr/>
        </p:nvGrpSpPr>
        <p:grpSpPr>
          <a:xfrm>
            <a:off x="5625620" y="4272657"/>
            <a:ext cx="902875" cy="799198"/>
            <a:chOff x="5625620" y="4272657"/>
            <a:chExt cx="902875" cy="799198"/>
          </a:xfrm>
        </p:grpSpPr>
        <p:sp>
          <p:nvSpPr>
            <p:cNvPr id="103" name="Cilindro 102"/>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4" name="Rettangolo 103"/>
            <p:cNvSpPr/>
            <p:nvPr/>
          </p:nvSpPr>
          <p:spPr>
            <a:xfrm>
              <a:off x="5625620" y="4548635"/>
              <a:ext cx="902875" cy="523220"/>
            </a:xfrm>
            <a:prstGeom prst="rect">
              <a:avLst/>
            </a:prstGeom>
          </p:spPr>
          <p:txBody>
            <a:bodyPr wrap="none">
              <a:spAutoFit/>
            </a:bodyPr>
            <a:lstStyle/>
            <a:p>
              <a:pPr algn="ctr"/>
              <a:r>
                <a:rPr lang="it-IT" sz="1400" dirty="0"/>
                <a:t>DB</a:t>
              </a:r>
              <a:br>
                <a:rPr lang="it-IT" sz="1400" dirty="0"/>
              </a:br>
              <a:r>
                <a:rPr lang="it-IT" sz="1400" dirty="0"/>
                <a:t>Read </a:t>
              </a:r>
              <a:r>
                <a:rPr lang="it-IT" sz="1400" dirty="0" err="1"/>
                <a:t>only</a:t>
              </a:r>
              <a:endParaRPr lang="it-IT" sz="1400" dirty="0"/>
            </a:p>
          </p:txBody>
        </p:sp>
      </p:grpSp>
      <p:cxnSp>
        <p:nvCxnSpPr>
          <p:cNvPr id="108" name="Connettore 4 107"/>
          <p:cNvCxnSpPr>
            <a:stCxn id="72" idx="2"/>
            <a:endCxn id="103" idx="1"/>
          </p:cNvCxnSpPr>
          <p:nvPr/>
        </p:nvCxnSpPr>
        <p:spPr>
          <a:xfrm rot="5400000">
            <a:off x="6105296" y="3842472"/>
            <a:ext cx="398695" cy="46167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1" name="Connettore 4 110"/>
          <p:cNvCxnSpPr>
            <a:stCxn id="114" idx="1"/>
            <a:endCxn id="103" idx="4"/>
          </p:cNvCxnSpPr>
          <p:nvPr/>
        </p:nvCxnSpPr>
        <p:spPr>
          <a:xfrm rot="10800000">
            <a:off x="6311572" y="4557014"/>
            <a:ext cx="2445519" cy="25021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4" name="Rettangolo 113"/>
          <p:cNvSpPr/>
          <p:nvPr/>
        </p:nvSpPr>
        <p:spPr>
          <a:xfrm>
            <a:off x="8757090" y="4542601"/>
            <a:ext cx="1874515" cy="52925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sz="1400" dirty="0"/>
              <a:t>Distributor Company Stakeholder</a:t>
            </a:r>
            <a:endParaRPr lang="it-IT" sz="1400" dirty="0"/>
          </a:p>
        </p:txBody>
      </p:sp>
      <p:sp>
        <p:nvSpPr>
          <p:cNvPr id="116" name="Rettangolo arrotondato 115"/>
          <p:cNvSpPr/>
          <p:nvPr/>
        </p:nvSpPr>
        <p:spPr>
          <a:xfrm>
            <a:off x="6377750" y="394055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I7</a:t>
            </a:r>
            <a:endParaRPr lang="it-IT" dirty="0"/>
          </a:p>
        </p:txBody>
      </p:sp>
      <p:sp>
        <p:nvSpPr>
          <p:cNvPr id="117" name="Rettangolo arrotondato 116"/>
          <p:cNvSpPr/>
          <p:nvPr/>
        </p:nvSpPr>
        <p:spPr>
          <a:xfrm>
            <a:off x="7523590" y="4626034"/>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grpSp>
        <p:nvGrpSpPr>
          <p:cNvPr id="118" name="Gruppo 117"/>
          <p:cNvGrpSpPr/>
          <p:nvPr/>
        </p:nvGrpSpPr>
        <p:grpSpPr>
          <a:xfrm>
            <a:off x="9325548" y="3188317"/>
            <a:ext cx="1314271" cy="1045766"/>
            <a:chOff x="4704712" y="4297680"/>
            <a:chExt cx="1314271" cy="1045766"/>
          </a:xfrm>
        </p:grpSpPr>
        <p:sp>
          <p:nvSpPr>
            <p:cNvPr id="119" name="Cilindro 118"/>
            <p:cNvSpPr/>
            <p:nvPr/>
          </p:nvSpPr>
          <p:spPr>
            <a:xfrm>
              <a:off x="5124078" y="4297680"/>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120" name="Rettangolo 119"/>
            <p:cNvSpPr/>
            <p:nvPr/>
          </p:nvSpPr>
          <p:spPr>
            <a:xfrm>
              <a:off x="4704712" y="4604782"/>
              <a:ext cx="1314271" cy="738664"/>
            </a:xfrm>
            <a:prstGeom prst="rect">
              <a:avLst/>
            </a:prstGeom>
          </p:spPr>
          <p:txBody>
            <a:bodyPr wrap="none">
              <a:spAutoFit/>
            </a:bodyPr>
            <a:lstStyle/>
            <a:p>
              <a:pPr algn="ctr"/>
              <a:r>
                <a:rPr lang="it-IT" sz="1400" dirty="0"/>
                <a:t>DB</a:t>
              </a:r>
              <a:br>
                <a:rPr lang="it-IT" sz="1400" dirty="0"/>
              </a:br>
              <a:r>
                <a:rPr lang="it-IT" sz="1400" dirty="0"/>
                <a:t>Enel distributor</a:t>
              </a:r>
              <a:br>
                <a:rPr lang="it-IT" sz="1400" dirty="0"/>
              </a:br>
              <a:r>
                <a:rPr lang="it-IT" sz="1400" dirty="0" err="1"/>
                <a:t>legacy</a:t>
              </a:r>
              <a:r>
                <a:rPr lang="it-IT" sz="1400" dirty="0"/>
                <a:t> </a:t>
              </a:r>
              <a:r>
                <a:rPr lang="it-IT" sz="1400" dirty="0" err="1"/>
                <a:t>system</a:t>
              </a:r>
              <a:endParaRPr lang="it-IT" sz="1600" dirty="0"/>
            </a:p>
          </p:txBody>
        </p:sp>
      </p:grpSp>
      <p:cxnSp>
        <p:nvCxnSpPr>
          <p:cNvPr id="121" name="Connettore 4 120"/>
          <p:cNvCxnSpPr>
            <a:stCxn id="62" idx="2"/>
            <a:endCxn id="119" idx="2"/>
          </p:cNvCxnSpPr>
          <p:nvPr/>
        </p:nvCxnSpPr>
        <p:spPr>
          <a:xfrm rot="5400000">
            <a:off x="9656073" y="2858169"/>
            <a:ext cx="703346" cy="525663"/>
          </a:xfrm>
          <a:prstGeom prst="bentConnector4">
            <a:avLst>
              <a:gd name="adj1" fmla="val 29785"/>
              <a:gd name="adj2" fmla="val 143488"/>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5" name="Connettore 4 124"/>
          <p:cNvCxnSpPr>
            <a:stCxn id="114" idx="3"/>
            <a:endCxn id="55" idx="3"/>
          </p:cNvCxnSpPr>
          <p:nvPr/>
        </p:nvCxnSpPr>
        <p:spPr>
          <a:xfrm flipH="1" flipV="1">
            <a:off x="8799815" y="937609"/>
            <a:ext cx="1831790" cy="3869619"/>
          </a:xfrm>
          <a:prstGeom prst="bentConnector3">
            <a:avLst>
              <a:gd name="adj1" fmla="val -5271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1" name="Connettore 4 130"/>
          <p:cNvCxnSpPr>
            <a:stCxn id="114" idx="3"/>
            <a:endCxn id="119" idx="4"/>
          </p:cNvCxnSpPr>
          <p:nvPr/>
        </p:nvCxnSpPr>
        <p:spPr>
          <a:xfrm flipH="1" flipV="1">
            <a:off x="10220447" y="3472673"/>
            <a:ext cx="411158" cy="1334555"/>
          </a:xfrm>
          <a:prstGeom prst="bentConnector3">
            <a:avLst>
              <a:gd name="adj1" fmla="val -55599"/>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6" name="Rettangolo arrotondato 135"/>
          <p:cNvSpPr/>
          <p:nvPr/>
        </p:nvSpPr>
        <p:spPr>
          <a:xfrm>
            <a:off x="10785562" y="372598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sp>
        <p:nvSpPr>
          <p:cNvPr id="52" name="CuadroTexto 51"/>
          <p:cNvSpPr txBox="1"/>
          <p:nvPr/>
        </p:nvSpPr>
        <p:spPr>
          <a:xfrm>
            <a:off x="2625213" y="280219"/>
            <a:ext cx="1262461" cy="369332"/>
          </a:xfrm>
          <a:prstGeom prst="rect">
            <a:avLst/>
          </a:prstGeom>
          <a:noFill/>
        </p:spPr>
        <p:txBody>
          <a:bodyPr wrap="none" rtlCol="0">
            <a:spAutoFit/>
          </a:bodyPr>
          <a:lstStyle/>
          <a:p>
            <a:r>
              <a:rPr lang="es-CL" dirty="0" smtClean="0"/>
              <a:t>Old </a:t>
            </a:r>
            <a:r>
              <a:rPr lang="es-CL" dirty="0" err="1" smtClean="0"/>
              <a:t>Version</a:t>
            </a:r>
            <a:endParaRPr lang="es-CL" dirty="0"/>
          </a:p>
        </p:txBody>
      </p:sp>
      <p:cxnSp>
        <p:nvCxnSpPr>
          <p:cNvPr id="2" name="Connettore 4 10"/>
          <p:cNvCxnSpPr>
            <a:stCxn id="7" idx="0"/>
            <a:endCxn id="5" idx="2"/>
          </p:cNvCxnSpPr>
          <p:nvPr/>
        </p:nvCxnSpPr>
        <p:spPr>
          <a:xfrm rot="16200000">
            <a:off x="2769235" y="3833495"/>
            <a:ext cx="614045" cy="3175"/>
          </a:xfrm>
          <a:prstGeom prst="bentConnector2">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Rettangolo arrotondato 12"/>
          <p:cNvSpPr/>
          <p:nvPr/>
        </p:nvSpPr>
        <p:spPr>
          <a:xfrm>
            <a:off x="3077996" y="367880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I0</a:t>
            </a:r>
            <a:endParaRPr lang="it-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65990" y="680931"/>
            <a:ext cx="7700511" cy="527739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p:cNvSpPr/>
          <p:nvPr/>
        </p:nvSpPr>
        <p:spPr>
          <a:xfrm>
            <a:off x="2403566" y="2011680"/>
            <a:ext cx="1345474"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Unidad Concentradora</a:t>
            </a:r>
            <a:endParaRPr lang="it-IT" sz="1400" b="1" dirty="0"/>
          </a:p>
        </p:txBody>
      </p:sp>
      <p:sp>
        <p:nvSpPr>
          <p:cNvPr id="6" name="Rettangolo 5"/>
          <p:cNvSpPr/>
          <p:nvPr/>
        </p:nvSpPr>
        <p:spPr>
          <a:xfrm>
            <a:off x="457201" y="2011680"/>
            <a:ext cx="1188720"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Unidad de Medida</a:t>
            </a:r>
            <a:endParaRPr lang="it-IT" sz="1400" b="1" dirty="0"/>
          </a:p>
          <a:p>
            <a:pPr algn="ctr"/>
            <a:endParaRPr lang="it-IT" sz="1400" b="1" dirty="0"/>
          </a:p>
          <a:p>
            <a:pPr algn="ctr"/>
            <a:r>
              <a:rPr lang="it-IT" sz="1400" dirty="0"/>
              <a:t>Visualizador</a:t>
            </a:r>
            <a:endParaRPr lang="it-IT" sz="1400" dirty="0"/>
          </a:p>
        </p:txBody>
      </p:sp>
      <p:sp>
        <p:nvSpPr>
          <p:cNvPr id="7" name="Rettangolo 6"/>
          <p:cNvSpPr/>
          <p:nvPr/>
        </p:nvSpPr>
        <p:spPr>
          <a:xfrm>
            <a:off x="2403566" y="4140926"/>
            <a:ext cx="1345473" cy="110598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Acceso Local</a:t>
            </a:r>
            <a:endParaRPr lang="it-IT" sz="1400" b="1" dirty="0"/>
          </a:p>
          <a:p>
            <a:pPr algn="ctr"/>
            <a:r>
              <a:rPr lang="it-IT" sz="1400" dirty="0"/>
              <a:t>ePlusMobile</a:t>
            </a:r>
            <a:endParaRPr lang="it-IT" sz="1400" dirty="0"/>
          </a:p>
        </p:txBody>
      </p:sp>
      <p:cxnSp>
        <p:nvCxnSpPr>
          <p:cNvPr id="11" name="Connettore 4 10"/>
          <p:cNvCxnSpPr>
            <a:stCxn id="7" idx="0"/>
          </p:cNvCxnSpPr>
          <p:nvPr/>
        </p:nvCxnSpPr>
        <p:spPr>
          <a:xfrm rot="16200000" flipV="1">
            <a:off x="2707640" y="3772535"/>
            <a:ext cx="732155" cy="4445"/>
          </a:xfrm>
          <a:prstGeom prst="bentConnector3">
            <a:avLst>
              <a:gd name="adj1" fmla="val 49957"/>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ttangolo arrotondato 12"/>
          <p:cNvSpPr/>
          <p:nvPr/>
        </p:nvSpPr>
        <p:spPr>
          <a:xfrm>
            <a:off x="1127276" y="410552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I0</a:t>
            </a:r>
            <a:endParaRPr lang="it-IT" dirty="0"/>
          </a:p>
        </p:txBody>
      </p:sp>
      <p:cxnSp>
        <p:nvCxnSpPr>
          <p:cNvPr id="15" name="Connettore 4 14"/>
          <p:cNvCxnSpPr>
            <a:stCxn id="5" idx="1"/>
            <a:endCxn id="6" idx="3"/>
          </p:cNvCxnSpPr>
          <p:nvPr/>
        </p:nvCxnSpPr>
        <p:spPr>
          <a:xfrm rot="10800000">
            <a:off x="1645922" y="2769326"/>
            <a:ext cx="757645" cy="1270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ttangolo arrotondato 18"/>
          <p:cNvSpPr/>
          <p:nvPr/>
        </p:nvSpPr>
        <p:spPr>
          <a:xfrm>
            <a:off x="1796144" y="249065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20" name="Rettangolo 19"/>
          <p:cNvSpPr/>
          <p:nvPr/>
        </p:nvSpPr>
        <p:spPr>
          <a:xfrm>
            <a:off x="4841966" y="2011679"/>
            <a:ext cx="1938212" cy="323523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35" idx="1"/>
            <a:endCxn id="5" idx="3"/>
          </p:cNvCxnSpPr>
          <p:nvPr/>
        </p:nvCxnSpPr>
        <p:spPr>
          <a:xfrm rot="10800000" flipV="1">
            <a:off x="3749041" y="2424820"/>
            <a:ext cx="1225563" cy="344506"/>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Rettangolo arrotondato 21"/>
          <p:cNvSpPr/>
          <p:nvPr/>
        </p:nvSpPr>
        <p:spPr>
          <a:xfrm>
            <a:off x="4049485" y="249065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I4</a:t>
            </a:r>
            <a:endParaRPr lang="it-IT" dirty="0"/>
          </a:p>
        </p:txBody>
      </p:sp>
      <p:sp>
        <p:nvSpPr>
          <p:cNvPr id="35" name="Rettangolo 34"/>
          <p:cNvSpPr/>
          <p:nvPr/>
        </p:nvSpPr>
        <p:spPr>
          <a:xfrm>
            <a:off x="4974603" y="2201973"/>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Backend</a:t>
            </a:r>
            <a:endParaRPr lang="it-IT" sz="1400" dirty="0"/>
          </a:p>
        </p:txBody>
      </p:sp>
      <p:sp>
        <p:nvSpPr>
          <p:cNvPr id="37" name="Rettangolo 36"/>
          <p:cNvSpPr/>
          <p:nvPr/>
        </p:nvSpPr>
        <p:spPr>
          <a:xfrm>
            <a:off x="6159126" y="2766467"/>
            <a:ext cx="1071341" cy="44580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Integration</a:t>
            </a:r>
            <a:endParaRPr lang="it-IT" sz="1400" dirty="0" smtClean="0"/>
          </a:p>
          <a:p>
            <a:pPr algn="ctr"/>
            <a:r>
              <a:rPr lang="it-IT" sz="1400" dirty="0" smtClean="0"/>
              <a:t>Services</a:t>
            </a:r>
            <a:endParaRPr lang="it-IT" sz="1400" dirty="0"/>
          </a:p>
        </p:txBody>
      </p:sp>
      <p:sp>
        <p:nvSpPr>
          <p:cNvPr id="38" name="Rettangolo arrotondato 37"/>
          <p:cNvSpPr/>
          <p:nvPr/>
        </p:nvSpPr>
        <p:spPr>
          <a:xfrm>
            <a:off x="8613053" y="1394407"/>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 Queue</a:t>
            </a:r>
            <a:endParaRPr lang="es-ES" dirty="0"/>
          </a:p>
        </p:txBody>
      </p:sp>
      <p:cxnSp>
        <p:nvCxnSpPr>
          <p:cNvPr id="39" name="Connettore 4 38"/>
          <p:cNvCxnSpPr>
            <a:stCxn id="37" idx="3"/>
            <a:endCxn id="38" idx="1"/>
          </p:cNvCxnSpPr>
          <p:nvPr/>
        </p:nvCxnSpPr>
        <p:spPr>
          <a:xfrm flipV="1">
            <a:off x="7230467" y="1863665"/>
            <a:ext cx="1382586" cy="1125706"/>
          </a:xfrm>
          <a:prstGeom prst="bentConnector3">
            <a:avLst>
              <a:gd name="adj1" fmla="val 50000"/>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grpSp>
        <p:nvGrpSpPr>
          <p:cNvPr id="51" name="Gruppo 50"/>
          <p:cNvGrpSpPr/>
          <p:nvPr/>
        </p:nvGrpSpPr>
        <p:grpSpPr>
          <a:xfrm>
            <a:off x="7036985" y="3021874"/>
            <a:ext cx="1074235" cy="184058"/>
            <a:chOff x="7010399" y="3059657"/>
            <a:chExt cx="989621" cy="149773"/>
          </a:xfrm>
        </p:grpSpPr>
        <p:cxnSp>
          <p:nvCxnSpPr>
            <p:cNvPr id="46" name="Connettore diritto 45"/>
            <p:cNvCxnSpPr/>
            <p:nvPr/>
          </p:nvCxnSpPr>
          <p:spPr>
            <a:xfrm flipV="1">
              <a:off x="7010399" y="3137714"/>
              <a:ext cx="862150" cy="2961"/>
            </a:xfrm>
            <a:prstGeom prst="line">
              <a:avLst/>
            </a:prstGeom>
            <a:ln w="28575">
              <a:solidFill>
                <a:srgbClr val="92D050"/>
              </a:solidFill>
              <a:headEnd type="triangle"/>
            </a:ln>
          </p:spPr>
          <p:style>
            <a:lnRef idx="1">
              <a:schemeClr val="accent1"/>
            </a:lnRef>
            <a:fillRef idx="0">
              <a:schemeClr val="accent1"/>
            </a:fillRef>
            <a:effectRef idx="0">
              <a:schemeClr val="accent1"/>
            </a:effectRef>
            <a:fontRef idx="minor">
              <a:schemeClr val="tx1"/>
            </a:fontRef>
          </p:style>
        </p:cxnSp>
        <p:sp>
          <p:nvSpPr>
            <p:cNvPr id="50" name="Ovale 49"/>
            <p:cNvSpPr/>
            <p:nvPr/>
          </p:nvSpPr>
          <p:spPr>
            <a:xfrm>
              <a:off x="7850247" y="3059657"/>
              <a:ext cx="149773" cy="149773"/>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55" name="Rettangolo arrotondato 54"/>
          <p:cNvSpPr/>
          <p:nvPr/>
        </p:nvSpPr>
        <p:spPr>
          <a:xfrm>
            <a:off x="8618128" y="114366"/>
            <a:ext cx="949569"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it-IT" sz="1400" b="1" dirty="0"/>
              <a:t>Cloud</a:t>
            </a:r>
            <a:endParaRPr lang="es-ES" dirty="0"/>
          </a:p>
          <a:p>
            <a:pPr algn="ctr"/>
            <a:r>
              <a:rPr lang="it-IT" sz="1400" b="1" dirty="0"/>
              <a:t>File Storage</a:t>
            </a:r>
            <a:endParaRPr lang="it-IT"/>
          </a:p>
          <a:p>
            <a:pPr algn="ctr"/>
            <a:r>
              <a:rPr lang="it-IT" sz="1400" dirty="0"/>
              <a:t>CSV</a:t>
            </a:r>
            <a:endParaRPr lang="it-IT" sz="1400" dirty="0"/>
          </a:p>
        </p:txBody>
      </p:sp>
      <p:cxnSp>
        <p:nvCxnSpPr>
          <p:cNvPr id="58" name="Connettore 4 57"/>
          <p:cNvCxnSpPr>
            <a:stCxn id="37" idx="3"/>
            <a:endCxn id="55" idx="1"/>
          </p:cNvCxnSpPr>
          <p:nvPr/>
        </p:nvCxnSpPr>
        <p:spPr>
          <a:xfrm flipV="1">
            <a:off x="7230467" y="583624"/>
            <a:ext cx="1387661" cy="2405747"/>
          </a:xfrm>
          <a:prstGeom prst="bentConnector3">
            <a:avLst>
              <a:gd name="adj1" fmla="val 50000"/>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53" name="Rettangolo arrotondato 52"/>
          <p:cNvSpPr/>
          <p:nvPr/>
        </p:nvSpPr>
        <p:spPr>
          <a:xfrm>
            <a:off x="7300669" y="290266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62" name="Rettangolo 61"/>
          <p:cNvSpPr/>
          <p:nvPr/>
        </p:nvSpPr>
        <p:spPr>
          <a:xfrm>
            <a:off x="9730199" y="2201973"/>
            <a:ext cx="1682058" cy="7372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integration Platform</a:t>
            </a:r>
            <a:endParaRPr lang="it-IT" sz="1600" b="1" dirty="0"/>
          </a:p>
        </p:txBody>
      </p:sp>
      <p:cxnSp>
        <p:nvCxnSpPr>
          <p:cNvPr id="63" name="Connettore 4 62"/>
          <p:cNvCxnSpPr>
            <a:stCxn id="62" idx="1"/>
            <a:endCxn id="50" idx="6"/>
          </p:cNvCxnSpPr>
          <p:nvPr/>
        </p:nvCxnSpPr>
        <p:spPr>
          <a:xfrm rot="10800000" flipV="1">
            <a:off x="8111221" y="2570581"/>
            <a:ext cx="1618979" cy="543321"/>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Connettore 4 66"/>
          <p:cNvCxnSpPr>
            <a:stCxn id="38" idx="3"/>
            <a:endCxn id="62" idx="0"/>
          </p:cNvCxnSpPr>
          <p:nvPr/>
        </p:nvCxnSpPr>
        <p:spPr>
          <a:xfrm>
            <a:off x="9562622" y="1863665"/>
            <a:ext cx="1008606" cy="33830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2" name="Rettangolo 71"/>
          <p:cNvSpPr/>
          <p:nvPr/>
        </p:nvSpPr>
        <p:spPr>
          <a:xfrm>
            <a:off x="6175577" y="3304493"/>
            <a:ext cx="1071341" cy="44116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a:t>Reports</a:t>
            </a:r>
            <a:endParaRPr lang="it-IT" sz="1400" dirty="0"/>
          </a:p>
        </p:txBody>
      </p:sp>
      <p:sp>
        <p:nvSpPr>
          <p:cNvPr id="74" name="Rettangolo 73"/>
          <p:cNvSpPr/>
          <p:nvPr/>
        </p:nvSpPr>
        <p:spPr>
          <a:xfrm>
            <a:off x="4843238" y="1643055"/>
            <a:ext cx="1006622" cy="338554"/>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it-IT" sz="1600" dirty="0" smtClean="0"/>
              <a:t>AMI - HES</a:t>
            </a:r>
            <a:endParaRPr lang="it-IT" sz="1600" dirty="0"/>
          </a:p>
        </p:txBody>
      </p:sp>
      <p:cxnSp>
        <p:nvCxnSpPr>
          <p:cNvPr id="93" name="Connettore 4 92"/>
          <p:cNvCxnSpPr>
            <a:stCxn id="35" idx="3"/>
            <a:endCxn id="37" idx="0"/>
          </p:cNvCxnSpPr>
          <p:nvPr/>
        </p:nvCxnSpPr>
        <p:spPr>
          <a:xfrm>
            <a:off x="5991367" y="2424820"/>
            <a:ext cx="703430" cy="341647"/>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Connettore 4 95"/>
          <p:cNvCxnSpPr>
            <a:stCxn id="35" idx="2"/>
            <a:endCxn id="73" idx="1"/>
          </p:cNvCxnSpPr>
          <p:nvPr/>
        </p:nvCxnSpPr>
        <p:spPr>
          <a:xfrm rot="5400000">
            <a:off x="4597408" y="3412103"/>
            <a:ext cx="1650014" cy="121140"/>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05" name="Gruppo 104"/>
          <p:cNvGrpSpPr/>
          <p:nvPr/>
        </p:nvGrpSpPr>
        <p:grpSpPr>
          <a:xfrm>
            <a:off x="5124078" y="4297680"/>
            <a:ext cx="475533" cy="568712"/>
            <a:chOff x="5124078" y="4297680"/>
            <a:chExt cx="475533" cy="568712"/>
          </a:xfrm>
        </p:grpSpPr>
        <p:sp>
          <p:nvSpPr>
            <p:cNvPr id="73" name="Cilindro 72"/>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2"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106" name="Gruppo 105"/>
          <p:cNvGrpSpPr/>
          <p:nvPr/>
        </p:nvGrpSpPr>
        <p:grpSpPr>
          <a:xfrm>
            <a:off x="5622367" y="4272657"/>
            <a:ext cx="902875" cy="796181"/>
            <a:chOff x="5622367" y="4272657"/>
            <a:chExt cx="902875" cy="796181"/>
          </a:xfrm>
        </p:grpSpPr>
        <p:sp>
          <p:nvSpPr>
            <p:cNvPr id="103" name="Cilindro 102"/>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104" name="Rettangolo 103"/>
            <p:cNvSpPr/>
            <p:nvPr/>
          </p:nvSpPr>
          <p:spPr>
            <a:xfrm>
              <a:off x="5622367" y="4545618"/>
              <a:ext cx="902875" cy="523220"/>
            </a:xfrm>
            <a:prstGeom prst="rect">
              <a:avLst/>
            </a:prstGeom>
          </p:spPr>
          <p:txBody>
            <a:bodyPr wrap="none">
              <a:spAutoFit/>
            </a:bodyPr>
            <a:lstStyle/>
            <a:p>
              <a:pPr algn="ctr"/>
              <a:r>
                <a:rPr lang="it-IT" sz="1400" dirty="0"/>
                <a:t>DB</a:t>
              </a:r>
              <a:br>
                <a:rPr lang="it-IT" sz="1400" dirty="0"/>
              </a:br>
              <a:r>
                <a:rPr lang="it-IT" sz="1400" dirty="0"/>
                <a:t>Read only</a:t>
              </a:r>
              <a:endParaRPr lang="it-IT" sz="1400" dirty="0"/>
            </a:p>
          </p:txBody>
        </p:sp>
      </p:grpSp>
      <p:cxnSp>
        <p:nvCxnSpPr>
          <p:cNvPr id="108" name="Connettore 4 107"/>
          <p:cNvCxnSpPr>
            <a:stCxn id="72" idx="2"/>
            <a:endCxn id="103" idx="1"/>
          </p:cNvCxnSpPr>
          <p:nvPr/>
        </p:nvCxnSpPr>
        <p:spPr>
          <a:xfrm rot="5400000">
            <a:off x="6129028" y="3690436"/>
            <a:ext cx="526999" cy="637443"/>
          </a:xfrm>
          <a:prstGeom prst="bentConnector3">
            <a:avLst>
              <a:gd name="adj1" fmla="val 500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1" name="Connettore 4 110"/>
          <p:cNvCxnSpPr>
            <a:stCxn id="114" idx="1"/>
            <a:endCxn id="103" idx="4"/>
          </p:cNvCxnSpPr>
          <p:nvPr/>
        </p:nvCxnSpPr>
        <p:spPr>
          <a:xfrm rot="10800000">
            <a:off x="6311572" y="4557014"/>
            <a:ext cx="3367911" cy="1224635"/>
          </a:xfrm>
          <a:prstGeom prst="bentConnector3">
            <a:avLst>
              <a:gd name="adj1" fmla="val 500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sp>
        <p:nvSpPr>
          <p:cNvPr id="114" name="Rettangolo 113"/>
          <p:cNvSpPr/>
          <p:nvPr/>
        </p:nvSpPr>
        <p:spPr>
          <a:xfrm>
            <a:off x="9679482" y="5455585"/>
            <a:ext cx="1874515" cy="65212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sz="1400" dirty="0"/>
              <a:t>Distributor Company </a:t>
            </a:r>
            <a:r>
              <a:rPr lang="it-IT" sz="1400" dirty="0" smtClean="0"/>
              <a:t>Stakeholders</a:t>
            </a:r>
            <a:endParaRPr lang="it-IT" sz="1400" dirty="0"/>
          </a:p>
        </p:txBody>
      </p:sp>
      <p:sp>
        <p:nvSpPr>
          <p:cNvPr id="116" name="Rettangolo arrotondato 115"/>
          <p:cNvSpPr/>
          <p:nvPr/>
        </p:nvSpPr>
        <p:spPr>
          <a:xfrm>
            <a:off x="4928803" y="3049178"/>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I5</a:t>
            </a:r>
            <a:endParaRPr lang="it-IT" dirty="0"/>
          </a:p>
        </p:txBody>
      </p:sp>
      <p:sp>
        <p:nvSpPr>
          <p:cNvPr id="117" name="Rettangolo arrotondato 116"/>
          <p:cNvSpPr/>
          <p:nvPr/>
        </p:nvSpPr>
        <p:spPr>
          <a:xfrm>
            <a:off x="8224435" y="561869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grpSp>
        <p:nvGrpSpPr>
          <p:cNvPr id="118" name="Gruppo 117"/>
          <p:cNvGrpSpPr/>
          <p:nvPr/>
        </p:nvGrpSpPr>
        <p:grpSpPr>
          <a:xfrm>
            <a:off x="9296312" y="3609917"/>
            <a:ext cx="1314271" cy="1065012"/>
            <a:chOff x="4675476" y="4719280"/>
            <a:chExt cx="1314271" cy="1065012"/>
          </a:xfrm>
        </p:grpSpPr>
        <p:sp>
          <p:nvSpPr>
            <p:cNvPr id="119" name="Cilindro 118"/>
            <p:cNvSpPr/>
            <p:nvPr/>
          </p:nvSpPr>
          <p:spPr>
            <a:xfrm>
              <a:off x="5058645" y="4719280"/>
              <a:ext cx="475533" cy="568712"/>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t-IT"/>
            </a:p>
          </p:txBody>
        </p:sp>
        <p:sp>
          <p:nvSpPr>
            <p:cNvPr id="120" name="Rettangolo 119"/>
            <p:cNvSpPr/>
            <p:nvPr/>
          </p:nvSpPr>
          <p:spPr>
            <a:xfrm>
              <a:off x="4675476" y="5045628"/>
              <a:ext cx="1314271" cy="738664"/>
            </a:xfrm>
            <a:prstGeom prst="rect">
              <a:avLst/>
            </a:prstGeom>
          </p:spPr>
          <p:txBody>
            <a:bodyPr wrap="none">
              <a:spAutoFit/>
            </a:bodyPr>
            <a:lstStyle/>
            <a:p>
              <a:pPr algn="ctr"/>
              <a:r>
                <a:rPr lang="it-IT" sz="1400" dirty="0"/>
                <a:t>DB</a:t>
              </a:r>
              <a:br>
                <a:rPr lang="it-IT" sz="1400" dirty="0"/>
              </a:br>
              <a:r>
                <a:rPr lang="it-IT" sz="1400" dirty="0"/>
                <a:t>Enel distributor</a:t>
              </a:r>
              <a:br>
                <a:rPr lang="it-IT" sz="1400" dirty="0"/>
              </a:br>
              <a:r>
                <a:rPr lang="it-IT" sz="1400" dirty="0"/>
                <a:t>legacy system</a:t>
              </a:r>
              <a:endParaRPr lang="it-IT" sz="1600" dirty="0"/>
            </a:p>
          </p:txBody>
        </p:sp>
      </p:grpSp>
      <p:cxnSp>
        <p:nvCxnSpPr>
          <p:cNvPr id="121" name="Connettore 4 120"/>
          <p:cNvCxnSpPr>
            <a:stCxn id="62" idx="2"/>
            <a:endCxn id="23" idx="0"/>
          </p:cNvCxnSpPr>
          <p:nvPr/>
        </p:nvCxnSpPr>
        <p:spPr>
          <a:xfrm rot="5400000">
            <a:off x="9991383" y="2818412"/>
            <a:ext cx="459067" cy="700625"/>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5" name="Connettore 4 124"/>
          <p:cNvCxnSpPr>
            <a:stCxn id="114" idx="3"/>
            <a:endCxn id="55" idx="3"/>
          </p:cNvCxnSpPr>
          <p:nvPr/>
        </p:nvCxnSpPr>
        <p:spPr>
          <a:xfrm flipH="1" flipV="1">
            <a:off x="9567697" y="583624"/>
            <a:ext cx="1986300" cy="5198024"/>
          </a:xfrm>
          <a:prstGeom prst="bentConnector3">
            <a:avLst>
              <a:gd name="adj1" fmla="val -11509"/>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1" name="Connettore 4 130"/>
          <p:cNvCxnSpPr>
            <a:endCxn id="23" idx="3"/>
          </p:cNvCxnSpPr>
          <p:nvPr/>
        </p:nvCxnSpPr>
        <p:spPr>
          <a:xfrm rot="16200000" flipV="1">
            <a:off x="10184172" y="4531489"/>
            <a:ext cx="1393293" cy="454900"/>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36" name="Rettangolo arrotondato 135"/>
          <p:cNvSpPr/>
          <p:nvPr/>
        </p:nvSpPr>
        <p:spPr>
          <a:xfrm>
            <a:off x="10857514" y="4406464"/>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I8</a:t>
            </a:r>
            <a:endParaRPr lang="it-IT" dirty="0"/>
          </a:p>
        </p:txBody>
      </p:sp>
      <p:sp>
        <p:nvSpPr>
          <p:cNvPr id="68" name="Rettangolo arrotondato 115"/>
          <p:cNvSpPr/>
          <p:nvPr/>
        </p:nvSpPr>
        <p:spPr>
          <a:xfrm>
            <a:off x="6530150" y="409295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I7</a:t>
            </a:r>
            <a:endParaRPr lang="it-IT" dirty="0"/>
          </a:p>
        </p:txBody>
      </p:sp>
      <p:sp>
        <p:nvSpPr>
          <p:cNvPr id="32" name="Elipse 31"/>
          <p:cNvSpPr/>
          <p:nvPr/>
        </p:nvSpPr>
        <p:spPr>
          <a:xfrm>
            <a:off x="4974603" y="4039497"/>
            <a:ext cx="1680197" cy="11538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1774" y="767556"/>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6618358" y="1320069"/>
            <a:ext cx="817426" cy="338554"/>
          </a:xfrm>
          <a:prstGeom prst="rect">
            <a:avLst/>
          </a:prstGeom>
          <a:noFill/>
        </p:spPr>
        <p:txBody>
          <a:bodyPr wrap="square" rtlCol="0">
            <a:spAutoFit/>
          </a:bodyPr>
          <a:lstStyle/>
          <a:p>
            <a:pPr algn="ctr"/>
            <a:r>
              <a:rPr lang="es-CL" sz="1600" dirty="0" smtClean="0"/>
              <a:t>usuario</a:t>
            </a:r>
            <a:endParaRPr lang="es-CL" sz="1600" dirty="0"/>
          </a:p>
        </p:txBody>
      </p:sp>
      <p:cxnSp>
        <p:nvCxnSpPr>
          <p:cNvPr id="54" name="Connettore 4 66"/>
          <p:cNvCxnSpPr>
            <a:stCxn id="3" idx="2"/>
            <a:endCxn id="20" idx="0"/>
          </p:cNvCxnSpPr>
          <p:nvPr/>
        </p:nvCxnSpPr>
        <p:spPr>
          <a:xfrm rot="5400000">
            <a:off x="6242544" y="1227152"/>
            <a:ext cx="353056" cy="1215999"/>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Rectángulo 22"/>
          <p:cNvSpPr/>
          <p:nvPr/>
        </p:nvSpPr>
        <p:spPr>
          <a:xfrm>
            <a:off x="9087837" y="3398258"/>
            <a:ext cx="1565531" cy="13280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CuadroTexto 1"/>
          <p:cNvSpPr txBox="1"/>
          <p:nvPr/>
        </p:nvSpPr>
        <p:spPr>
          <a:xfrm>
            <a:off x="2625213" y="280219"/>
            <a:ext cx="1821845" cy="369332"/>
          </a:xfrm>
          <a:prstGeom prst="rect">
            <a:avLst/>
          </a:prstGeom>
          <a:noFill/>
        </p:spPr>
        <p:txBody>
          <a:bodyPr wrap="none" rtlCol="0">
            <a:spAutoFit/>
          </a:bodyPr>
          <a:lstStyle/>
          <a:p>
            <a:r>
              <a:rPr lang="es-CL" dirty="0" smtClean="0"/>
              <a:t>Actualización PFC</a:t>
            </a:r>
            <a:endParaRPr lang="es-CL" dirty="0"/>
          </a:p>
        </p:txBody>
      </p:sp>
      <p:cxnSp>
        <p:nvCxnSpPr>
          <p:cNvPr id="8" name="Connettore 4 10"/>
          <p:cNvCxnSpPr/>
          <p:nvPr/>
        </p:nvCxnSpPr>
        <p:spPr>
          <a:xfrm rot="10800000">
            <a:off x="1178562" y="3653972"/>
            <a:ext cx="1352005" cy="1166949"/>
          </a:xfrm>
          <a:prstGeom prst="bentConnector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ttangolo arrotondato 12"/>
          <p:cNvSpPr/>
          <p:nvPr/>
        </p:nvSpPr>
        <p:spPr>
          <a:xfrm>
            <a:off x="3076091" y="365404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it-IT" dirty="0"/>
              <a:t>I0</a:t>
            </a:r>
            <a:endParaRPr lang="it-IT"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177628" y="694788"/>
            <a:ext cx="7722788" cy="4556325"/>
          </a:xfrm>
          <a:prstGeom prst="rect">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p:cNvSpPr/>
          <p:nvPr/>
        </p:nvSpPr>
        <p:spPr>
          <a:xfrm>
            <a:off x="2467526" y="1763485"/>
            <a:ext cx="1345474" cy="151529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Unidad Concentradora</a:t>
            </a:r>
            <a:endParaRPr lang="it-IT" sz="1400" b="1" dirty="0"/>
          </a:p>
        </p:txBody>
      </p:sp>
      <p:sp>
        <p:nvSpPr>
          <p:cNvPr id="6" name="Rettangolo 5"/>
          <p:cNvSpPr/>
          <p:nvPr/>
        </p:nvSpPr>
        <p:spPr>
          <a:xfrm>
            <a:off x="354178" y="2226620"/>
            <a:ext cx="1188720" cy="149266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it-IT" sz="1400" b="1" dirty="0"/>
              <a:t>Unidad de Medida</a:t>
            </a:r>
            <a:endParaRPr lang="it-IT" sz="1400" b="1" dirty="0"/>
          </a:p>
          <a:p>
            <a:pPr algn="ctr"/>
            <a:endParaRPr lang="it-IT" sz="1400" b="1" dirty="0"/>
          </a:p>
          <a:p>
            <a:pPr algn="ctr"/>
            <a:r>
              <a:rPr lang="it-IT" sz="1400" dirty="0"/>
              <a:t>Visualizador</a:t>
            </a:r>
            <a:endParaRPr lang="it-IT" sz="1400" dirty="0"/>
          </a:p>
        </p:txBody>
      </p:sp>
      <p:sp>
        <p:nvSpPr>
          <p:cNvPr id="20" name="Rettangolo 19"/>
          <p:cNvSpPr/>
          <p:nvPr/>
        </p:nvSpPr>
        <p:spPr>
          <a:xfrm>
            <a:off x="4841966" y="2011679"/>
            <a:ext cx="2765842" cy="287121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cxnSp>
        <p:nvCxnSpPr>
          <p:cNvPr id="21" name="Connettore 4 20"/>
          <p:cNvCxnSpPr>
            <a:stCxn id="70" idx="1"/>
            <a:endCxn id="5" idx="3"/>
          </p:cNvCxnSpPr>
          <p:nvPr/>
        </p:nvCxnSpPr>
        <p:spPr>
          <a:xfrm rot="10800000">
            <a:off x="3813001" y="2521131"/>
            <a:ext cx="1181119" cy="369316"/>
          </a:xfrm>
          <a:prstGeom prst="bentConnector3">
            <a:avLst>
              <a:gd name="adj1" fmla="val 50000"/>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55" name="Rettangolo arrotondato 54"/>
          <p:cNvSpPr/>
          <p:nvPr/>
        </p:nvSpPr>
        <p:spPr>
          <a:xfrm>
            <a:off x="6328910" y="2686067"/>
            <a:ext cx="1086561" cy="9385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sz="1400" dirty="0"/>
              <a:t>W</a:t>
            </a:r>
            <a:r>
              <a:rPr lang="es-CL" sz="1400" dirty="0" smtClean="0"/>
              <a:t>indows </a:t>
            </a:r>
            <a:r>
              <a:rPr lang="es-CL" sz="1400" dirty="0"/>
              <a:t>Time</a:t>
            </a:r>
            <a:endParaRPr lang="it-IT" sz="1400" dirty="0"/>
          </a:p>
        </p:txBody>
      </p:sp>
      <p:cxnSp>
        <p:nvCxnSpPr>
          <p:cNvPr id="58" name="Connettore 4 57"/>
          <p:cNvCxnSpPr>
            <a:stCxn id="70" idx="3"/>
            <a:endCxn id="55" idx="1"/>
          </p:cNvCxnSpPr>
          <p:nvPr/>
        </p:nvCxnSpPr>
        <p:spPr>
          <a:xfrm>
            <a:off x="6010883" y="2890447"/>
            <a:ext cx="318027" cy="264878"/>
          </a:xfrm>
          <a:prstGeom prst="bentConnector3">
            <a:avLst>
              <a:gd name="adj1" fmla="val 500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8910" y="790281"/>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6226204" y="1303583"/>
            <a:ext cx="817426" cy="338554"/>
          </a:xfrm>
          <a:prstGeom prst="rect">
            <a:avLst/>
          </a:prstGeom>
          <a:noFill/>
        </p:spPr>
        <p:txBody>
          <a:bodyPr wrap="square" rtlCol="0">
            <a:spAutoFit/>
          </a:bodyPr>
          <a:lstStyle/>
          <a:p>
            <a:pPr algn="ctr"/>
            <a:r>
              <a:rPr lang="es-CL" sz="1600" dirty="0" smtClean="0"/>
              <a:t>usuario</a:t>
            </a:r>
            <a:endParaRPr lang="es-CL" sz="1600" dirty="0"/>
          </a:p>
        </p:txBody>
      </p:sp>
      <p:cxnSp>
        <p:nvCxnSpPr>
          <p:cNvPr id="54" name="Connettore 4 66"/>
          <p:cNvCxnSpPr>
            <a:stCxn id="3" idx="2"/>
            <a:endCxn id="20" idx="0"/>
          </p:cNvCxnSpPr>
          <p:nvPr/>
        </p:nvCxnSpPr>
        <p:spPr>
          <a:xfrm rot="5400000">
            <a:off x="6245131" y="1621893"/>
            <a:ext cx="369542" cy="41003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0" name="Rettangolo 34"/>
          <p:cNvSpPr/>
          <p:nvPr/>
        </p:nvSpPr>
        <p:spPr>
          <a:xfrm>
            <a:off x="4994119" y="2667600"/>
            <a:ext cx="1016764" cy="4456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Server</a:t>
            </a:r>
            <a:endParaRPr lang="it-IT" sz="1400" dirty="0"/>
          </a:p>
        </p:txBody>
      </p:sp>
      <p:sp>
        <p:nvSpPr>
          <p:cNvPr id="76" name="Rettangolo 73"/>
          <p:cNvSpPr/>
          <p:nvPr/>
        </p:nvSpPr>
        <p:spPr>
          <a:xfrm>
            <a:off x="4914645" y="2068745"/>
            <a:ext cx="1006622" cy="338554"/>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it-IT" sz="1600" dirty="0" smtClean="0"/>
              <a:t>AMI - HES</a:t>
            </a:r>
            <a:endParaRPr lang="it-IT" sz="1600" dirty="0"/>
          </a:p>
        </p:txBody>
      </p:sp>
      <p:cxnSp>
        <p:nvCxnSpPr>
          <p:cNvPr id="78" name="Connettore 4 95"/>
          <p:cNvCxnSpPr>
            <a:stCxn id="70" idx="2"/>
            <a:endCxn id="80" idx="1"/>
          </p:cNvCxnSpPr>
          <p:nvPr/>
        </p:nvCxnSpPr>
        <p:spPr>
          <a:xfrm rot="5400000">
            <a:off x="4991515" y="3392057"/>
            <a:ext cx="789751" cy="232222"/>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9" name="Gruppo 104"/>
          <p:cNvGrpSpPr/>
          <p:nvPr/>
        </p:nvGrpSpPr>
        <p:grpSpPr>
          <a:xfrm>
            <a:off x="5032512" y="3903044"/>
            <a:ext cx="475533" cy="568712"/>
            <a:chOff x="5124078" y="4297680"/>
            <a:chExt cx="475533" cy="568712"/>
          </a:xfrm>
        </p:grpSpPr>
        <p:sp>
          <p:nvSpPr>
            <p:cNvPr id="80" name="Cilindro 79"/>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1"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grpSp>
        <p:nvGrpSpPr>
          <p:cNvPr id="83" name="Gruppo 105"/>
          <p:cNvGrpSpPr/>
          <p:nvPr/>
        </p:nvGrpSpPr>
        <p:grpSpPr>
          <a:xfrm>
            <a:off x="5444578" y="3908095"/>
            <a:ext cx="902875" cy="796181"/>
            <a:chOff x="5622367" y="4272657"/>
            <a:chExt cx="902875" cy="796181"/>
          </a:xfrm>
        </p:grpSpPr>
        <p:sp>
          <p:nvSpPr>
            <p:cNvPr id="84" name="Cilindro 83"/>
            <p:cNvSpPr/>
            <p:nvPr/>
          </p:nvSpPr>
          <p:spPr>
            <a:xfrm>
              <a:off x="5836038" y="4272657"/>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5" name="Rettangolo 103"/>
            <p:cNvSpPr/>
            <p:nvPr/>
          </p:nvSpPr>
          <p:spPr>
            <a:xfrm>
              <a:off x="5622367" y="4545618"/>
              <a:ext cx="902875" cy="523220"/>
            </a:xfrm>
            <a:prstGeom prst="rect">
              <a:avLst/>
            </a:prstGeom>
          </p:spPr>
          <p:txBody>
            <a:bodyPr wrap="none">
              <a:spAutoFit/>
            </a:bodyPr>
            <a:lstStyle/>
            <a:p>
              <a:pPr algn="ctr"/>
              <a:r>
                <a:rPr lang="it-IT" sz="1400" dirty="0"/>
                <a:t>DB</a:t>
              </a:r>
              <a:br>
                <a:rPr lang="it-IT" sz="1400" dirty="0"/>
              </a:br>
              <a:r>
                <a:rPr lang="it-IT" sz="1400" dirty="0"/>
                <a:t>Read only</a:t>
              </a:r>
              <a:endParaRPr lang="it-IT" sz="1400" dirty="0"/>
            </a:p>
          </p:txBody>
        </p:sp>
      </p:grpSp>
      <p:cxnSp>
        <p:nvCxnSpPr>
          <p:cNvPr id="109" name="Connettore 4 20"/>
          <p:cNvCxnSpPr>
            <a:stCxn id="5" idx="1"/>
            <a:endCxn id="6" idx="3"/>
          </p:cNvCxnSpPr>
          <p:nvPr/>
        </p:nvCxnSpPr>
        <p:spPr>
          <a:xfrm rot="10800000" flipV="1">
            <a:off x="1542898" y="2521131"/>
            <a:ext cx="924628" cy="451820"/>
          </a:xfrm>
          <a:prstGeom prst="bentConnector3">
            <a:avLst>
              <a:gd name="adj1" fmla="val 50000"/>
            </a:avLst>
          </a:prstGeom>
          <a:ln w="28575">
            <a:headEnd type="none"/>
            <a:tailEnd type="triangle"/>
          </a:ln>
        </p:spPr>
        <p:style>
          <a:lnRef idx="1">
            <a:schemeClr val="accent1"/>
          </a:lnRef>
          <a:fillRef idx="0">
            <a:schemeClr val="accent1"/>
          </a:fillRef>
          <a:effectRef idx="0">
            <a:schemeClr val="accent1"/>
          </a:effectRef>
          <a:fontRef idx="minor">
            <a:schemeClr val="tx1"/>
          </a:fontRef>
        </p:style>
      </p:cxnSp>
      <p:sp>
        <p:nvSpPr>
          <p:cNvPr id="124" name="CuadroTexto 123"/>
          <p:cNvSpPr txBox="1"/>
          <p:nvPr/>
        </p:nvSpPr>
        <p:spPr>
          <a:xfrm>
            <a:off x="3809477" y="1549117"/>
            <a:ext cx="978119" cy="830997"/>
          </a:xfrm>
          <a:prstGeom prst="rect">
            <a:avLst/>
          </a:prstGeom>
          <a:noFill/>
        </p:spPr>
        <p:txBody>
          <a:bodyPr wrap="square" rtlCol="0">
            <a:spAutoFit/>
          </a:bodyPr>
          <a:lstStyle/>
          <a:p>
            <a:pPr algn="ctr"/>
            <a:r>
              <a:rPr lang="es-CL" sz="1600" dirty="0" smtClean="0"/>
              <a:t>Sync Own Activity</a:t>
            </a:r>
            <a:endParaRPr lang="es-CL" sz="1600" dirty="0"/>
          </a:p>
        </p:txBody>
      </p:sp>
      <p:sp>
        <p:nvSpPr>
          <p:cNvPr id="126" name="CuadroTexto 125"/>
          <p:cNvSpPr txBox="1"/>
          <p:nvPr/>
        </p:nvSpPr>
        <p:spPr>
          <a:xfrm>
            <a:off x="1487969" y="1620899"/>
            <a:ext cx="1019420" cy="830997"/>
          </a:xfrm>
          <a:prstGeom prst="rect">
            <a:avLst/>
          </a:prstGeom>
          <a:noFill/>
        </p:spPr>
        <p:txBody>
          <a:bodyPr wrap="square" rtlCol="0">
            <a:spAutoFit/>
          </a:bodyPr>
          <a:lstStyle/>
          <a:p>
            <a:pPr algn="ctr"/>
            <a:r>
              <a:rPr lang="es-CL" sz="1600" dirty="0" smtClean="0"/>
              <a:t>Sync</a:t>
            </a:r>
            <a:endParaRPr lang="es-CL" sz="1600" dirty="0" smtClean="0"/>
          </a:p>
          <a:p>
            <a:pPr algn="ctr"/>
            <a:r>
              <a:rPr lang="es-CL" sz="1600" dirty="0" smtClean="0"/>
              <a:t>Own Activity</a:t>
            </a:r>
            <a:endParaRPr lang="es-CL" sz="1600" dirty="0"/>
          </a:p>
        </p:txBody>
      </p:sp>
      <p:cxnSp>
        <p:nvCxnSpPr>
          <p:cNvPr id="115" name="Conector angular 114"/>
          <p:cNvCxnSpPr/>
          <p:nvPr/>
        </p:nvCxnSpPr>
        <p:spPr>
          <a:xfrm rot="10800000">
            <a:off x="1542896" y="3508168"/>
            <a:ext cx="3299070" cy="394876"/>
          </a:xfrm>
          <a:prstGeom prst="bentConnector3">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uadroTexto 127"/>
          <p:cNvSpPr txBox="1"/>
          <p:nvPr/>
        </p:nvSpPr>
        <p:spPr>
          <a:xfrm>
            <a:off x="2630971" y="3900063"/>
            <a:ext cx="1129979" cy="584775"/>
          </a:xfrm>
          <a:prstGeom prst="rect">
            <a:avLst/>
          </a:prstGeom>
          <a:noFill/>
        </p:spPr>
        <p:txBody>
          <a:bodyPr wrap="square" rtlCol="0">
            <a:spAutoFit/>
          </a:bodyPr>
          <a:lstStyle/>
          <a:p>
            <a:pPr algn="ctr"/>
            <a:r>
              <a:rPr lang="es-CL" sz="1600" dirty="0" smtClean="0"/>
              <a:t>Sync meter Activity</a:t>
            </a:r>
            <a:endParaRPr lang="es-CL" sz="1600" dirty="0"/>
          </a:p>
        </p:txBody>
      </p:sp>
      <p:sp>
        <p:nvSpPr>
          <p:cNvPr id="129" name="Rettangolo arrotondato 18"/>
          <p:cNvSpPr/>
          <p:nvPr/>
        </p:nvSpPr>
        <p:spPr>
          <a:xfrm>
            <a:off x="1776612" y="2635566"/>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130" name="Rettangolo arrotondato 18"/>
          <p:cNvSpPr/>
          <p:nvPr/>
        </p:nvSpPr>
        <p:spPr>
          <a:xfrm>
            <a:off x="4232243" y="2627193"/>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I4</a:t>
            </a:r>
            <a:endParaRPr lang="it-IT" dirty="0"/>
          </a:p>
        </p:txBody>
      </p:sp>
      <p:sp>
        <p:nvSpPr>
          <p:cNvPr id="132" name="Rettangolo arrotondato 115"/>
          <p:cNvSpPr/>
          <p:nvPr/>
        </p:nvSpPr>
        <p:spPr>
          <a:xfrm>
            <a:off x="5080336" y="3304909"/>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I5</a:t>
            </a:r>
            <a:endParaRPr lang="it-IT" dirty="0"/>
          </a:p>
        </p:txBody>
      </p:sp>
      <p:sp>
        <p:nvSpPr>
          <p:cNvPr id="30" name="CuadroTexto 29"/>
          <p:cNvSpPr txBox="1"/>
          <p:nvPr/>
        </p:nvSpPr>
        <p:spPr>
          <a:xfrm>
            <a:off x="2625213" y="280219"/>
            <a:ext cx="1821845" cy="369332"/>
          </a:xfrm>
          <a:prstGeom prst="rect">
            <a:avLst/>
          </a:prstGeom>
          <a:noFill/>
        </p:spPr>
        <p:txBody>
          <a:bodyPr wrap="none" rtlCol="0">
            <a:spAutoFit/>
          </a:bodyPr>
          <a:lstStyle/>
          <a:p>
            <a:r>
              <a:rPr lang="es-CL" dirty="0" smtClean="0"/>
              <a:t>Actualización PFC</a:t>
            </a:r>
            <a:endParaRPr lang="es-CL"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p:cNvSpPr/>
          <p:nvPr/>
        </p:nvSpPr>
        <p:spPr>
          <a:xfrm>
            <a:off x="8775487" y="2031359"/>
            <a:ext cx="1675083" cy="2871217"/>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it-IT" sz="1400" b="1" dirty="0"/>
          </a:p>
        </p:txBody>
      </p:sp>
      <p:sp>
        <p:nvSpPr>
          <p:cNvPr id="55" name="Rettangolo arrotondato 54"/>
          <p:cNvSpPr/>
          <p:nvPr/>
        </p:nvSpPr>
        <p:spPr>
          <a:xfrm>
            <a:off x="4648125" y="2059772"/>
            <a:ext cx="1996906" cy="245282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sz="1400" b="1" dirty="0" smtClean="0"/>
              <a:t>Almacén y Reportes</a:t>
            </a:r>
            <a:endParaRPr lang="it-IT" sz="1400" dirty="0"/>
          </a:p>
        </p:txBody>
      </p:sp>
      <p:cxnSp>
        <p:nvCxnSpPr>
          <p:cNvPr id="58" name="Connettore 4 57"/>
          <p:cNvCxnSpPr>
            <a:stCxn id="55" idx="1"/>
            <a:endCxn id="70" idx="3"/>
          </p:cNvCxnSpPr>
          <p:nvPr/>
        </p:nvCxnSpPr>
        <p:spPr>
          <a:xfrm rot="10800000">
            <a:off x="3134981" y="3255015"/>
            <a:ext cx="1513144" cy="31168"/>
          </a:xfrm>
          <a:prstGeom prst="bentConnector3">
            <a:avLst>
              <a:gd name="adj1" fmla="val 50000"/>
            </a:avLst>
          </a:prstGeom>
          <a:ln w="28575">
            <a:headEnd type="triangle"/>
            <a:tailEnd type="none"/>
          </a:ln>
        </p:spPr>
        <p:style>
          <a:lnRef idx="1">
            <a:schemeClr val="accent1"/>
          </a:lnRef>
          <a:fillRef idx="0">
            <a:schemeClr val="accent1"/>
          </a:fillRef>
          <a:effectRef idx="0">
            <a:schemeClr val="accent1"/>
          </a:effectRef>
          <a:fontRef idx="minor">
            <a:schemeClr val="tx1"/>
          </a:fontRef>
        </p:style>
      </p:cxnSp>
      <p:pic>
        <p:nvPicPr>
          <p:cNvPr id="82" name="Picture 3"/>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pic>
        <p:nvPicPr>
          <p:cNvPr id="1026" name="Picture 2" descr="User Icons - 187,756 free vector ic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2667" y="2965567"/>
            <a:ext cx="578895" cy="5788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p:cNvSpPr txBox="1"/>
          <p:nvPr/>
        </p:nvSpPr>
        <p:spPr>
          <a:xfrm>
            <a:off x="8949030" y="3638744"/>
            <a:ext cx="1327996" cy="584775"/>
          </a:xfrm>
          <a:prstGeom prst="rect">
            <a:avLst/>
          </a:prstGeom>
          <a:noFill/>
        </p:spPr>
        <p:txBody>
          <a:bodyPr wrap="square" rtlCol="0">
            <a:spAutoFit/>
          </a:bodyPr>
          <a:lstStyle/>
          <a:p>
            <a:pPr algn="ctr"/>
            <a:r>
              <a:rPr lang="es-CL" sz="1600" dirty="0" smtClean="0"/>
              <a:t>Partes interesadas</a:t>
            </a:r>
            <a:endParaRPr lang="es-CL" sz="1600" dirty="0"/>
          </a:p>
        </p:txBody>
      </p:sp>
      <p:sp>
        <p:nvSpPr>
          <p:cNvPr id="70" name="Rettangolo 34"/>
          <p:cNvSpPr/>
          <p:nvPr/>
        </p:nvSpPr>
        <p:spPr>
          <a:xfrm>
            <a:off x="1098490" y="1997437"/>
            <a:ext cx="2036491" cy="2515156"/>
          </a:xfrm>
          <a:prstGeom prst="rect">
            <a:avLst/>
          </a:prstGeom>
          <a:gradFill>
            <a:gsLst>
              <a:gs pos="0">
                <a:srgbClr val="92D050"/>
              </a:gs>
              <a:gs pos="50000">
                <a:schemeClr val="accent4">
                  <a:lumMod val="105000"/>
                  <a:satMod val="103000"/>
                  <a:tint val="73000"/>
                </a:schemeClr>
              </a:gs>
              <a:gs pos="100000">
                <a:schemeClr val="accent4">
                  <a:lumMod val="105000"/>
                  <a:satMod val="109000"/>
                  <a:tint val="81000"/>
                </a:schemeClr>
              </a:gs>
            </a:gsLst>
          </a:gradFill>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2000" dirty="0" smtClean="0"/>
              <a:t>Base de Datos</a:t>
            </a:r>
            <a:endParaRPr lang="it-IT" sz="2000" dirty="0" smtClean="0"/>
          </a:p>
          <a:p>
            <a:pPr algn="ctr"/>
            <a:r>
              <a:rPr lang="it-IT" sz="2000" dirty="0" smtClean="0"/>
              <a:t>SGO</a:t>
            </a:r>
            <a:endParaRPr lang="it-IT" sz="2000" dirty="0"/>
          </a:p>
        </p:txBody>
      </p:sp>
      <p:sp>
        <p:nvSpPr>
          <p:cNvPr id="76" name="Rettangolo 73"/>
          <p:cNvSpPr/>
          <p:nvPr/>
        </p:nvSpPr>
        <p:spPr>
          <a:xfrm>
            <a:off x="1119156" y="1680185"/>
            <a:ext cx="2015825" cy="33855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it-IT" sz="1600" dirty="0" smtClean="0"/>
              <a:t>AMI - HES</a:t>
            </a:r>
            <a:endParaRPr lang="it-IT" sz="1600" dirty="0"/>
          </a:p>
        </p:txBody>
      </p:sp>
      <p:cxnSp>
        <p:nvCxnSpPr>
          <p:cNvPr id="78" name="Connettore 4 95"/>
          <p:cNvCxnSpPr>
            <a:stCxn id="20" idx="1"/>
            <a:endCxn id="55" idx="3"/>
          </p:cNvCxnSpPr>
          <p:nvPr/>
        </p:nvCxnSpPr>
        <p:spPr>
          <a:xfrm rot="10800000">
            <a:off x="6645031" y="3286184"/>
            <a:ext cx="2130456" cy="180785"/>
          </a:xfrm>
          <a:prstGeom prst="bentConnector3">
            <a:avLst>
              <a:gd name="adj1"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79" name="Gruppo 104"/>
          <p:cNvGrpSpPr/>
          <p:nvPr/>
        </p:nvGrpSpPr>
        <p:grpSpPr>
          <a:xfrm>
            <a:off x="2174891" y="3743203"/>
            <a:ext cx="475533" cy="568712"/>
            <a:chOff x="5124078" y="4297680"/>
            <a:chExt cx="475533" cy="568712"/>
          </a:xfrm>
        </p:grpSpPr>
        <p:sp>
          <p:nvSpPr>
            <p:cNvPr id="80" name="Cilindro 79"/>
            <p:cNvSpPr/>
            <p:nvPr/>
          </p:nvSpPr>
          <p:spPr>
            <a:xfrm>
              <a:off x="5124078" y="4297680"/>
              <a:ext cx="475533" cy="568712"/>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t-IT"/>
            </a:p>
          </p:txBody>
        </p:sp>
        <p:sp>
          <p:nvSpPr>
            <p:cNvPr id="81" name="Rettangolo 101"/>
            <p:cNvSpPr/>
            <p:nvPr/>
          </p:nvSpPr>
          <p:spPr>
            <a:xfrm>
              <a:off x="5165316" y="4546934"/>
              <a:ext cx="393056" cy="307777"/>
            </a:xfrm>
            <a:prstGeom prst="rect">
              <a:avLst/>
            </a:prstGeom>
          </p:spPr>
          <p:txBody>
            <a:bodyPr wrap="none">
              <a:spAutoFit/>
            </a:bodyPr>
            <a:lstStyle/>
            <a:p>
              <a:r>
                <a:rPr lang="it-IT" sz="1400" dirty="0"/>
                <a:t>DB</a:t>
              </a:r>
              <a:endParaRPr lang="it-IT" sz="1600" dirty="0"/>
            </a:p>
          </p:txBody>
        </p:sp>
      </p:grpSp>
      <p:sp>
        <p:nvSpPr>
          <p:cNvPr id="132" name="Rettangolo arrotondato 115"/>
          <p:cNvSpPr/>
          <p:nvPr/>
        </p:nvSpPr>
        <p:spPr>
          <a:xfrm>
            <a:off x="3662952" y="3098261"/>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I7</a:t>
            </a:r>
            <a:endParaRPr lang="it-IT" dirty="0"/>
          </a:p>
        </p:txBody>
      </p:sp>
      <p:sp>
        <p:nvSpPr>
          <p:cNvPr id="47" name="Rettangolo arrotondato 115"/>
          <p:cNvSpPr/>
          <p:nvPr/>
        </p:nvSpPr>
        <p:spPr>
          <a:xfrm>
            <a:off x="7481659" y="3116590"/>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
        <p:nvSpPr>
          <p:cNvPr id="16" name="CuadroTexto 15"/>
          <p:cNvSpPr txBox="1"/>
          <p:nvPr/>
        </p:nvSpPr>
        <p:spPr>
          <a:xfrm>
            <a:off x="2625213" y="280219"/>
            <a:ext cx="1821845" cy="369332"/>
          </a:xfrm>
          <a:prstGeom prst="rect">
            <a:avLst/>
          </a:prstGeom>
          <a:noFill/>
        </p:spPr>
        <p:txBody>
          <a:bodyPr wrap="none" rtlCol="0">
            <a:spAutoFit/>
          </a:bodyPr>
          <a:lstStyle/>
          <a:p>
            <a:r>
              <a:rPr lang="es-CL" dirty="0" smtClean="0"/>
              <a:t>Actualización PFC</a:t>
            </a:r>
            <a:endParaRPr lang="es-C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arrotondato 2"/>
          <p:cNvSpPr/>
          <p:nvPr/>
        </p:nvSpPr>
        <p:spPr>
          <a:xfrm>
            <a:off x="8986377" y="1070010"/>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4" name="Rettangolo arrotondato 3"/>
          <p:cNvSpPr/>
          <p:nvPr/>
        </p:nvSpPr>
        <p:spPr>
          <a:xfrm>
            <a:off x="3499351" y="102242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5" name="Nube 3"/>
          <p:cNvSpPr/>
          <p:nvPr/>
        </p:nvSpPr>
        <p:spPr>
          <a:xfrm>
            <a:off x="1763490" y="52249"/>
            <a:ext cx="2690948" cy="103196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Cloud </a:t>
            </a:r>
            <a:r>
              <a:rPr lang="es-CL" dirty="0" err="1"/>
              <a:t>Queue</a:t>
            </a:r>
            <a:endParaRPr lang="es-CL" dirty="0" err="1">
              <a:cs typeface="Calibri" panose="020F0502020204030204"/>
            </a:endParaRPr>
          </a:p>
          <a:p>
            <a:pPr algn="ctr"/>
            <a:r>
              <a:rPr lang="es-CL" dirty="0" err="1"/>
              <a:t>ePlus</a:t>
            </a:r>
            <a:endParaRPr lang="en-US" dirty="0"/>
          </a:p>
        </p:txBody>
      </p:sp>
      <p:sp>
        <p:nvSpPr>
          <p:cNvPr id="6" name="Rectángulo redondeado 6"/>
          <p:cNvSpPr/>
          <p:nvPr/>
        </p:nvSpPr>
        <p:spPr>
          <a:xfrm>
            <a:off x="7667898" y="143690"/>
            <a:ext cx="3148149" cy="8621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err="1"/>
              <a:t>ePlus</a:t>
            </a:r>
            <a:endParaRPr lang="es-CL" dirty="0"/>
          </a:p>
          <a:p>
            <a:pPr algn="ctr"/>
            <a:r>
              <a:rPr lang="es-CL" dirty="0" err="1"/>
              <a:t>Integration</a:t>
            </a:r>
            <a:r>
              <a:rPr lang="es-CL" dirty="0"/>
              <a:t> </a:t>
            </a:r>
            <a:r>
              <a:rPr lang="es-CL" dirty="0" err="1"/>
              <a:t>Services</a:t>
            </a:r>
            <a:endParaRPr lang="en-US" dirty="0"/>
          </a:p>
        </p:txBody>
      </p:sp>
      <p:sp>
        <p:nvSpPr>
          <p:cNvPr id="7" name="Rectángulo redondeado 7"/>
          <p:cNvSpPr/>
          <p:nvPr/>
        </p:nvSpPr>
        <p:spPr>
          <a:xfrm>
            <a:off x="6897189" y="5839098"/>
            <a:ext cx="2847703" cy="888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Enel </a:t>
            </a:r>
            <a:r>
              <a:rPr lang="es-CL" dirty="0" err="1"/>
              <a:t>Distibutor</a:t>
            </a:r>
            <a:r>
              <a:rPr lang="es-CL" dirty="0"/>
              <a:t> </a:t>
            </a:r>
            <a:r>
              <a:rPr lang="es-CL" dirty="0" err="1"/>
              <a:t>Legacy</a:t>
            </a:r>
            <a:r>
              <a:rPr lang="es-CL" dirty="0"/>
              <a:t> </a:t>
            </a:r>
            <a:r>
              <a:rPr lang="es-CL" dirty="0" err="1"/>
              <a:t>Systems</a:t>
            </a:r>
            <a:endParaRPr lang="en-US" dirty="0"/>
          </a:p>
        </p:txBody>
      </p:sp>
      <p:sp>
        <p:nvSpPr>
          <p:cNvPr id="8" name="Cilindro 7"/>
          <p:cNvSpPr/>
          <p:nvPr/>
        </p:nvSpPr>
        <p:spPr>
          <a:xfrm>
            <a:off x="3971110" y="5865224"/>
            <a:ext cx="2351314" cy="8882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err="1"/>
              <a:t>Legacy</a:t>
            </a:r>
            <a:r>
              <a:rPr lang="es-CL" dirty="0"/>
              <a:t> </a:t>
            </a:r>
            <a:r>
              <a:rPr lang="es-CL" dirty="0" err="1"/>
              <a:t>Integration</a:t>
            </a:r>
            <a:endParaRPr lang="es-CL" dirty="0"/>
          </a:p>
          <a:p>
            <a:pPr algn="ctr"/>
            <a:r>
              <a:rPr lang="es-CL" dirty="0" err="1"/>
              <a:t>Database</a:t>
            </a:r>
            <a:endParaRPr lang="en-US" dirty="0"/>
          </a:p>
        </p:txBody>
      </p:sp>
      <p:sp>
        <p:nvSpPr>
          <p:cNvPr id="9" name="Rectángulo 9"/>
          <p:cNvSpPr/>
          <p:nvPr/>
        </p:nvSpPr>
        <p:spPr>
          <a:xfrm>
            <a:off x="404949" y="1567543"/>
            <a:ext cx="11521440" cy="401029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11"/>
          <p:cNvSpPr/>
          <p:nvPr/>
        </p:nvSpPr>
        <p:spPr>
          <a:xfrm>
            <a:off x="5225143" y="809900"/>
            <a:ext cx="1489165" cy="561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err="1"/>
              <a:t>ePlus</a:t>
            </a:r>
            <a:endParaRPr lang="es-CL" dirty="0"/>
          </a:p>
          <a:p>
            <a:pPr algn="ctr"/>
            <a:r>
              <a:rPr lang="es-CL" dirty="0" err="1"/>
              <a:t>System</a:t>
            </a:r>
            <a:endParaRPr lang="en-US" dirty="0"/>
          </a:p>
        </p:txBody>
      </p:sp>
      <p:cxnSp>
        <p:nvCxnSpPr>
          <p:cNvPr id="11" name="Conector recto de flecha 19"/>
          <p:cNvCxnSpPr/>
          <p:nvPr/>
        </p:nvCxnSpPr>
        <p:spPr>
          <a:xfrm flipH="1" flipV="1">
            <a:off x="4415241" y="809900"/>
            <a:ext cx="692337" cy="287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23"/>
          <p:cNvCxnSpPr/>
          <p:nvPr/>
        </p:nvCxnSpPr>
        <p:spPr>
          <a:xfrm flipH="1">
            <a:off x="6910251" y="705394"/>
            <a:ext cx="627018" cy="235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25"/>
          <p:cNvCxnSpPr/>
          <p:nvPr/>
        </p:nvCxnSpPr>
        <p:spPr>
          <a:xfrm flipV="1">
            <a:off x="6910251" y="940531"/>
            <a:ext cx="757647" cy="300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CuadroTexto 26"/>
          <p:cNvSpPr txBox="1"/>
          <p:nvPr/>
        </p:nvSpPr>
        <p:spPr>
          <a:xfrm>
            <a:off x="300445" y="1267095"/>
            <a:ext cx="3131755" cy="369332"/>
          </a:xfrm>
          <a:prstGeom prst="rect">
            <a:avLst/>
          </a:prstGeom>
          <a:noFill/>
        </p:spPr>
        <p:txBody>
          <a:bodyPr wrap="none" rtlCol="0">
            <a:spAutoFit/>
          </a:bodyPr>
          <a:lstStyle/>
          <a:p>
            <a:r>
              <a:rPr lang="es-CL" dirty="0" err="1"/>
              <a:t>SMMePlus</a:t>
            </a:r>
            <a:r>
              <a:rPr lang="es-CL" dirty="0"/>
              <a:t> </a:t>
            </a:r>
            <a:r>
              <a:rPr lang="es-CL" dirty="0" err="1"/>
              <a:t>Integration</a:t>
            </a:r>
            <a:r>
              <a:rPr lang="es-CL" dirty="0"/>
              <a:t> </a:t>
            </a:r>
            <a:r>
              <a:rPr lang="es-CL" dirty="0" err="1"/>
              <a:t>Platform</a:t>
            </a:r>
            <a:endParaRPr lang="en-US" dirty="0"/>
          </a:p>
        </p:txBody>
      </p:sp>
      <p:sp>
        <p:nvSpPr>
          <p:cNvPr id="15" name="Rectángulo 27"/>
          <p:cNvSpPr/>
          <p:nvPr/>
        </p:nvSpPr>
        <p:spPr>
          <a:xfrm>
            <a:off x="1606731" y="2348177"/>
            <a:ext cx="2808510"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err="1"/>
              <a:t>IntegradorEH</a:t>
            </a:r>
            <a:endParaRPr lang="es-CL" sz="1600" dirty="0"/>
          </a:p>
          <a:p>
            <a:pPr algn="ctr"/>
            <a:r>
              <a:rPr lang="es-CL" sz="1600" dirty="0"/>
              <a:t>(</a:t>
            </a:r>
            <a:r>
              <a:rPr lang="es-CL" sz="1600" dirty="0" err="1"/>
              <a:t>Connect</a:t>
            </a:r>
            <a:r>
              <a:rPr lang="es-CL" sz="1600" dirty="0"/>
              <a:t> </a:t>
            </a:r>
            <a:r>
              <a:rPr lang="es-CL" sz="1600" dirty="0" err="1"/>
              <a:t>to</a:t>
            </a:r>
            <a:r>
              <a:rPr lang="es-CL" sz="1600" dirty="0"/>
              <a:t> </a:t>
            </a:r>
            <a:r>
              <a:rPr lang="es-CL" sz="1600" dirty="0" err="1"/>
              <a:t>Queue</a:t>
            </a:r>
            <a:r>
              <a:rPr lang="es-CL" sz="1600" dirty="0"/>
              <a:t> and </a:t>
            </a:r>
            <a:r>
              <a:rPr lang="es-CL" sz="1600" dirty="0" err="1"/>
              <a:t>Download</a:t>
            </a:r>
            <a:r>
              <a:rPr lang="es-CL" sz="1600" dirty="0"/>
              <a:t>)</a:t>
            </a:r>
            <a:endParaRPr lang="en-US" sz="1600" dirty="0"/>
          </a:p>
        </p:txBody>
      </p:sp>
      <p:cxnSp>
        <p:nvCxnSpPr>
          <p:cNvPr id="16" name="Conector recto de flecha 31"/>
          <p:cNvCxnSpPr/>
          <p:nvPr/>
        </p:nvCxnSpPr>
        <p:spPr>
          <a:xfrm>
            <a:off x="2792191" y="822955"/>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39"/>
          <p:cNvCxnSpPr/>
          <p:nvPr/>
        </p:nvCxnSpPr>
        <p:spPr>
          <a:xfrm>
            <a:off x="4089223" y="832201"/>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40"/>
          <p:cNvCxnSpPr/>
          <p:nvPr/>
        </p:nvCxnSpPr>
        <p:spPr>
          <a:xfrm>
            <a:off x="3452955" y="827306"/>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41"/>
          <p:cNvCxnSpPr/>
          <p:nvPr/>
        </p:nvCxnSpPr>
        <p:spPr>
          <a:xfrm>
            <a:off x="2033455" y="818600"/>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CuadroTexto 42"/>
          <p:cNvSpPr txBox="1"/>
          <p:nvPr/>
        </p:nvSpPr>
        <p:spPr>
          <a:xfrm>
            <a:off x="1425481" y="2013101"/>
            <a:ext cx="652743" cy="246221"/>
          </a:xfrm>
          <a:prstGeom prst="rect">
            <a:avLst/>
          </a:prstGeom>
          <a:noFill/>
        </p:spPr>
        <p:txBody>
          <a:bodyPr wrap="none" rtlCol="0">
            <a:spAutoFit/>
          </a:bodyPr>
          <a:lstStyle/>
          <a:p>
            <a:r>
              <a:rPr lang="es-CL" sz="1000" dirty="0" err="1"/>
              <a:t>Readings</a:t>
            </a:r>
            <a:endParaRPr lang="en-US" sz="1000" dirty="0"/>
          </a:p>
        </p:txBody>
      </p:sp>
      <p:sp>
        <p:nvSpPr>
          <p:cNvPr id="21" name="CuadroTexto 43"/>
          <p:cNvSpPr txBox="1"/>
          <p:nvPr/>
        </p:nvSpPr>
        <p:spPr>
          <a:xfrm>
            <a:off x="2853950" y="2020628"/>
            <a:ext cx="678391" cy="246221"/>
          </a:xfrm>
          <a:prstGeom prst="rect">
            <a:avLst/>
          </a:prstGeom>
          <a:noFill/>
        </p:spPr>
        <p:txBody>
          <a:bodyPr wrap="none" rtlCol="0">
            <a:spAutoFit/>
          </a:bodyPr>
          <a:lstStyle/>
          <a:p>
            <a:r>
              <a:rPr lang="es-CL" sz="1000" dirty="0" err="1"/>
              <a:t>Events</a:t>
            </a:r>
            <a:r>
              <a:rPr lang="es-CL" sz="1000" dirty="0"/>
              <a:t> LP</a:t>
            </a:r>
            <a:endParaRPr lang="en-US" sz="1000" dirty="0"/>
          </a:p>
        </p:txBody>
      </p:sp>
      <p:sp>
        <p:nvSpPr>
          <p:cNvPr id="22" name="CuadroTexto 44"/>
          <p:cNvSpPr txBox="1"/>
          <p:nvPr/>
        </p:nvSpPr>
        <p:spPr>
          <a:xfrm>
            <a:off x="3466413" y="1841854"/>
            <a:ext cx="704039" cy="246221"/>
          </a:xfrm>
          <a:prstGeom prst="rect">
            <a:avLst/>
          </a:prstGeom>
          <a:noFill/>
        </p:spPr>
        <p:txBody>
          <a:bodyPr wrap="none" rtlCol="0">
            <a:spAutoFit/>
          </a:bodyPr>
          <a:lstStyle/>
          <a:p>
            <a:r>
              <a:rPr lang="es-CL" sz="1000" dirty="0" err="1"/>
              <a:t>Events</a:t>
            </a:r>
            <a:r>
              <a:rPr lang="es-CL" sz="1000" dirty="0"/>
              <a:t> HP</a:t>
            </a:r>
            <a:endParaRPr lang="en-US" sz="1000" dirty="0"/>
          </a:p>
        </p:txBody>
      </p:sp>
      <p:sp>
        <p:nvSpPr>
          <p:cNvPr id="23" name="CuadroTexto 45"/>
          <p:cNvSpPr txBox="1"/>
          <p:nvPr/>
        </p:nvSpPr>
        <p:spPr>
          <a:xfrm>
            <a:off x="2075748" y="1836317"/>
            <a:ext cx="801823" cy="246221"/>
          </a:xfrm>
          <a:prstGeom prst="rect">
            <a:avLst/>
          </a:prstGeom>
          <a:noFill/>
        </p:spPr>
        <p:txBody>
          <a:bodyPr wrap="none" rtlCol="0">
            <a:spAutoFit/>
          </a:bodyPr>
          <a:lstStyle/>
          <a:p>
            <a:r>
              <a:rPr lang="es-CL" sz="1000" dirty="0"/>
              <a:t>Load </a:t>
            </a:r>
            <a:r>
              <a:rPr lang="es-CL" sz="1000" dirty="0" err="1"/>
              <a:t>Profile</a:t>
            </a:r>
            <a:endParaRPr lang="en-US" sz="1000" dirty="0"/>
          </a:p>
        </p:txBody>
      </p:sp>
      <p:cxnSp>
        <p:nvCxnSpPr>
          <p:cNvPr id="24" name="Conector angular 47"/>
          <p:cNvCxnSpPr/>
          <p:nvPr/>
        </p:nvCxnSpPr>
        <p:spPr>
          <a:xfrm rot="16200000" flipH="1">
            <a:off x="2685537" y="4331454"/>
            <a:ext cx="2132048" cy="8832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48"/>
          <p:cNvSpPr/>
          <p:nvPr/>
        </p:nvSpPr>
        <p:spPr>
          <a:xfrm>
            <a:off x="7963985" y="2704013"/>
            <a:ext cx="2577739"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err="1"/>
              <a:t>GatewaySMMCxWS</a:t>
            </a:r>
            <a:endParaRPr lang="es-CL" sz="1600" dirty="0"/>
          </a:p>
          <a:p>
            <a:pPr algn="ctr"/>
            <a:r>
              <a:rPr lang="es-CL" sz="1600" dirty="0"/>
              <a:t>(</a:t>
            </a:r>
            <a:r>
              <a:rPr lang="es-CL" sz="1600" dirty="0" err="1"/>
              <a:t>WebService</a:t>
            </a:r>
            <a:r>
              <a:rPr lang="es-CL" sz="1600" dirty="0"/>
              <a:t> Solicitudes)</a:t>
            </a:r>
            <a:endParaRPr lang="en-US" sz="1600" dirty="0"/>
          </a:p>
        </p:txBody>
      </p:sp>
      <p:cxnSp>
        <p:nvCxnSpPr>
          <p:cNvPr id="26" name="Conector angular 50"/>
          <p:cNvCxnSpPr/>
          <p:nvPr/>
        </p:nvCxnSpPr>
        <p:spPr>
          <a:xfrm rot="5400000" flipH="1" flipV="1">
            <a:off x="8236131" y="3977641"/>
            <a:ext cx="2299065" cy="14238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58"/>
          <p:cNvCxnSpPr/>
          <p:nvPr/>
        </p:nvCxnSpPr>
        <p:spPr>
          <a:xfrm flipV="1">
            <a:off x="10045336"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62"/>
          <p:cNvCxnSpPr/>
          <p:nvPr/>
        </p:nvCxnSpPr>
        <p:spPr>
          <a:xfrm>
            <a:off x="8334103"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r 73"/>
          <p:cNvCxnSpPr/>
          <p:nvPr/>
        </p:nvCxnSpPr>
        <p:spPr>
          <a:xfrm rot="5400000">
            <a:off x="6090557" y="3608614"/>
            <a:ext cx="2266407" cy="2194561"/>
          </a:xfrm>
          <a:prstGeom prst="bentConnector3">
            <a:avLst>
              <a:gd name="adj1" fmla="val 62104"/>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uadroTexto 74"/>
          <p:cNvSpPr txBox="1"/>
          <p:nvPr/>
        </p:nvSpPr>
        <p:spPr>
          <a:xfrm>
            <a:off x="3314168" y="3749908"/>
            <a:ext cx="1217000" cy="246221"/>
          </a:xfrm>
          <a:prstGeom prst="rect">
            <a:avLst/>
          </a:prstGeom>
          <a:noFill/>
        </p:spPr>
        <p:txBody>
          <a:bodyPr wrap="none" rtlCol="0">
            <a:spAutoFit/>
          </a:bodyPr>
          <a:lstStyle/>
          <a:p>
            <a:r>
              <a:rPr lang="es-CL" sz="1000" dirty="0"/>
              <a:t>SQL </a:t>
            </a:r>
            <a:r>
              <a:rPr lang="es-CL" sz="1000" dirty="0" err="1"/>
              <a:t>Loader</a:t>
            </a:r>
            <a:r>
              <a:rPr lang="es-CL" sz="1000" dirty="0"/>
              <a:t> (Oracle)</a:t>
            </a:r>
            <a:endParaRPr lang="en-US" sz="1000" dirty="0"/>
          </a:p>
        </p:txBody>
      </p:sp>
      <p:sp>
        <p:nvSpPr>
          <p:cNvPr id="31" name="CuadroTexto 75"/>
          <p:cNvSpPr txBox="1"/>
          <p:nvPr/>
        </p:nvSpPr>
        <p:spPr>
          <a:xfrm>
            <a:off x="3309812" y="3954563"/>
            <a:ext cx="1168910" cy="246221"/>
          </a:xfrm>
          <a:prstGeom prst="rect">
            <a:avLst/>
          </a:prstGeom>
          <a:noFill/>
        </p:spPr>
        <p:txBody>
          <a:bodyPr wrap="none" rtlCol="0">
            <a:spAutoFit/>
          </a:bodyPr>
          <a:lstStyle/>
          <a:p>
            <a:r>
              <a:rPr lang="es-CL" sz="1000" dirty="0"/>
              <a:t>COPY (</a:t>
            </a:r>
            <a:r>
              <a:rPr lang="es-CL" sz="1000" dirty="0" err="1"/>
              <a:t>PostgreSQL</a:t>
            </a:r>
            <a:r>
              <a:rPr lang="es-CL" sz="1000" dirty="0"/>
              <a:t>)</a:t>
            </a:r>
            <a:endParaRPr lang="en-US" sz="1000" dirty="0"/>
          </a:p>
        </p:txBody>
      </p:sp>
      <p:sp>
        <p:nvSpPr>
          <p:cNvPr id="32" name="Rectángulo 76"/>
          <p:cNvSpPr/>
          <p:nvPr/>
        </p:nvSpPr>
        <p:spPr>
          <a:xfrm>
            <a:off x="470262" y="3334959"/>
            <a:ext cx="2011669" cy="404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err="1"/>
              <a:t>IntegradorReinyecta</a:t>
            </a:r>
            <a:endParaRPr lang="en-US" sz="1600" dirty="0"/>
          </a:p>
        </p:txBody>
      </p:sp>
      <p:sp>
        <p:nvSpPr>
          <p:cNvPr id="33" name="Decisión 79"/>
          <p:cNvSpPr/>
          <p:nvPr/>
        </p:nvSpPr>
        <p:spPr>
          <a:xfrm>
            <a:off x="2834628" y="4193488"/>
            <a:ext cx="966673" cy="39524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OK</a:t>
            </a:r>
            <a:endParaRPr lang="en-US" sz="1600" dirty="0"/>
          </a:p>
        </p:txBody>
      </p:sp>
      <p:sp>
        <p:nvSpPr>
          <p:cNvPr id="34" name="CuadroTexto 81"/>
          <p:cNvSpPr txBox="1"/>
          <p:nvPr/>
        </p:nvSpPr>
        <p:spPr>
          <a:xfrm>
            <a:off x="3258654" y="4569203"/>
            <a:ext cx="360996" cy="246221"/>
          </a:xfrm>
          <a:prstGeom prst="rect">
            <a:avLst/>
          </a:prstGeom>
          <a:noFill/>
        </p:spPr>
        <p:txBody>
          <a:bodyPr wrap="none" rtlCol="0">
            <a:spAutoFit/>
          </a:bodyPr>
          <a:lstStyle/>
          <a:p>
            <a:r>
              <a:rPr lang="es-CL" sz="1000" dirty="0"/>
              <a:t>Yes</a:t>
            </a:r>
            <a:endParaRPr lang="en-US" sz="1000" dirty="0"/>
          </a:p>
        </p:txBody>
      </p:sp>
      <p:sp>
        <p:nvSpPr>
          <p:cNvPr id="35" name="Documento 34"/>
          <p:cNvSpPr/>
          <p:nvPr/>
        </p:nvSpPr>
        <p:spPr>
          <a:xfrm>
            <a:off x="3051024" y="3432726"/>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36" name="Conector angular 86"/>
          <p:cNvCxnSpPr>
            <a:stCxn id="33" idx="1"/>
            <a:endCxn id="59" idx="3"/>
          </p:cNvCxnSpPr>
          <p:nvPr/>
        </p:nvCxnSpPr>
        <p:spPr>
          <a:xfrm rot="10800000" flipV="1">
            <a:off x="1710888" y="4391110"/>
            <a:ext cx="1123741" cy="11219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CuadroTexto 87"/>
          <p:cNvSpPr txBox="1"/>
          <p:nvPr/>
        </p:nvSpPr>
        <p:spPr>
          <a:xfrm>
            <a:off x="2625108" y="4209559"/>
            <a:ext cx="335348" cy="246221"/>
          </a:xfrm>
          <a:prstGeom prst="rect">
            <a:avLst/>
          </a:prstGeom>
          <a:noFill/>
        </p:spPr>
        <p:txBody>
          <a:bodyPr wrap="none" rtlCol="0">
            <a:spAutoFit/>
          </a:bodyPr>
          <a:lstStyle/>
          <a:p>
            <a:r>
              <a:rPr lang="es-CL" sz="1000" dirty="0"/>
              <a:t>No</a:t>
            </a:r>
            <a:endParaRPr lang="en-US" sz="1000" dirty="0"/>
          </a:p>
        </p:txBody>
      </p:sp>
      <p:sp>
        <p:nvSpPr>
          <p:cNvPr id="38" name="Proceso 102"/>
          <p:cNvSpPr/>
          <p:nvPr/>
        </p:nvSpPr>
        <p:spPr>
          <a:xfrm>
            <a:off x="4775296" y="52249"/>
            <a:ext cx="2370087" cy="4833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err="1">
                <a:solidFill>
                  <a:schemeClr val="tx1"/>
                </a:solidFill>
              </a:rPr>
              <a:t>Meters</a:t>
            </a:r>
            <a:r>
              <a:rPr lang="es-CL" dirty="0">
                <a:solidFill>
                  <a:schemeClr val="tx1"/>
                </a:solidFill>
              </a:rPr>
              <a:t> Field</a:t>
            </a:r>
            <a:endParaRPr lang="en-US" dirty="0">
              <a:solidFill>
                <a:schemeClr val="tx1"/>
              </a:solidFill>
            </a:endParaRPr>
          </a:p>
        </p:txBody>
      </p:sp>
      <p:cxnSp>
        <p:nvCxnSpPr>
          <p:cNvPr id="39" name="Conector recto de flecha 106"/>
          <p:cNvCxnSpPr>
            <a:stCxn id="38" idx="2"/>
            <a:endCxn id="10" idx="0"/>
          </p:cNvCxnSpPr>
          <p:nvPr/>
        </p:nvCxnSpPr>
        <p:spPr>
          <a:xfrm>
            <a:off x="5960340" y="535577"/>
            <a:ext cx="9386" cy="27432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ángulo 107"/>
          <p:cNvSpPr/>
          <p:nvPr/>
        </p:nvSpPr>
        <p:spPr>
          <a:xfrm>
            <a:off x="5016135" y="1949623"/>
            <a:ext cx="2312126" cy="4702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err="1"/>
              <a:t>IntegradorCallServices</a:t>
            </a:r>
            <a:endParaRPr lang="en-US" sz="1600" dirty="0"/>
          </a:p>
        </p:txBody>
      </p:sp>
      <p:sp>
        <p:nvSpPr>
          <p:cNvPr id="41" name="Documento 40"/>
          <p:cNvSpPr/>
          <p:nvPr/>
        </p:nvSpPr>
        <p:spPr>
          <a:xfrm>
            <a:off x="5800584" y="2800454"/>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42" name="Conector angular 117"/>
          <p:cNvCxnSpPr/>
          <p:nvPr/>
        </p:nvCxnSpPr>
        <p:spPr>
          <a:xfrm rot="16200000" flipH="1">
            <a:off x="5522109" y="3660651"/>
            <a:ext cx="2659056" cy="16325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uadroTexto 120"/>
          <p:cNvSpPr txBox="1"/>
          <p:nvPr/>
        </p:nvSpPr>
        <p:spPr>
          <a:xfrm>
            <a:off x="4487110" y="2642416"/>
            <a:ext cx="1329210" cy="246221"/>
          </a:xfrm>
          <a:prstGeom prst="rect">
            <a:avLst/>
          </a:prstGeom>
          <a:noFill/>
        </p:spPr>
        <p:txBody>
          <a:bodyPr wrap="none" rtlCol="0">
            <a:spAutoFit/>
          </a:bodyPr>
          <a:lstStyle/>
          <a:p>
            <a:r>
              <a:rPr lang="es-CL" sz="1000" dirty="0" err="1"/>
              <a:t>Some</a:t>
            </a:r>
            <a:r>
              <a:rPr lang="es-CL" sz="1000" dirty="0"/>
              <a:t> </a:t>
            </a:r>
            <a:r>
              <a:rPr lang="es-CL" sz="1000" dirty="0" err="1"/>
              <a:t>Event</a:t>
            </a:r>
            <a:r>
              <a:rPr lang="es-CL" sz="1000" dirty="0"/>
              <a:t> Response</a:t>
            </a:r>
            <a:endParaRPr lang="es-CL" sz="1000" dirty="0"/>
          </a:p>
        </p:txBody>
      </p:sp>
      <p:sp>
        <p:nvSpPr>
          <p:cNvPr id="44" name="CuadroTexto 122"/>
          <p:cNvSpPr txBox="1"/>
          <p:nvPr/>
        </p:nvSpPr>
        <p:spPr>
          <a:xfrm>
            <a:off x="9013369" y="4640461"/>
            <a:ext cx="1218603" cy="246221"/>
          </a:xfrm>
          <a:prstGeom prst="rect">
            <a:avLst/>
          </a:prstGeom>
          <a:noFill/>
        </p:spPr>
        <p:txBody>
          <a:bodyPr wrap="none" rtlCol="0">
            <a:spAutoFit/>
          </a:bodyPr>
          <a:lstStyle/>
          <a:p>
            <a:r>
              <a:rPr lang="es-CL" sz="1000" dirty="0" err="1"/>
              <a:t>Integration</a:t>
            </a:r>
            <a:r>
              <a:rPr lang="es-CL" sz="1000" dirty="0"/>
              <a:t> </a:t>
            </a:r>
            <a:r>
              <a:rPr lang="es-CL" sz="1000" dirty="0" err="1"/>
              <a:t>Request</a:t>
            </a:r>
            <a:endParaRPr lang="es-CL" sz="1000" dirty="0"/>
          </a:p>
        </p:txBody>
      </p:sp>
      <p:sp>
        <p:nvSpPr>
          <p:cNvPr id="45" name="CuadroTexto 123"/>
          <p:cNvSpPr txBox="1"/>
          <p:nvPr/>
        </p:nvSpPr>
        <p:spPr>
          <a:xfrm>
            <a:off x="8294914" y="3653240"/>
            <a:ext cx="938077" cy="246221"/>
          </a:xfrm>
          <a:prstGeom prst="rect">
            <a:avLst/>
          </a:prstGeom>
          <a:noFill/>
        </p:spPr>
        <p:txBody>
          <a:bodyPr wrap="none" rtlCol="0">
            <a:spAutoFit/>
          </a:bodyPr>
          <a:lstStyle/>
          <a:p>
            <a:r>
              <a:rPr lang="es-CL" sz="1000" dirty="0" err="1"/>
              <a:t>First</a:t>
            </a:r>
            <a:r>
              <a:rPr lang="es-CL" sz="1000" dirty="0"/>
              <a:t> Response</a:t>
            </a:r>
            <a:endParaRPr lang="es-CL" sz="1000" dirty="0"/>
          </a:p>
        </p:txBody>
      </p:sp>
      <p:sp>
        <p:nvSpPr>
          <p:cNvPr id="46" name="CuadroTexto 124"/>
          <p:cNvSpPr txBox="1"/>
          <p:nvPr/>
        </p:nvSpPr>
        <p:spPr>
          <a:xfrm>
            <a:off x="8920560" y="2195340"/>
            <a:ext cx="1218603" cy="246221"/>
          </a:xfrm>
          <a:prstGeom prst="rect">
            <a:avLst/>
          </a:prstGeom>
          <a:noFill/>
        </p:spPr>
        <p:txBody>
          <a:bodyPr wrap="none" rtlCol="0">
            <a:spAutoFit/>
          </a:bodyPr>
          <a:lstStyle/>
          <a:p>
            <a:r>
              <a:rPr lang="es-CL" sz="1000" dirty="0" err="1"/>
              <a:t>Integration</a:t>
            </a:r>
            <a:r>
              <a:rPr lang="es-CL" sz="1000" dirty="0"/>
              <a:t> </a:t>
            </a:r>
            <a:r>
              <a:rPr lang="es-CL" sz="1000" dirty="0" err="1"/>
              <a:t>Request</a:t>
            </a:r>
            <a:endParaRPr lang="es-CL" sz="1000" dirty="0"/>
          </a:p>
        </p:txBody>
      </p:sp>
      <p:sp>
        <p:nvSpPr>
          <p:cNvPr id="47" name="CuadroTexto 125"/>
          <p:cNvSpPr txBox="1"/>
          <p:nvPr/>
        </p:nvSpPr>
        <p:spPr>
          <a:xfrm>
            <a:off x="8301446" y="1676185"/>
            <a:ext cx="938077" cy="246221"/>
          </a:xfrm>
          <a:prstGeom prst="rect">
            <a:avLst/>
          </a:prstGeom>
          <a:noFill/>
        </p:spPr>
        <p:txBody>
          <a:bodyPr wrap="none" rtlCol="0">
            <a:spAutoFit/>
          </a:bodyPr>
          <a:lstStyle/>
          <a:p>
            <a:r>
              <a:rPr lang="es-CL" sz="1000" dirty="0" err="1"/>
              <a:t>First</a:t>
            </a:r>
            <a:r>
              <a:rPr lang="es-CL" sz="1000" dirty="0"/>
              <a:t> Response</a:t>
            </a:r>
            <a:endParaRPr lang="es-CL" sz="1000" dirty="0"/>
          </a:p>
        </p:txBody>
      </p:sp>
      <p:cxnSp>
        <p:nvCxnSpPr>
          <p:cNvPr id="48" name="Conector recto de flecha 128"/>
          <p:cNvCxnSpPr/>
          <p:nvPr/>
        </p:nvCxnSpPr>
        <p:spPr>
          <a:xfrm>
            <a:off x="6035375" y="2414580"/>
            <a:ext cx="0" cy="311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Imagen 129"/>
          <p:cNvPicPr>
            <a:picLocks noChangeAspect="1"/>
          </p:cNvPicPr>
          <p:nvPr/>
        </p:nvPicPr>
        <p:blipFill>
          <a:blip r:embed="rId1"/>
          <a:stretch>
            <a:fillRect/>
          </a:stretch>
        </p:blipFill>
        <p:spPr>
          <a:xfrm>
            <a:off x="607975" y="2605614"/>
            <a:ext cx="397865" cy="430124"/>
          </a:xfrm>
          <a:prstGeom prst="rect">
            <a:avLst/>
          </a:prstGeom>
        </p:spPr>
      </p:pic>
      <p:cxnSp>
        <p:nvCxnSpPr>
          <p:cNvPr id="50" name="Conector recto de flecha 131"/>
          <p:cNvCxnSpPr>
            <a:stCxn id="49" idx="2"/>
          </p:cNvCxnSpPr>
          <p:nvPr/>
        </p:nvCxnSpPr>
        <p:spPr>
          <a:xfrm flipH="1">
            <a:off x="806907" y="3035738"/>
            <a:ext cx="1" cy="241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Imagen 133"/>
          <p:cNvPicPr>
            <a:picLocks noChangeAspect="1"/>
          </p:cNvPicPr>
          <p:nvPr/>
        </p:nvPicPr>
        <p:blipFill>
          <a:blip r:embed="rId1"/>
          <a:stretch>
            <a:fillRect/>
          </a:stretch>
        </p:blipFill>
        <p:spPr>
          <a:xfrm>
            <a:off x="7333089" y="1587604"/>
            <a:ext cx="397865" cy="430124"/>
          </a:xfrm>
          <a:prstGeom prst="rect">
            <a:avLst/>
          </a:prstGeom>
        </p:spPr>
      </p:pic>
      <p:cxnSp>
        <p:nvCxnSpPr>
          <p:cNvPr id="52" name="Conector angular 136"/>
          <p:cNvCxnSpPr>
            <a:stCxn id="51" idx="2"/>
            <a:endCxn id="40" idx="3"/>
          </p:cNvCxnSpPr>
          <p:nvPr/>
        </p:nvCxnSpPr>
        <p:spPr>
          <a:xfrm rot="5400000">
            <a:off x="7346631" y="1999359"/>
            <a:ext cx="167022" cy="2037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CuadroTexto 137"/>
          <p:cNvSpPr txBox="1"/>
          <p:nvPr/>
        </p:nvSpPr>
        <p:spPr>
          <a:xfrm>
            <a:off x="1430596" y="4910471"/>
            <a:ext cx="1217000" cy="246221"/>
          </a:xfrm>
          <a:prstGeom prst="rect">
            <a:avLst/>
          </a:prstGeom>
          <a:noFill/>
        </p:spPr>
        <p:txBody>
          <a:bodyPr wrap="none" rtlCol="0">
            <a:spAutoFit/>
          </a:bodyPr>
          <a:lstStyle/>
          <a:p>
            <a:r>
              <a:rPr lang="es-CL" sz="1000" dirty="0"/>
              <a:t>SQL </a:t>
            </a:r>
            <a:r>
              <a:rPr lang="es-CL" sz="1000" dirty="0" err="1"/>
              <a:t>Loader</a:t>
            </a:r>
            <a:r>
              <a:rPr lang="es-CL" sz="1000" dirty="0"/>
              <a:t> (Oracle)</a:t>
            </a:r>
            <a:endParaRPr lang="en-US" sz="1000" dirty="0"/>
          </a:p>
        </p:txBody>
      </p:sp>
      <p:sp>
        <p:nvSpPr>
          <p:cNvPr id="54" name="CuadroTexto 138"/>
          <p:cNvSpPr txBox="1"/>
          <p:nvPr/>
        </p:nvSpPr>
        <p:spPr>
          <a:xfrm>
            <a:off x="1419907" y="5111960"/>
            <a:ext cx="1168910" cy="246221"/>
          </a:xfrm>
          <a:prstGeom prst="rect">
            <a:avLst/>
          </a:prstGeom>
          <a:noFill/>
        </p:spPr>
        <p:txBody>
          <a:bodyPr wrap="none" rtlCol="0">
            <a:spAutoFit/>
          </a:bodyPr>
          <a:lstStyle/>
          <a:p>
            <a:r>
              <a:rPr lang="es-CL" sz="1000" dirty="0"/>
              <a:t>COPY (</a:t>
            </a:r>
            <a:r>
              <a:rPr lang="es-CL" sz="1000" dirty="0" err="1"/>
              <a:t>PostgreSQL</a:t>
            </a:r>
            <a:r>
              <a:rPr lang="es-CL" sz="1000" dirty="0"/>
              <a:t>)</a:t>
            </a:r>
            <a:endParaRPr lang="en-US" sz="1000" dirty="0"/>
          </a:p>
        </p:txBody>
      </p:sp>
      <p:pic>
        <p:nvPicPr>
          <p:cNvPr id="55"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sp>
        <p:nvSpPr>
          <p:cNvPr id="56" name="CuadroTexto 55"/>
          <p:cNvSpPr txBox="1"/>
          <p:nvPr/>
        </p:nvSpPr>
        <p:spPr>
          <a:xfrm>
            <a:off x="381404" y="1553074"/>
            <a:ext cx="184731" cy="246221"/>
          </a:xfrm>
          <a:prstGeom prst="rect">
            <a:avLst/>
          </a:prstGeom>
          <a:noFill/>
        </p:spPr>
        <p:txBody>
          <a:bodyPr wrap="none" rtlCol="0" anchor="t">
            <a:spAutoFit/>
          </a:bodyPr>
          <a:lstStyle/>
          <a:p>
            <a:endParaRPr lang="es-CL" sz="1000" dirty="0">
              <a:cs typeface="Calibri" panose="020F0502020204030204"/>
            </a:endParaRPr>
          </a:p>
        </p:txBody>
      </p:sp>
      <p:cxnSp>
        <p:nvCxnSpPr>
          <p:cNvPr id="57" name="Conector recto de flecha 4"/>
          <p:cNvCxnSpPr/>
          <p:nvPr/>
        </p:nvCxnSpPr>
        <p:spPr>
          <a:xfrm>
            <a:off x="4444912" y="2937613"/>
            <a:ext cx="134614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15"/>
          <p:cNvCxnSpPr>
            <a:endCxn id="35" idx="0"/>
          </p:cNvCxnSpPr>
          <p:nvPr/>
        </p:nvCxnSpPr>
        <p:spPr>
          <a:xfrm>
            <a:off x="3285815" y="3050179"/>
            <a:ext cx="1" cy="382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Documento 58"/>
          <p:cNvSpPr/>
          <p:nvPr/>
        </p:nvSpPr>
        <p:spPr>
          <a:xfrm>
            <a:off x="1241304" y="4366142"/>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60" name="Conector recto de flecha 24"/>
          <p:cNvCxnSpPr>
            <a:endCxn id="59" idx="0"/>
          </p:cNvCxnSpPr>
          <p:nvPr/>
        </p:nvCxnSpPr>
        <p:spPr>
          <a:xfrm>
            <a:off x="1476095" y="3776350"/>
            <a:ext cx="1" cy="589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32"/>
          <p:cNvCxnSpPr>
            <a:stCxn id="59" idx="2"/>
          </p:cNvCxnSpPr>
          <p:nvPr/>
        </p:nvCxnSpPr>
        <p:spPr>
          <a:xfrm rot="16200000" flipH="1">
            <a:off x="1888812" y="4209608"/>
            <a:ext cx="1592738" cy="241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Diagrama 80"/>
          <p:cNvGraphicFramePr/>
          <p:nvPr/>
        </p:nvGraphicFramePr>
        <p:xfrm>
          <a:off x="4361384" y="3739912"/>
          <a:ext cx="587374" cy="5566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3" name="Diagrama 83"/>
          <p:cNvGraphicFramePr/>
          <p:nvPr/>
        </p:nvGraphicFramePr>
        <p:xfrm>
          <a:off x="2498504" y="4873445"/>
          <a:ext cx="587374" cy="5566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4" name="Rettangolo arrotondato 2"/>
          <p:cNvSpPr/>
          <p:nvPr/>
        </p:nvSpPr>
        <p:spPr>
          <a:xfrm>
            <a:off x="6364448" y="2918019"/>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I3</a:t>
            </a:r>
            <a:endParaRPr lang="it-IT" dirty="0"/>
          </a:p>
        </p:txBody>
      </p:sp>
      <p:sp>
        <p:nvSpPr>
          <p:cNvPr id="65" name="Rettangolo arrotondato 2"/>
          <p:cNvSpPr/>
          <p:nvPr/>
        </p:nvSpPr>
        <p:spPr>
          <a:xfrm>
            <a:off x="8993019" y="1904994"/>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I4</a:t>
            </a:r>
            <a:endParaRPr lang="it-IT" dirty="0"/>
          </a:p>
        </p:txBody>
      </p:sp>
      <p:sp>
        <p:nvSpPr>
          <p:cNvPr id="66" name="Rettangolo arrotondato 2"/>
          <p:cNvSpPr/>
          <p:nvPr/>
        </p:nvSpPr>
        <p:spPr>
          <a:xfrm>
            <a:off x="2532584" y="3452039"/>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I2</a:t>
            </a:r>
            <a:endParaRPr lang="it-IT" dirty="0"/>
          </a:p>
        </p:txBody>
      </p:sp>
      <p:sp>
        <p:nvSpPr>
          <p:cNvPr id="67" name="Rettangolo arrotondato 2"/>
          <p:cNvSpPr/>
          <p:nvPr/>
        </p:nvSpPr>
        <p:spPr>
          <a:xfrm>
            <a:off x="942344" y="1832367"/>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I1</a:t>
            </a:r>
            <a:endParaRPr lang="it-IT" dirty="0"/>
          </a:p>
        </p:txBody>
      </p:sp>
      <p:sp>
        <p:nvSpPr>
          <p:cNvPr id="68" name="CuadroTexto 67"/>
          <p:cNvSpPr txBox="1"/>
          <p:nvPr/>
        </p:nvSpPr>
        <p:spPr>
          <a:xfrm>
            <a:off x="10515601" y="6015232"/>
            <a:ext cx="1262461" cy="369332"/>
          </a:xfrm>
          <a:prstGeom prst="rect">
            <a:avLst/>
          </a:prstGeom>
          <a:noFill/>
        </p:spPr>
        <p:txBody>
          <a:bodyPr wrap="none" rtlCol="0">
            <a:spAutoFit/>
          </a:bodyPr>
          <a:lstStyle/>
          <a:p>
            <a:r>
              <a:rPr lang="es-CL" dirty="0" smtClean="0"/>
              <a:t>Old </a:t>
            </a:r>
            <a:r>
              <a:rPr lang="es-CL" dirty="0" err="1" smtClean="0"/>
              <a:t>Version</a:t>
            </a:r>
            <a:endParaRPr lang="es-C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arrotondato 2"/>
          <p:cNvSpPr/>
          <p:nvPr/>
        </p:nvSpPr>
        <p:spPr>
          <a:xfrm>
            <a:off x="8986377" y="1070010"/>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4" name="Rettangolo arrotondato 3"/>
          <p:cNvSpPr/>
          <p:nvPr/>
        </p:nvSpPr>
        <p:spPr>
          <a:xfrm>
            <a:off x="3499351" y="102242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a:t>I6</a:t>
            </a:r>
            <a:endParaRPr lang="it-IT" dirty="0"/>
          </a:p>
        </p:txBody>
      </p:sp>
      <p:sp>
        <p:nvSpPr>
          <p:cNvPr id="5" name="Nube 3"/>
          <p:cNvSpPr/>
          <p:nvPr/>
        </p:nvSpPr>
        <p:spPr>
          <a:xfrm>
            <a:off x="1763490" y="52249"/>
            <a:ext cx="2690948" cy="103196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Cloud </a:t>
            </a:r>
            <a:r>
              <a:rPr lang="es-CL" dirty="0" smtClean="0"/>
              <a:t>Queue</a:t>
            </a:r>
            <a:endParaRPr lang="es-CL" dirty="0">
              <a:cs typeface="Calibri" panose="020F0502020204030204"/>
            </a:endParaRPr>
          </a:p>
        </p:txBody>
      </p:sp>
      <p:sp>
        <p:nvSpPr>
          <p:cNvPr id="6" name="Rectángulo redondeado 6"/>
          <p:cNvSpPr/>
          <p:nvPr/>
        </p:nvSpPr>
        <p:spPr>
          <a:xfrm>
            <a:off x="7667898" y="143690"/>
            <a:ext cx="3148149" cy="8621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Integration </a:t>
            </a:r>
            <a:r>
              <a:rPr lang="es-CL" dirty="0"/>
              <a:t>Services</a:t>
            </a:r>
            <a:endParaRPr lang="en-US" dirty="0"/>
          </a:p>
        </p:txBody>
      </p:sp>
      <p:sp>
        <p:nvSpPr>
          <p:cNvPr id="7" name="Rectángulo redondeado 7"/>
          <p:cNvSpPr/>
          <p:nvPr/>
        </p:nvSpPr>
        <p:spPr>
          <a:xfrm>
            <a:off x="6897189" y="5839098"/>
            <a:ext cx="2847703" cy="8882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Enel Distibutor Legacy Systems</a:t>
            </a:r>
            <a:endParaRPr lang="en-US" dirty="0"/>
          </a:p>
        </p:txBody>
      </p:sp>
      <p:sp>
        <p:nvSpPr>
          <p:cNvPr id="8" name="Cilindro 7"/>
          <p:cNvSpPr/>
          <p:nvPr/>
        </p:nvSpPr>
        <p:spPr>
          <a:xfrm>
            <a:off x="3971110" y="5865224"/>
            <a:ext cx="2351314" cy="8882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Legacy Integration</a:t>
            </a:r>
            <a:endParaRPr lang="es-CL" dirty="0"/>
          </a:p>
          <a:p>
            <a:pPr algn="ctr"/>
            <a:r>
              <a:rPr lang="es-CL" dirty="0"/>
              <a:t>Database</a:t>
            </a:r>
            <a:endParaRPr lang="en-US" dirty="0"/>
          </a:p>
        </p:txBody>
      </p:sp>
      <p:sp>
        <p:nvSpPr>
          <p:cNvPr id="9" name="Rectángulo 9"/>
          <p:cNvSpPr/>
          <p:nvPr/>
        </p:nvSpPr>
        <p:spPr>
          <a:xfrm>
            <a:off x="404949" y="1567543"/>
            <a:ext cx="11521440" cy="401029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11"/>
          <p:cNvSpPr/>
          <p:nvPr/>
        </p:nvSpPr>
        <p:spPr>
          <a:xfrm>
            <a:off x="5225143" y="809900"/>
            <a:ext cx="1489165" cy="561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AMI</a:t>
            </a:r>
            <a:endParaRPr lang="es-CL" dirty="0" smtClean="0"/>
          </a:p>
          <a:p>
            <a:pPr algn="ctr"/>
            <a:r>
              <a:rPr lang="es-CL" dirty="0" smtClean="0"/>
              <a:t>System</a:t>
            </a:r>
            <a:endParaRPr lang="en-US" dirty="0"/>
          </a:p>
        </p:txBody>
      </p:sp>
      <p:cxnSp>
        <p:nvCxnSpPr>
          <p:cNvPr id="11" name="Conector recto de flecha 19"/>
          <p:cNvCxnSpPr/>
          <p:nvPr/>
        </p:nvCxnSpPr>
        <p:spPr>
          <a:xfrm flipH="1" flipV="1">
            <a:off x="4415241" y="809900"/>
            <a:ext cx="692337" cy="287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23"/>
          <p:cNvCxnSpPr/>
          <p:nvPr/>
        </p:nvCxnSpPr>
        <p:spPr>
          <a:xfrm flipH="1">
            <a:off x="6910251" y="705394"/>
            <a:ext cx="627018" cy="235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25"/>
          <p:cNvCxnSpPr/>
          <p:nvPr/>
        </p:nvCxnSpPr>
        <p:spPr>
          <a:xfrm flipV="1">
            <a:off x="6910251" y="940531"/>
            <a:ext cx="757647" cy="300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CuadroTexto 26"/>
          <p:cNvSpPr txBox="1"/>
          <p:nvPr/>
        </p:nvSpPr>
        <p:spPr>
          <a:xfrm>
            <a:off x="300445" y="1267095"/>
            <a:ext cx="3131755" cy="369332"/>
          </a:xfrm>
          <a:prstGeom prst="rect">
            <a:avLst/>
          </a:prstGeom>
          <a:noFill/>
        </p:spPr>
        <p:txBody>
          <a:bodyPr wrap="none" rtlCol="0">
            <a:spAutoFit/>
          </a:bodyPr>
          <a:lstStyle/>
          <a:p>
            <a:r>
              <a:rPr lang="es-CL" dirty="0" err="1"/>
              <a:t>SMMePlus</a:t>
            </a:r>
            <a:r>
              <a:rPr lang="es-CL" dirty="0"/>
              <a:t> Integration Platform</a:t>
            </a:r>
            <a:endParaRPr lang="en-US" dirty="0"/>
          </a:p>
        </p:txBody>
      </p:sp>
      <p:sp>
        <p:nvSpPr>
          <p:cNvPr id="15" name="Rectángulo 27"/>
          <p:cNvSpPr/>
          <p:nvPr/>
        </p:nvSpPr>
        <p:spPr>
          <a:xfrm>
            <a:off x="1606731" y="2348177"/>
            <a:ext cx="2808510"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IntegradorEH</a:t>
            </a:r>
            <a:endParaRPr lang="es-CL" sz="1600" dirty="0"/>
          </a:p>
          <a:p>
            <a:pPr algn="ctr"/>
            <a:r>
              <a:rPr lang="es-CL" sz="1600" dirty="0"/>
              <a:t>(Connect to Queue and Download)</a:t>
            </a:r>
            <a:endParaRPr lang="en-US" sz="1600" dirty="0"/>
          </a:p>
        </p:txBody>
      </p:sp>
      <p:cxnSp>
        <p:nvCxnSpPr>
          <p:cNvPr id="16" name="Conector recto de flecha 31"/>
          <p:cNvCxnSpPr/>
          <p:nvPr/>
        </p:nvCxnSpPr>
        <p:spPr>
          <a:xfrm>
            <a:off x="2792191" y="822955"/>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39"/>
          <p:cNvCxnSpPr/>
          <p:nvPr/>
        </p:nvCxnSpPr>
        <p:spPr>
          <a:xfrm>
            <a:off x="4089223" y="832201"/>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40"/>
          <p:cNvCxnSpPr/>
          <p:nvPr/>
        </p:nvCxnSpPr>
        <p:spPr>
          <a:xfrm>
            <a:off x="3452955" y="827306"/>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41"/>
          <p:cNvCxnSpPr/>
          <p:nvPr/>
        </p:nvCxnSpPr>
        <p:spPr>
          <a:xfrm>
            <a:off x="2033455" y="818600"/>
            <a:ext cx="0" cy="147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CuadroTexto 42"/>
          <p:cNvSpPr txBox="1"/>
          <p:nvPr/>
        </p:nvSpPr>
        <p:spPr>
          <a:xfrm>
            <a:off x="1425481" y="2013101"/>
            <a:ext cx="652743" cy="246221"/>
          </a:xfrm>
          <a:prstGeom prst="rect">
            <a:avLst/>
          </a:prstGeom>
          <a:noFill/>
        </p:spPr>
        <p:txBody>
          <a:bodyPr wrap="none" rtlCol="0">
            <a:spAutoFit/>
          </a:bodyPr>
          <a:lstStyle/>
          <a:p>
            <a:r>
              <a:rPr lang="es-CL" sz="1000" dirty="0"/>
              <a:t>Readings</a:t>
            </a:r>
            <a:endParaRPr lang="en-US" sz="1000" dirty="0"/>
          </a:p>
        </p:txBody>
      </p:sp>
      <p:sp>
        <p:nvSpPr>
          <p:cNvPr id="21" name="CuadroTexto 43"/>
          <p:cNvSpPr txBox="1"/>
          <p:nvPr/>
        </p:nvSpPr>
        <p:spPr>
          <a:xfrm>
            <a:off x="2853950" y="2020628"/>
            <a:ext cx="678391" cy="246221"/>
          </a:xfrm>
          <a:prstGeom prst="rect">
            <a:avLst/>
          </a:prstGeom>
          <a:noFill/>
        </p:spPr>
        <p:txBody>
          <a:bodyPr wrap="none" rtlCol="0">
            <a:spAutoFit/>
          </a:bodyPr>
          <a:lstStyle/>
          <a:p>
            <a:r>
              <a:rPr lang="es-CL" sz="1000" dirty="0"/>
              <a:t>Events LP</a:t>
            </a:r>
            <a:endParaRPr lang="en-US" sz="1000" dirty="0"/>
          </a:p>
        </p:txBody>
      </p:sp>
      <p:sp>
        <p:nvSpPr>
          <p:cNvPr id="22" name="CuadroTexto 44"/>
          <p:cNvSpPr txBox="1"/>
          <p:nvPr/>
        </p:nvSpPr>
        <p:spPr>
          <a:xfrm>
            <a:off x="3466413" y="1841854"/>
            <a:ext cx="704039" cy="246221"/>
          </a:xfrm>
          <a:prstGeom prst="rect">
            <a:avLst/>
          </a:prstGeom>
          <a:noFill/>
        </p:spPr>
        <p:txBody>
          <a:bodyPr wrap="none" rtlCol="0">
            <a:spAutoFit/>
          </a:bodyPr>
          <a:lstStyle/>
          <a:p>
            <a:r>
              <a:rPr lang="es-CL" sz="1000" dirty="0"/>
              <a:t>Events HP</a:t>
            </a:r>
            <a:endParaRPr lang="en-US" sz="1000" dirty="0"/>
          </a:p>
        </p:txBody>
      </p:sp>
      <p:sp>
        <p:nvSpPr>
          <p:cNvPr id="23" name="CuadroTexto 45"/>
          <p:cNvSpPr txBox="1"/>
          <p:nvPr/>
        </p:nvSpPr>
        <p:spPr>
          <a:xfrm>
            <a:off x="2075748" y="1836317"/>
            <a:ext cx="801823" cy="246221"/>
          </a:xfrm>
          <a:prstGeom prst="rect">
            <a:avLst/>
          </a:prstGeom>
          <a:noFill/>
        </p:spPr>
        <p:txBody>
          <a:bodyPr wrap="none" rtlCol="0">
            <a:spAutoFit/>
          </a:bodyPr>
          <a:lstStyle/>
          <a:p>
            <a:r>
              <a:rPr lang="es-CL" sz="1000" dirty="0"/>
              <a:t>Load Profile</a:t>
            </a:r>
            <a:endParaRPr lang="en-US" sz="1000" dirty="0"/>
          </a:p>
        </p:txBody>
      </p:sp>
      <p:cxnSp>
        <p:nvCxnSpPr>
          <p:cNvPr id="24" name="Conector angular 47"/>
          <p:cNvCxnSpPr/>
          <p:nvPr/>
        </p:nvCxnSpPr>
        <p:spPr>
          <a:xfrm rot="16200000" flipH="1">
            <a:off x="2685537" y="4331454"/>
            <a:ext cx="2132048" cy="8832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ángulo 48"/>
          <p:cNvSpPr/>
          <p:nvPr/>
        </p:nvSpPr>
        <p:spPr>
          <a:xfrm>
            <a:off x="7963985" y="2704013"/>
            <a:ext cx="2577739" cy="692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GatewaySMMCxWS</a:t>
            </a:r>
            <a:endParaRPr lang="es-CL" sz="1600" dirty="0"/>
          </a:p>
          <a:p>
            <a:pPr algn="ctr"/>
            <a:r>
              <a:rPr lang="es-CL" sz="1600" dirty="0"/>
              <a:t>(WebService Solicitudes)</a:t>
            </a:r>
            <a:endParaRPr lang="en-US" sz="1600" dirty="0"/>
          </a:p>
        </p:txBody>
      </p:sp>
      <p:cxnSp>
        <p:nvCxnSpPr>
          <p:cNvPr id="26" name="Conector angular 50"/>
          <p:cNvCxnSpPr/>
          <p:nvPr/>
        </p:nvCxnSpPr>
        <p:spPr>
          <a:xfrm rot="5400000" flipH="1" flipV="1">
            <a:off x="8236131" y="3977641"/>
            <a:ext cx="2299065" cy="14238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ector recto de flecha 58"/>
          <p:cNvCxnSpPr/>
          <p:nvPr/>
        </p:nvCxnSpPr>
        <p:spPr>
          <a:xfrm flipV="1">
            <a:off x="10045336"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62"/>
          <p:cNvCxnSpPr/>
          <p:nvPr/>
        </p:nvCxnSpPr>
        <p:spPr>
          <a:xfrm>
            <a:off x="8334103" y="1267095"/>
            <a:ext cx="0" cy="12975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r 73"/>
          <p:cNvCxnSpPr/>
          <p:nvPr/>
        </p:nvCxnSpPr>
        <p:spPr>
          <a:xfrm rot="5400000">
            <a:off x="6090557" y="3608614"/>
            <a:ext cx="2266407" cy="2194561"/>
          </a:xfrm>
          <a:prstGeom prst="bentConnector3">
            <a:avLst>
              <a:gd name="adj1" fmla="val 62104"/>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uadroTexto 74"/>
          <p:cNvSpPr txBox="1"/>
          <p:nvPr/>
        </p:nvSpPr>
        <p:spPr>
          <a:xfrm>
            <a:off x="3314168" y="3749908"/>
            <a:ext cx="1217000" cy="246221"/>
          </a:xfrm>
          <a:prstGeom prst="rect">
            <a:avLst/>
          </a:prstGeom>
          <a:noFill/>
        </p:spPr>
        <p:txBody>
          <a:bodyPr wrap="none" rtlCol="0">
            <a:spAutoFit/>
          </a:bodyPr>
          <a:lstStyle/>
          <a:p>
            <a:r>
              <a:rPr lang="es-CL" sz="1000" dirty="0"/>
              <a:t>SQL Loader (Oracle)</a:t>
            </a:r>
            <a:endParaRPr lang="en-US" sz="1000" dirty="0"/>
          </a:p>
        </p:txBody>
      </p:sp>
      <p:sp>
        <p:nvSpPr>
          <p:cNvPr id="31" name="CuadroTexto 75"/>
          <p:cNvSpPr txBox="1"/>
          <p:nvPr/>
        </p:nvSpPr>
        <p:spPr>
          <a:xfrm>
            <a:off x="3309812" y="3954563"/>
            <a:ext cx="1168910" cy="246221"/>
          </a:xfrm>
          <a:prstGeom prst="rect">
            <a:avLst/>
          </a:prstGeom>
          <a:noFill/>
        </p:spPr>
        <p:txBody>
          <a:bodyPr wrap="none" rtlCol="0">
            <a:spAutoFit/>
          </a:bodyPr>
          <a:lstStyle/>
          <a:p>
            <a:r>
              <a:rPr lang="es-CL" sz="1000" dirty="0"/>
              <a:t>COPY (PostgreSQL)</a:t>
            </a:r>
            <a:endParaRPr lang="en-US" sz="1000" dirty="0"/>
          </a:p>
        </p:txBody>
      </p:sp>
      <p:sp>
        <p:nvSpPr>
          <p:cNvPr id="32" name="Rectángulo 76"/>
          <p:cNvSpPr/>
          <p:nvPr/>
        </p:nvSpPr>
        <p:spPr>
          <a:xfrm>
            <a:off x="470262" y="3334959"/>
            <a:ext cx="2011669" cy="404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IntegradorReinyecta</a:t>
            </a:r>
            <a:endParaRPr lang="en-US" sz="1600" dirty="0"/>
          </a:p>
        </p:txBody>
      </p:sp>
      <p:sp>
        <p:nvSpPr>
          <p:cNvPr id="33" name="Decisión 79"/>
          <p:cNvSpPr/>
          <p:nvPr/>
        </p:nvSpPr>
        <p:spPr>
          <a:xfrm>
            <a:off x="2834628" y="4193488"/>
            <a:ext cx="966673" cy="395243"/>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OK</a:t>
            </a:r>
            <a:endParaRPr lang="en-US" sz="1600" dirty="0"/>
          </a:p>
        </p:txBody>
      </p:sp>
      <p:sp>
        <p:nvSpPr>
          <p:cNvPr id="34" name="CuadroTexto 81"/>
          <p:cNvSpPr txBox="1"/>
          <p:nvPr/>
        </p:nvSpPr>
        <p:spPr>
          <a:xfrm>
            <a:off x="3258654" y="4569203"/>
            <a:ext cx="360996" cy="246221"/>
          </a:xfrm>
          <a:prstGeom prst="rect">
            <a:avLst/>
          </a:prstGeom>
          <a:noFill/>
        </p:spPr>
        <p:txBody>
          <a:bodyPr wrap="none" rtlCol="0">
            <a:spAutoFit/>
          </a:bodyPr>
          <a:lstStyle/>
          <a:p>
            <a:r>
              <a:rPr lang="es-CL" sz="1000" dirty="0"/>
              <a:t>Yes</a:t>
            </a:r>
            <a:endParaRPr lang="en-US" sz="1000" dirty="0"/>
          </a:p>
        </p:txBody>
      </p:sp>
      <p:sp>
        <p:nvSpPr>
          <p:cNvPr id="35" name="Documento 34"/>
          <p:cNvSpPr/>
          <p:nvPr/>
        </p:nvSpPr>
        <p:spPr>
          <a:xfrm>
            <a:off x="3051024" y="3432726"/>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36" name="Conector angular 86"/>
          <p:cNvCxnSpPr>
            <a:stCxn id="33" idx="1"/>
            <a:endCxn id="59" idx="3"/>
          </p:cNvCxnSpPr>
          <p:nvPr/>
        </p:nvCxnSpPr>
        <p:spPr>
          <a:xfrm rot="10800000" flipV="1">
            <a:off x="1710888" y="4391110"/>
            <a:ext cx="1123741" cy="11219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CuadroTexto 87"/>
          <p:cNvSpPr txBox="1"/>
          <p:nvPr/>
        </p:nvSpPr>
        <p:spPr>
          <a:xfrm>
            <a:off x="2625108" y="4209559"/>
            <a:ext cx="335348" cy="246221"/>
          </a:xfrm>
          <a:prstGeom prst="rect">
            <a:avLst/>
          </a:prstGeom>
          <a:noFill/>
        </p:spPr>
        <p:txBody>
          <a:bodyPr wrap="none" rtlCol="0">
            <a:spAutoFit/>
          </a:bodyPr>
          <a:lstStyle/>
          <a:p>
            <a:r>
              <a:rPr lang="es-CL" sz="1000" dirty="0"/>
              <a:t>No</a:t>
            </a:r>
            <a:endParaRPr lang="en-US" sz="1000" dirty="0"/>
          </a:p>
        </p:txBody>
      </p:sp>
      <p:sp>
        <p:nvSpPr>
          <p:cNvPr id="38" name="Proceso 102"/>
          <p:cNvSpPr/>
          <p:nvPr/>
        </p:nvSpPr>
        <p:spPr>
          <a:xfrm>
            <a:off x="4775296" y="52249"/>
            <a:ext cx="2370087" cy="483328"/>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Meters Field</a:t>
            </a:r>
            <a:endParaRPr lang="en-US" dirty="0">
              <a:solidFill>
                <a:schemeClr val="tx1"/>
              </a:solidFill>
            </a:endParaRPr>
          </a:p>
        </p:txBody>
      </p:sp>
      <p:cxnSp>
        <p:nvCxnSpPr>
          <p:cNvPr id="39" name="Conector recto de flecha 106"/>
          <p:cNvCxnSpPr>
            <a:stCxn id="38" idx="2"/>
            <a:endCxn id="10" idx="0"/>
          </p:cNvCxnSpPr>
          <p:nvPr/>
        </p:nvCxnSpPr>
        <p:spPr>
          <a:xfrm>
            <a:off x="5960340" y="535577"/>
            <a:ext cx="9386" cy="27432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Rectángulo 107"/>
          <p:cNvSpPr/>
          <p:nvPr/>
        </p:nvSpPr>
        <p:spPr>
          <a:xfrm>
            <a:off x="5016135" y="1949623"/>
            <a:ext cx="2312126" cy="4702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600" dirty="0"/>
              <a:t>IntegradorCallServices</a:t>
            </a:r>
            <a:endParaRPr lang="en-US" sz="1600" dirty="0"/>
          </a:p>
        </p:txBody>
      </p:sp>
      <p:sp>
        <p:nvSpPr>
          <p:cNvPr id="41" name="Documento 40"/>
          <p:cNvSpPr/>
          <p:nvPr/>
        </p:nvSpPr>
        <p:spPr>
          <a:xfrm>
            <a:off x="5800584" y="2800454"/>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42" name="Conector angular 117"/>
          <p:cNvCxnSpPr/>
          <p:nvPr/>
        </p:nvCxnSpPr>
        <p:spPr>
          <a:xfrm rot="16200000" flipH="1">
            <a:off x="5522109" y="3660651"/>
            <a:ext cx="2659056" cy="16325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uadroTexto 120"/>
          <p:cNvSpPr txBox="1"/>
          <p:nvPr/>
        </p:nvSpPr>
        <p:spPr>
          <a:xfrm>
            <a:off x="4487110" y="2642416"/>
            <a:ext cx="1329210" cy="246221"/>
          </a:xfrm>
          <a:prstGeom prst="rect">
            <a:avLst/>
          </a:prstGeom>
          <a:noFill/>
        </p:spPr>
        <p:txBody>
          <a:bodyPr wrap="none" rtlCol="0">
            <a:spAutoFit/>
          </a:bodyPr>
          <a:lstStyle/>
          <a:p>
            <a:r>
              <a:rPr lang="es-CL" sz="1000" dirty="0"/>
              <a:t>Some </a:t>
            </a:r>
            <a:r>
              <a:rPr lang="es-CL" sz="1000" dirty="0" err="1"/>
              <a:t>Event</a:t>
            </a:r>
            <a:r>
              <a:rPr lang="es-CL" sz="1000" dirty="0"/>
              <a:t> Response</a:t>
            </a:r>
            <a:endParaRPr lang="es-CL" sz="1000" dirty="0"/>
          </a:p>
        </p:txBody>
      </p:sp>
      <p:sp>
        <p:nvSpPr>
          <p:cNvPr id="44" name="CuadroTexto 122"/>
          <p:cNvSpPr txBox="1"/>
          <p:nvPr/>
        </p:nvSpPr>
        <p:spPr>
          <a:xfrm>
            <a:off x="9013369" y="4640461"/>
            <a:ext cx="1218603" cy="246221"/>
          </a:xfrm>
          <a:prstGeom prst="rect">
            <a:avLst/>
          </a:prstGeom>
          <a:noFill/>
        </p:spPr>
        <p:txBody>
          <a:bodyPr wrap="none" rtlCol="0">
            <a:spAutoFit/>
          </a:bodyPr>
          <a:lstStyle/>
          <a:p>
            <a:r>
              <a:rPr lang="es-CL" sz="1000" dirty="0"/>
              <a:t>Integration Request</a:t>
            </a:r>
            <a:endParaRPr lang="es-CL" sz="1000" dirty="0"/>
          </a:p>
        </p:txBody>
      </p:sp>
      <p:sp>
        <p:nvSpPr>
          <p:cNvPr id="45" name="CuadroTexto 123"/>
          <p:cNvSpPr txBox="1"/>
          <p:nvPr/>
        </p:nvSpPr>
        <p:spPr>
          <a:xfrm>
            <a:off x="8294914" y="3653240"/>
            <a:ext cx="938077" cy="246221"/>
          </a:xfrm>
          <a:prstGeom prst="rect">
            <a:avLst/>
          </a:prstGeom>
          <a:noFill/>
        </p:spPr>
        <p:txBody>
          <a:bodyPr wrap="none" rtlCol="0">
            <a:spAutoFit/>
          </a:bodyPr>
          <a:lstStyle/>
          <a:p>
            <a:r>
              <a:rPr lang="es-CL" sz="1000" dirty="0"/>
              <a:t>First Response</a:t>
            </a:r>
            <a:endParaRPr lang="es-CL" sz="1000" dirty="0"/>
          </a:p>
        </p:txBody>
      </p:sp>
      <p:sp>
        <p:nvSpPr>
          <p:cNvPr id="46" name="CuadroTexto 124"/>
          <p:cNvSpPr txBox="1"/>
          <p:nvPr/>
        </p:nvSpPr>
        <p:spPr>
          <a:xfrm>
            <a:off x="8920560" y="2195340"/>
            <a:ext cx="1218603" cy="246221"/>
          </a:xfrm>
          <a:prstGeom prst="rect">
            <a:avLst/>
          </a:prstGeom>
          <a:noFill/>
        </p:spPr>
        <p:txBody>
          <a:bodyPr wrap="none" rtlCol="0">
            <a:spAutoFit/>
          </a:bodyPr>
          <a:lstStyle/>
          <a:p>
            <a:r>
              <a:rPr lang="es-CL" sz="1000" dirty="0"/>
              <a:t>Integration Request</a:t>
            </a:r>
            <a:endParaRPr lang="es-CL" sz="1000" dirty="0"/>
          </a:p>
        </p:txBody>
      </p:sp>
      <p:sp>
        <p:nvSpPr>
          <p:cNvPr id="47" name="CuadroTexto 125"/>
          <p:cNvSpPr txBox="1"/>
          <p:nvPr/>
        </p:nvSpPr>
        <p:spPr>
          <a:xfrm>
            <a:off x="8301446" y="1676185"/>
            <a:ext cx="938077" cy="246221"/>
          </a:xfrm>
          <a:prstGeom prst="rect">
            <a:avLst/>
          </a:prstGeom>
          <a:noFill/>
        </p:spPr>
        <p:txBody>
          <a:bodyPr wrap="none" rtlCol="0">
            <a:spAutoFit/>
          </a:bodyPr>
          <a:lstStyle/>
          <a:p>
            <a:r>
              <a:rPr lang="es-CL" sz="1000" dirty="0"/>
              <a:t>First Response</a:t>
            </a:r>
            <a:endParaRPr lang="es-CL" sz="1000" dirty="0"/>
          </a:p>
        </p:txBody>
      </p:sp>
      <p:cxnSp>
        <p:nvCxnSpPr>
          <p:cNvPr id="48" name="Conector recto de flecha 128"/>
          <p:cNvCxnSpPr/>
          <p:nvPr/>
        </p:nvCxnSpPr>
        <p:spPr>
          <a:xfrm>
            <a:off x="6035375" y="2414580"/>
            <a:ext cx="0" cy="311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Imagen 129"/>
          <p:cNvPicPr>
            <a:picLocks noChangeAspect="1"/>
          </p:cNvPicPr>
          <p:nvPr/>
        </p:nvPicPr>
        <p:blipFill>
          <a:blip r:embed="rId1"/>
          <a:stretch>
            <a:fillRect/>
          </a:stretch>
        </p:blipFill>
        <p:spPr>
          <a:xfrm>
            <a:off x="607975" y="2605614"/>
            <a:ext cx="397865" cy="430124"/>
          </a:xfrm>
          <a:prstGeom prst="rect">
            <a:avLst/>
          </a:prstGeom>
        </p:spPr>
      </p:pic>
      <p:cxnSp>
        <p:nvCxnSpPr>
          <p:cNvPr id="50" name="Conector recto de flecha 131"/>
          <p:cNvCxnSpPr>
            <a:stCxn id="49" idx="2"/>
          </p:cNvCxnSpPr>
          <p:nvPr/>
        </p:nvCxnSpPr>
        <p:spPr>
          <a:xfrm flipH="1">
            <a:off x="806907" y="3035738"/>
            <a:ext cx="1" cy="241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Imagen 133"/>
          <p:cNvPicPr>
            <a:picLocks noChangeAspect="1"/>
          </p:cNvPicPr>
          <p:nvPr/>
        </p:nvPicPr>
        <p:blipFill>
          <a:blip r:embed="rId1"/>
          <a:stretch>
            <a:fillRect/>
          </a:stretch>
        </p:blipFill>
        <p:spPr>
          <a:xfrm>
            <a:off x="7333089" y="1587604"/>
            <a:ext cx="397865" cy="430124"/>
          </a:xfrm>
          <a:prstGeom prst="rect">
            <a:avLst/>
          </a:prstGeom>
        </p:spPr>
      </p:pic>
      <p:cxnSp>
        <p:nvCxnSpPr>
          <p:cNvPr id="52" name="Conector angular 136"/>
          <p:cNvCxnSpPr>
            <a:stCxn id="51" idx="2"/>
            <a:endCxn id="40" idx="3"/>
          </p:cNvCxnSpPr>
          <p:nvPr/>
        </p:nvCxnSpPr>
        <p:spPr>
          <a:xfrm rot="5400000">
            <a:off x="7346631" y="1999359"/>
            <a:ext cx="167022" cy="2037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CuadroTexto 137"/>
          <p:cNvSpPr txBox="1"/>
          <p:nvPr/>
        </p:nvSpPr>
        <p:spPr>
          <a:xfrm>
            <a:off x="1430596" y="4910471"/>
            <a:ext cx="1217000" cy="246221"/>
          </a:xfrm>
          <a:prstGeom prst="rect">
            <a:avLst/>
          </a:prstGeom>
          <a:noFill/>
        </p:spPr>
        <p:txBody>
          <a:bodyPr wrap="none" rtlCol="0">
            <a:spAutoFit/>
          </a:bodyPr>
          <a:lstStyle/>
          <a:p>
            <a:r>
              <a:rPr lang="es-CL" sz="1000" dirty="0"/>
              <a:t>SQL Loader (Oracle)</a:t>
            </a:r>
            <a:endParaRPr lang="en-US" sz="1000" dirty="0"/>
          </a:p>
        </p:txBody>
      </p:sp>
      <p:sp>
        <p:nvSpPr>
          <p:cNvPr id="54" name="CuadroTexto 138"/>
          <p:cNvSpPr txBox="1"/>
          <p:nvPr/>
        </p:nvSpPr>
        <p:spPr>
          <a:xfrm>
            <a:off x="1419907" y="5111960"/>
            <a:ext cx="1168910" cy="246221"/>
          </a:xfrm>
          <a:prstGeom prst="rect">
            <a:avLst/>
          </a:prstGeom>
          <a:noFill/>
        </p:spPr>
        <p:txBody>
          <a:bodyPr wrap="none" rtlCol="0">
            <a:spAutoFit/>
          </a:bodyPr>
          <a:lstStyle/>
          <a:p>
            <a:r>
              <a:rPr lang="es-CL" sz="1000" dirty="0"/>
              <a:t>COPY (PostgreSQL)</a:t>
            </a:r>
            <a:endParaRPr lang="en-US" sz="1000" dirty="0"/>
          </a:p>
        </p:txBody>
      </p:sp>
      <p:pic>
        <p:nvPicPr>
          <p:cNvPr id="55"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765" y="60868"/>
            <a:ext cx="1283970" cy="466090"/>
          </a:xfrm>
          <a:prstGeom prst="rect">
            <a:avLst/>
          </a:prstGeom>
          <a:noFill/>
          <a:ln>
            <a:noFill/>
          </a:ln>
        </p:spPr>
      </p:pic>
      <p:sp>
        <p:nvSpPr>
          <p:cNvPr id="56" name="CuadroTexto 55"/>
          <p:cNvSpPr txBox="1"/>
          <p:nvPr/>
        </p:nvSpPr>
        <p:spPr>
          <a:xfrm>
            <a:off x="381404" y="1553074"/>
            <a:ext cx="184731" cy="246221"/>
          </a:xfrm>
          <a:prstGeom prst="rect">
            <a:avLst/>
          </a:prstGeom>
          <a:noFill/>
        </p:spPr>
        <p:txBody>
          <a:bodyPr wrap="none" rtlCol="0" anchor="t">
            <a:spAutoFit/>
          </a:bodyPr>
          <a:lstStyle/>
          <a:p>
            <a:endParaRPr lang="es-CL" sz="1000" dirty="0">
              <a:cs typeface="Calibri" panose="020F0502020204030204"/>
            </a:endParaRPr>
          </a:p>
        </p:txBody>
      </p:sp>
      <p:cxnSp>
        <p:nvCxnSpPr>
          <p:cNvPr id="57" name="Conector recto de flecha 4"/>
          <p:cNvCxnSpPr/>
          <p:nvPr/>
        </p:nvCxnSpPr>
        <p:spPr>
          <a:xfrm>
            <a:off x="4444912" y="2937613"/>
            <a:ext cx="134614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15"/>
          <p:cNvCxnSpPr>
            <a:endCxn id="35" idx="0"/>
          </p:cNvCxnSpPr>
          <p:nvPr/>
        </p:nvCxnSpPr>
        <p:spPr>
          <a:xfrm>
            <a:off x="3285815" y="3050179"/>
            <a:ext cx="1" cy="382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Documento 58"/>
          <p:cNvSpPr/>
          <p:nvPr/>
        </p:nvSpPr>
        <p:spPr>
          <a:xfrm>
            <a:off x="1241304" y="4366142"/>
            <a:ext cx="469583" cy="274319"/>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200" dirty="0"/>
              <a:t>File</a:t>
            </a:r>
            <a:endParaRPr lang="en-US" sz="1200" dirty="0"/>
          </a:p>
        </p:txBody>
      </p:sp>
      <p:cxnSp>
        <p:nvCxnSpPr>
          <p:cNvPr id="60" name="Conector recto de flecha 24"/>
          <p:cNvCxnSpPr>
            <a:endCxn id="59" idx="0"/>
          </p:cNvCxnSpPr>
          <p:nvPr/>
        </p:nvCxnSpPr>
        <p:spPr>
          <a:xfrm>
            <a:off x="1476095" y="3776350"/>
            <a:ext cx="1" cy="589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r 32"/>
          <p:cNvCxnSpPr>
            <a:stCxn id="59" idx="2"/>
          </p:cNvCxnSpPr>
          <p:nvPr/>
        </p:nvCxnSpPr>
        <p:spPr>
          <a:xfrm rot="16200000" flipH="1">
            <a:off x="1888812" y="4209608"/>
            <a:ext cx="1592738" cy="24181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62" name="Diagrama 80"/>
          <p:cNvGraphicFramePr/>
          <p:nvPr/>
        </p:nvGraphicFramePr>
        <p:xfrm>
          <a:off x="4361384" y="3739912"/>
          <a:ext cx="587374" cy="5566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3" name="Diagrama 83"/>
          <p:cNvGraphicFramePr/>
          <p:nvPr/>
        </p:nvGraphicFramePr>
        <p:xfrm>
          <a:off x="2498504" y="4873445"/>
          <a:ext cx="587374" cy="5566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8" name="Rettangolo arrotondato 2"/>
          <p:cNvSpPr/>
          <p:nvPr/>
        </p:nvSpPr>
        <p:spPr>
          <a:xfrm>
            <a:off x="3285244" y="5739697"/>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
        <p:nvSpPr>
          <p:cNvPr id="69" name="Rettangolo arrotondato 2"/>
          <p:cNvSpPr/>
          <p:nvPr/>
        </p:nvSpPr>
        <p:spPr>
          <a:xfrm>
            <a:off x="6451578" y="5646412"/>
            <a:ext cx="457200" cy="313508"/>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dirty="0" smtClean="0"/>
              <a:t>I8</a:t>
            </a:r>
            <a:endParaRPr lang="it-IT" dirty="0"/>
          </a:p>
        </p:txBody>
      </p:sp>
      <p:sp>
        <p:nvSpPr>
          <p:cNvPr id="65" name="CuadroTexto 64"/>
          <p:cNvSpPr txBox="1"/>
          <p:nvPr/>
        </p:nvSpPr>
        <p:spPr>
          <a:xfrm>
            <a:off x="10164926" y="6134174"/>
            <a:ext cx="1821845" cy="369332"/>
          </a:xfrm>
          <a:prstGeom prst="rect">
            <a:avLst/>
          </a:prstGeom>
          <a:noFill/>
        </p:spPr>
        <p:txBody>
          <a:bodyPr wrap="none" rtlCol="0">
            <a:spAutoFit/>
          </a:bodyPr>
          <a:lstStyle/>
          <a:p>
            <a:r>
              <a:rPr lang="es-CL" dirty="0" smtClean="0"/>
              <a:t>Actualización PFC</a:t>
            </a:r>
            <a:endParaRPr lang="es-CL"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19715" y="2434931"/>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UM</a:t>
            </a:r>
            <a:endParaRPr lang="es-CL" dirty="0"/>
          </a:p>
        </p:txBody>
      </p:sp>
      <p:sp>
        <p:nvSpPr>
          <p:cNvPr id="5" name="Rectángulo redondeado 4"/>
          <p:cNvSpPr/>
          <p:nvPr/>
        </p:nvSpPr>
        <p:spPr>
          <a:xfrm>
            <a:off x="3480514" y="1943093"/>
            <a:ext cx="2042249" cy="17318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CONCENTRADOR</a:t>
            </a:r>
            <a:endParaRPr lang="es-CL" dirty="0"/>
          </a:p>
        </p:txBody>
      </p:sp>
      <p:sp>
        <p:nvSpPr>
          <p:cNvPr id="6" name="Rectángulo redondeado 5"/>
          <p:cNvSpPr/>
          <p:nvPr/>
        </p:nvSpPr>
        <p:spPr>
          <a:xfrm>
            <a:off x="9397280" y="1523863"/>
            <a:ext cx="1678331" cy="25702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Sistema de Gestion y Operación</a:t>
            </a:r>
            <a:endParaRPr lang="es-CL" dirty="0" smtClean="0"/>
          </a:p>
          <a:p>
            <a:pPr algn="ctr"/>
            <a:r>
              <a:rPr lang="es-CL" dirty="0" smtClean="0"/>
              <a:t>(HES)</a:t>
            </a:r>
            <a:endParaRPr lang="es-CL" dirty="0"/>
          </a:p>
        </p:txBody>
      </p:sp>
      <p:sp>
        <p:nvSpPr>
          <p:cNvPr id="7" name="Rectángulo 6"/>
          <p:cNvSpPr/>
          <p:nvPr/>
        </p:nvSpPr>
        <p:spPr>
          <a:xfrm>
            <a:off x="8157734" y="2178623"/>
            <a:ext cx="410442" cy="12607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dirty="0" smtClean="0"/>
              <a:t>DMZ</a:t>
            </a:r>
            <a:endParaRPr lang="es-CL" sz="1400" b="1" dirty="0" smtClean="0"/>
          </a:p>
        </p:txBody>
      </p:sp>
      <p:sp>
        <p:nvSpPr>
          <p:cNvPr id="8" name="Rectángulo 7"/>
          <p:cNvSpPr/>
          <p:nvPr/>
        </p:nvSpPr>
        <p:spPr>
          <a:xfrm>
            <a:off x="6097834" y="2486882"/>
            <a:ext cx="664475" cy="6442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smtClean="0"/>
              <a:t>Router Externo</a:t>
            </a:r>
            <a:endParaRPr lang="es-CL" sz="1100" b="1" dirty="0"/>
          </a:p>
        </p:txBody>
      </p:sp>
      <p:sp>
        <p:nvSpPr>
          <p:cNvPr id="9" name="Rectángulo 8"/>
          <p:cNvSpPr/>
          <p:nvPr/>
        </p:nvSpPr>
        <p:spPr>
          <a:xfrm>
            <a:off x="3066512" y="2462646"/>
            <a:ext cx="591634" cy="32211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1" name="Rectángulo 10"/>
          <p:cNvSpPr/>
          <p:nvPr/>
        </p:nvSpPr>
        <p:spPr>
          <a:xfrm>
            <a:off x="836148" y="2473033"/>
            <a:ext cx="591634" cy="29787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2" name="Rectángulo 11"/>
          <p:cNvSpPr/>
          <p:nvPr/>
        </p:nvSpPr>
        <p:spPr>
          <a:xfrm>
            <a:off x="836148" y="2850561"/>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MóduloDDLC</a:t>
            </a:r>
            <a:endParaRPr lang="es-CL" sz="800" dirty="0"/>
          </a:p>
        </p:txBody>
      </p:sp>
      <p:sp>
        <p:nvSpPr>
          <p:cNvPr id="13" name="Rectángulo 12"/>
          <p:cNvSpPr/>
          <p:nvPr/>
        </p:nvSpPr>
        <p:spPr>
          <a:xfrm>
            <a:off x="3063692" y="2850561"/>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DLC</a:t>
            </a:r>
            <a:endParaRPr lang="es-CL" sz="800" dirty="0"/>
          </a:p>
        </p:txBody>
      </p:sp>
      <p:cxnSp>
        <p:nvCxnSpPr>
          <p:cNvPr id="15" name="Conector recto de flecha 14"/>
          <p:cNvCxnSpPr>
            <a:stCxn id="7" idx="3"/>
            <a:endCxn id="6" idx="1"/>
          </p:cNvCxnSpPr>
          <p:nvPr/>
        </p:nvCxnSpPr>
        <p:spPr>
          <a:xfrm flipV="1">
            <a:off x="8568176" y="2809002"/>
            <a:ext cx="829104" cy="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8568088" y="2612731"/>
            <a:ext cx="821059" cy="246221"/>
          </a:xfrm>
          <a:prstGeom prst="rect">
            <a:avLst/>
          </a:prstGeom>
          <a:noFill/>
        </p:spPr>
        <p:txBody>
          <a:bodyPr wrap="none" rtlCol="0">
            <a:spAutoFit/>
          </a:bodyPr>
          <a:lstStyle/>
          <a:p>
            <a:pPr algn="ctr"/>
            <a:r>
              <a:rPr lang="es-CL" sz="1000" b="1" dirty="0" smtClean="0"/>
              <a:t>Red IP Local</a:t>
            </a:r>
            <a:endParaRPr lang="es-CL" sz="1000" b="1" dirty="0" smtClean="0"/>
          </a:p>
        </p:txBody>
      </p:sp>
      <p:cxnSp>
        <p:nvCxnSpPr>
          <p:cNvPr id="22" name="Conector recto de flecha 21"/>
          <p:cNvCxnSpPr>
            <a:stCxn id="8" idx="3"/>
            <a:endCxn id="7" idx="1"/>
          </p:cNvCxnSpPr>
          <p:nvPr/>
        </p:nvCxnSpPr>
        <p:spPr>
          <a:xfrm>
            <a:off x="6762309" y="2809001"/>
            <a:ext cx="1395425" cy="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7068473" y="2473033"/>
            <a:ext cx="811440" cy="400110"/>
          </a:xfrm>
          <a:prstGeom prst="rect">
            <a:avLst/>
          </a:prstGeom>
          <a:noFill/>
        </p:spPr>
        <p:txBody>
          <a:bodyPr wrap="none" rtlCol="0">
            <a:spAutoFit/>
          </a:bodyPr>
          <a:lstStyle/>
          <a:p>
            <a:pPr algn="ctr"/>
            <a:r>
              <a:rPr lang="es-CL" sz="1000" b="1" dirty="0" smtClean="0"/>
              <a:t>Red Celular</a:t>
            </a:r>
            <a:endParaRPr lang="es-CL" sz="1000" b="1" dirty="0" smtClean="0"/>
          </a:p>
          <a:p>
            <a:pPr algn="ctr"/>
            <a:r>
              <a:rPr lang="es-CL" sz="1000" b="1" dirty="0" smtClean="0"/>
              <a:t>Operador</a:t>
            </a:r>
            <a:endParaRPr lang="es-CL" sz="1000" b="1" dirty="0"/>
          </a:p>
        </p:txBody>
      </p:sp>
      <p:sp>
        <p:nvSpPr>
          <p:cNvPr id="25" name="Rectángulo redondeado 24"/>
          <p:cNvSpPr/>
          <p:nvPr/>
        </p:nvSpPr>
        <p:spPr>
          <a:xfrm>
            <a:off x="8030198" y="1371599"/>
            <a:ext cx="3196602"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8" name="Conector recto de flecha 27"/>
          <p:cNvCxnSpPr>
            <a:stCxn id="5" idx="3"/>
            <a:endCxn id="8" idx="1"/>
          </p:cNvCxnSpPr>
          <p:nvPr/>
        </p:nvCxnSpPr>
        <p:spPr>
          <a:xfrm flipV="1">
            <a:off x="5522763" y="2809001"/>
            <a:ext cx="575071"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CuadroTexto 33"/>
          <p:cNvSpPr txBox="1"/>
          <p:nvPr/>
        </p:nvSpPr>
        <p:spPr>
          <a:xfrm>
            <a:off x="8157734" y="4038834"/>
            <a:ext cx="1856781" cy="307777"/>
          </a:xfrm>
          <a:prstGeom prst="rect">
            <a:avLst/>
          </a:prstGeom>
          <a:noFill/>
        </p:spPr>
        <p:txBody>
          <a:bodyPr wrap="square" rtlCol="0">
            <a:spAutoFit/>
          </a:bodyPr>
          <a:lstStyle/>
          <a:p>
            <a:r>
              <a:rPr lang="es-CL" sz="1400" b="1" dirty="0" smtClean="0"/>
              <a:t>Red interna Enel</a:t>
            </a:r>
            <a:endParaRPr lang="es-CL" sz="1400" b="1" dirty="0"/>
          </a:p>
        </p:txBody>
      </p:sp>
      <p:sp>
        <p:nvSpPr>
          <p:cNvPr id="35" name="CuadroTexto 34"/>
          <p:cNvSpPr txBox="1"/>
          <p:nvPr/>
        </p:nvSpPr>
        <p:spPr>
          <a:xfrm>
            <a:off x="5426411" y="2319145"/>
            <a:ext cx="805006" cy="553998"/>
          </a:xfrm>
          <a:prstGeom prst="rect">
            <a:avLst/>
          </a:prstGeom>
          <a:noFill/>
        </p:spPr>
        <p:txBody>
          <a:bodyPr wrap="square" rtlCol="0">
            <a:spAutoFit/>
          </a:bodyPr>
          <a:lstStyle/>
          <a:p>
            <a:pPr algn="ctr"/>
            <a:r>
              <a:rPr lang="es-CL" sz="1000" b="1" dirty="0" smtClean="0"/>
              <a:t>Conexión Ethernet</a:t>
            </a:r>
            <a:endParaRPr lang="es-CL" sz="1000" b="1" dirty="0" smtClean="0"/>
          </a:p>
          <a:p>
            <a:pPr algn="ctr"/>
            <a:r>
              <a:rPr lang="es-CL" sz="1000" b="1" dirty="0" smtClean="0"/>
              <a:t>Local</a:t>
            </a:r>
            <a:endParaRPr lang="es-CL" sz="1000" b="1" dirty="0"/>
          </a:p>
        </p:txBody>
      </p:sp>
      <p:cxnSp>
        <p:nvCxnSpPr>
          <p:cNvPr id="37" name="Conector recto de flecha 36"/>
          <p:cNvCxnSpPr>
            <a:stCxn id="11" idx="3"/>
            <a:endCxn id="9" idx="1"/>
          </p:cNvCxnSpPr>
          <p:nvPr/>
        </p:nvCxnSpPr>
        <p:spPr>
          <a:xfrm>
            <a:off x="1427782" y="2621970"/>
            <a:ext cx="1638730" cy="17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p:cNvCxnSpPr>
            <a:stCxn id="12" idx="3"/>
            <a:endCxn id="13" idx="1"/>
          </p:cNvCxnSpPr>
          <p:nvPr/>
        </p:nvCxnSpPr>
        <p:spPr>
          <a:xfrm>
            <a:off x="1427782" y="2997767"/>
            <a:ext cx="163591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CuadroTexto 46"/>
          <p:cNvSpPr txBox="1"/>
          <p:nvPr/>
        </p:nvSpPr>
        <p:spPr>
          <a:xfrm>
            <a:off x="1454824" y="2427549"/>
            <a:ext cx="1605942" cy="246221"/>
          </a:xfrm>
          <a:prstGeom prst="rect">
            <a:avLst/>
          </a:prstGeom>
          <a:noFill/>
        </p:spPr>
        <p:txBody>
          <a:bodyPr wrap="square" rtlCol="0">
            <a:spAutoFit/>
          </a:bodyPr>
          <a:lstStyle/>
          <a:p>
            <a:pPr algn="ctr"/>
            <a:r>
              <a:rPr lang="es-CL" sz="1000" b="1" dirty="0" smtClean="0"/>
              <a:t>Comunicación RF</a:t>
            </a:r>
            <a:endParaRPr lang="es-CL" sz="1000" b="1" dirty="0"/>
          </a:p>
        </p:txBody>
      </p:sp>
      <p:sp>
        <p:nvSpPr>
          <p:cNvPr id="48" name="CuadroTexto 47"/>
          <p:cNvSpPr txBox="1"/>
          <p:nvPr/>
        </p:nvSpPr>
        <p:spPr>
          <a:xfrm>
            <a:off x="1454824" y="2820974"/>
            <a:ext cx="1605942" cy="245110"/>
          </a:xfrm>
          <a:prstGeom prst="rect">
            <a:avLst/>
          </a:prstGeom>
          <a:noFill/>
        </p:spPr>
        <p:txBody>
          <a:bodyPr wrap="square" rtlCol="0">
            <a:spAutoFit/>
          </a:bodyPr>
          <a:lstStyle/>
          <a:p>
            <a:pPr algn="ctr"/>
            <a:r>
              <a:rPr lang="es-CL" sz="1000" b="1" dirty="0" smtClean="0"/>
              <a:t>Comunicación DLC</a:t>
            </a:r>
            <a:endParaRPr lang="es-CL" sz="1000" b="1" dirty="0"/>
          </a:p>
        </p:txBody>
      </p:sp>
      <p:sp>
        <p:nvSpPr>
          <p:cNvPr id="52" name="Rectángulo redondeado 51"/>
          <p:cNvSpPr/>
          <p:nvPr/>
        </p:nvSpPr>
        <p:spPr>
          <a:xfrm>
            <a:off x="2862730" y="1371598"/>
            <a:ext cx="4027115"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7" name="CuadroTexto 56"/>
          <p:cNvSpPr txBox="1"/>
          <p:nvPr/>
        </p:nvSpPr>
        <p:spPr>
          <a:xfrm>
            <a:off x="3107889" y="4038834"/>
            <a:ext cx="2670611" cy="307777"/>
          </a:xfrm>
          <a:prstGeom prst="rect">
            <a:avLst/>
          </a:prstGeom>
          <a:noFill/>
        </p:spPr>
        <p:txBody>
          <a:bodyPr wrap="square" rtlCol="0">
            <a:spAutoFit/>
          </a:bodyPr>
          <a:lstStyle/>
          <a:p>
            <a:r>
              <a:rPr lang="es-CL" sz="1400" b="1" dirty="0" smtClean="0"/>
              <a:t>Instalación Subestación MT/BT</a:t>
            </a:r>
            <a:endParaRPr lang="es-CL" sz="1400" b="1" dirty="0"/>
          </a:p>
        </p:txBody>
      </p:sp>
      <p:sp>
        <p:nvSpPr>
          <p:cNvPr id="58" name="Rectángulo redondeado 57"/>
          <p:cNvSpPr/>
          <p:nvPr/>
        </p:nvSpPr>
        <p:spPr>
          <a:xfrm>
            <a:off x="60700" y="1371598"/>
            <a:ext cx="1680107"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9" name="CuadroTexto 58"/>
          <p:cNvSpPr txBox="1"/>
          <p:nvPr/>
        </p:nvSpPr>
        <p:spPr>
          <a:xfrm>
            <a:off x="60700" y="4038834"/>
            <a:ext cx="1856781" cy="307777"/>
          </a:xfrm>
          <a:prstGeom prst="rect">
            <a:avLst/>
          </a:prstGeom>
          <a:noFill/>
        </p:spPr>
        <p:txBody>
          <a:bodyPr wrap="square" rtlCol="0">
            <a:spAutoFit/>
          </a:bodyPr>
          <a:lstStyle/>
          <a:p>
            <a:r>
              <a:rPr lang="es-CL" sz="1400" b="1" dirty="0"/>
              <a:t>C</a:t>
            </a:r>
            <a:r>
              <a:rPr lang="es-CL" sz="1400" b="1" dirty="0" smtClean="0"/>
              <a:t>liente</a:t>
            </a:r>
            <a:endParaRPr lang="es-CL" sz="1400" b="1" dirty="0"/>
          </a:p>
        </p:txBody>
      </p:sp>
      <p:sp>
        <p:nvSpPr>
          <p:cNvPr id="60" name="Rectángulo redondeado 59"/>
          <p:cNvSpPr/>
          <p:nvPr/>
        </p:nvSpPr>
        <p:spPr>
          <a:xfrm>
            <a:off x="2181696" y="5181600"/>
            <a:ext cx="777404" cy="357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smtClean="0"/>
              <a:t>Acceso Local</a:t>
            </a:r>
            <a:endParaRPr lang="es-CL" sz="1000" dirty="0"/>
          </a:p>
        </p:txBody>
      </p:sp>
      <p:cxnSp>
        <p:nvCxnSpPr>
          <p:cNvPr id="62" name="Conector recto de flecha 61"/>
          <p:cNvCxnSpPr/>
          <p:nvPr/>
        </p:nvCxnSpPr>
        <p:spPr>
          <a:xfrm>
            <a:off x="341956" y="3174561"/>
            <a:ext cx="2029577" cy="200703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Conector recto de flecha 63"/>
          <p:cNvCxnSpPr>
            <a:stCxn id="4" idx="2"/>
            <a:endCxn id="60" idx="0"/>
          </p:cNvCxnSpPr>
          <p:nvPr/>
        </p:nvCxnSpPr>
        <p:spPr>
          <a:xfrm>
            <a:off x="590770" y="3183076"/>
            <a:ext cx="1979628" cy="19985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Conector recto de flecha 65"/>
          <p:cNvCxnSpPr>
            <a:stCxn id="5" idx="2"/>
            <a:endCxn id="60" idx="0"/>
          </p:cNvCxnSpPr>
          <p:nvPr/>
        </p:nvCxnSpPr>
        <p:spPr>
          <a:xfrm flipH="1">
            <a:off x="2570398" y="3674912"/>
            <a:ext cx="1931241" cy="15066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p:cNvCxnSpPr/>
          <p:nvPr/>
        </p:nvCxnSpPr>
        <p:spPr>
          <a:xfrm flipH="1">
            <a:off x="2718044" y="3687682"/>
            <a:ext cx="1962456" cy="151654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CuadroTexto 69"/>
          <p:cNvSpPr txBox="1"/>
          <p:nvPr/>
        </p:nvSpPr>
        <p:spPr>
          <a:xfrm>
            <a:off x="3296067" y="4650738"/>
            <a:ext cx="805006" cy="553998"/>
          </a:xfrm>
          <a:prstGeom prst="rect">
            <a:avLst/>
          </a:prstGeom>
          <a:noFill/>
        </p:spPr>
        <p:txBody>
          <a:bodyPr wrap="square" rtlCol="0">
            <a:spAutoFit/>
          </a:bodyPr>
          <a:lstStyle/>
          <a:p>
            <a:pPr algn="ctr"/>
            <a:r>
              <a:rPr lang="es-CL" sz="1000" b="1" dirty="0" smtClean="0"/>
              <a:t>Conexión Ethernet Local</a:t>
            </a:r>
            <a:endParaRPr lang="es-CL" sz="1000" b="1" dirty="0"/>
          </a:p>
        </p:txBody>
      </p:sp>
      <p:sp>
        <p:nvSpPr>
          <p:cNvPr id="71" name="CuadroTexto 70"/>
          <p:cNvSpPr txBox="1"/>
          <p:nvPr/>
        </p:nvSpPr>
        <p:spPr>
          <a:xfrm>
            <a:off x="2532407" y="4434141"/>
            <a:ext cx="805006" cy="400110"/>
          </a:xfrm>
          <a:prstGeom prst="rect">
            <a:avLst/>
          </a:prstGeom>
          <a:noFill/>
        </p:spPr>
        <p:txBody>
          <a:bodyPr wrap="square" rtlCol="0">
            <a:spAutoFit/>
          </a:bodyPr>
          <a:lstStyle/>
          <a:p>
            <a:pPr algn="ctr"/>
            <a:r>
              <a:rPr lang="es-CL" sz="1000" b="1" dirty="0" smtClean="0"/>
              <a:t>Sonda Óptica</a:t>
            </a:r>
            <a:endParaRPr lang="es-CL" sz="1000" b="1" dirty="0"/>
          </a:p>
        </p:txBody>
      </p:sp>
      <p:sp>
        <p:nvSpPr>
          <p:cNvPr id="73" name="CuadroTexto 72"/>
          <p:cNvSpPr txBox="1"/>
          <p:nvPr/>
        </p:nvSpPr>
        <p:spPr>
          <a:xfrm>
            <a:off x="1656948" y="4171385"/>
            <a:ext cx="805006" cy="400110"/>
          </a:xfrm>
          <a:prstGeom prst="rect">
            <a:avLst/>
          </a:prstGeom>
          <a:noFill/>
        </p:spPr>
        <p:txBody>
          <a:bodyPr wrap="square" rtlCol="0">
            <a:spAutoFit/>
          </a:bodyPr>
          <a:lstStyle/>
          <a:p>
            <a:pPr algn="ctr"/>
            <a:r>
              <a:rPr lang="es-CL" sz="1000" b="1" dirty="0" smtClean="0"/>
              <a:t>Sonda Óptica</a:t>
            </a:r>
            <a:endParaRPr lang="es-CL" sz="1000" b="1" dirty="0"/>
          </a:p>
        </p:txBody>
      </p:sp>
      <p:sp>
        <p:nvSpPr>
          <p:cNvPr id="78" name="CuadroTexto 77"/>
          <p:cNvSpPr txBox="1"/>
          <p:nvPr/>
        </p:nvSpPr>
        <p:spPr>
          <a:xfrm>
            <a:off x="1061824" y="4519312"/>
            <a:ext cx="805006" cy="246221"/>
          </a:xfrm>
          <a:prstGeom prst="rect">
            <a:avLst/>
          </a:prstGeom>
          <a:noFill/>
        </p:spPr>
        <p:txBody>
          <a:bodyPr wrap="square" rtlCol="0">
            <a:spAutoFit/>
          </a:bodyPr>
          <a:lstStyle/>
          <a:p>
            <a:pPr algn="ctr"/>
            <a:r>
              <a:rPr lang="es-CL" sz="1000" b="1" dirty="0" smtClean="0"/>
              <a:t>Bluetooth</a:t>
            </a:r>
            <a:endParaRPr lang="es-CL" sz="1000" b="1" dirty="0"/>
          </a:p>
        </p:txBody>
      </p:sp>
      <p:sp>
        <p:nvSpPr>
          <p:cNvPr id="79" name="Elipse 78"/>
          <p:cNvSpPr/>
          <p:nvPr/>
        </p:nvSpPr>
        <p:spPr>
          <a:xfrm>
            <a:off x="2172549" y="217862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0" name="CuadroTexto 79"/>
          <p:cNvSpPr txBox="1"/>
          <p:nvPr/>
        </p:nvSpPr>
        <p:spPr>
          <a:xfrm>
            <a:off x="2104255" y="1880937"/>
            <a:ext cx="324128" cy="307777"/>
          </a:xfrm>
          <a:prstGeom prst="rect">
            <a:avLst/>
          </a:prstGeom>
          <a:noFill/>
        </p:spPr>
        <p:txBody>
          <a:bodyPr wrap="none" rtlCol="0">
            <a:spAutoFit/>
          </a:bodyPr>
          <a:lstStyle/>
          <a:p>
            <a:r>
              <a:rPr lang="es-CL" sz="1400" b="1" dirty="0" smtClean="0"/>
              <a:t>I3</a:t>
            </a:r>
            <a:endParaRPr lang="es-CL" sz="1400" b="1" dirty="0"/>
          </a:p>
        </p:txBody>
      </p:sp>
      <p:sp>
        <p:nvSpPr>
          <p:cNvPr id="81" name="Elipse 80"/>
          <p:cNvSpPr/>
          <p:nvPr/>
        </p:nvSpPr>
        <p:spPr>
          <a:xfrm>
            <a:off x="7338971" y="217862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2" name="Elipse 81"/>
          <p:cNvSpPr/>
          <p:nvPr/>
        </p:nvSpPr>
        <p:spPr>
          <a:xfrm>
            <a:off x="1888258" y="4814990"/>
            <a:ext cx="1267806" cy="19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3" name="CuadroTexto 82"/>
          <p:cNvSpPr txBox="1"/>
          <p:nvPr/>
        </p:nvSpPr>
        <p:spPr>
          <a:xfrm>
            <a:off x="7270677" y="1886943"/>
            <a:ext cx="324128" cy="307777"/>
          </a:xfrm>
          <a:prstGeom prst="rect">
            <a:avLst/>
          </a:prstGeom>
          <a:noFill/>
        </p:spPr>
        <p:txBody>
          <a:bodyPr wrap="none" rtlCol="0">
            <a:spAutoFit/>
          </a:bodyPr>
          <a:lstStyle/>
          <a:p>
            <a:r>
              <a:rPr lang="es-CL" sz="1400" b="1" dirty="0" smtClean="0"/>
              <a:t>I4</a:t>
            </a:r>
            <a:endParaRPr lang="es-CL" sz="1400" b="1" dirty="0"/>
          </a:p>
        </p:txBody>
      </p:sp>
      <p:sp>
        <p:nvSpPr>
          <p:cNvPr id="84" name="CuadroTexto 83"/>
          <p:cNvSpPr txBox="1"/>
          <p:nvPr/>
        </p:nvSpPr>
        <p:spPr>
          <a:xfrm>
            <a:off x="2407144" y="4744954"/>
            <a:ext cx="324128" cy="307777"/>
          </a:xfrm>
          <a:prstGeom prst="rect">
            <a:avLst/>
          </a:prstGeom>
          <a:noFill/>
        </p:spPr>
        <p:txBody>
          <a:bodyPr wrap="none" rtlCol="0">
            <a:spAutoFit/>
          </a:bodyPr>
          <a:lstStyle/>
          <a:p>
            <a:r>
              <a:rPr lang="es-CL" sz="1400" b="1" dirty="0" smtClean="0"/>
              <a:t>I0</a:t>
            </a:r>
            <a:endParaRPr lang="es-CL" sz="1400" b="1" dirty="0"/>
          </a:p>
        </p:txBody>
      </p:sp>
      <p:sp>
        <p:nvSpPr>
          <p:cNvPr id="3" name="CuadroTexto 2"/>
          <p:cNvSpPr txBox="1"/>
          <p:nvPr/>
        </p:nvSpPr>
        <p:spPr>
          <a:xfrm>
            <a:off x="2360090" y="471055"/>
            <a:ext cx="5028364" cy="369332"/>
          </a:xfrm>
          <a:prstGeom prst="rect">
            <a:avLst/>
          </a:prstGeom>
          <a:noFill/>
        </p:spPr>
        <p:txBody>
          <a:bodyPr wrap="none" rtlCol="0">
            <a:spAutoFit/>
          </a:bodyPr>
          <a:lstStyle/>
          <a:p>
            <a:r>
              <a:rPr lang="es-CL" dirty="0" smtClean="0"/>
              <a:t>Sistema de Comunicaciones Solución Medidor ENEL</a:t>
            </a:r>
            <a:endParaRPr lang="es-CL" dirty="0"/>
          </a:p>
        </p:txBody>
      </p:sp>
      <p:sp>
        <p:nvSpPr>
          <p:cNvPr id="43" name="CuadroTexto 42"/>
          <p:cNvSpPr txBox="1"/>
          <p:nvPr/>
        </p:nvSpPr>
        <p:spPr>
          <a:xfrm>
            <a:off x="9404955" y="6061587"/>
            <a:ext cx="1821845" cy="369332"/>
          </a:xfrm>
          <a:prstGeom prst="rect">
            <a:avLst/>
          </a:prstGeom>
          <a:noFill/>
        </p:spPr>
        <p:txBody>
          <a:bodyPr wrap="none" rtlCol="0">
            <a:spAutoFit/>
          </a:bodyPr>
          <a:lstStyle/>
          <a:p>
            <a:r>
              <a:rPr lang="es-CL" dirty="0" smtClean="0"/>
              <a:t>Actualización PFC</a:t>
            </a:r>
            <a:endParaRPr lang="es-CL"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16851" y="3939267"/>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GEMIS</a:t>
            </a:r>
            <a:endParaRPr lang="es-CL" dirty="0"/>
          </a:p>
        </p:txBody>
      </p:sp>
      <p:sp>
        <p:nvSpPr>
          <p:cNvPr id="5" name="Rectángulo redondeado 4"/>
          <p:cNvSpPr/>
          <p:nvPr/>
        </p:nvSpPr>
        <p:spPr>
          <a:xfrm>
            <a:off x="3777650" y="3447429"/>
            <a:ext cx="2042249" cy="17318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LVM</a:t>
            </a:r>
            <a:endParaRPr lang="es-CL" dirty="0"/>
          </a:p>
        </p:txBody>
      </p:sp>
      <p:sp>
        <p:nvSpPr>
          <p:cNvPr id="6" name="Rectángulo redondeado 5"/>
          <p:cNvSpPr/>
          <p:nvPr/>
        </p:nvSpPr>
        <p:spPr>
          <a:xfrm>
            <a:off x="9694416" y="3028199"/>
            <a:ext cx="1678331" cy="257027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7" name="Rectángulo 6"/>
          <p:cNvSpPr/>
          <p:nvPr/>
        </p:nvSpPr>
        <p:spPr>
          <a:xfrm>
            <a:off x="8454870" y="3682959"/>
            <a:ext cx="410442" cy="12607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dirty="0" smtClean="0"/>
              <a:t>DMZ</a:t>
            </a:r>
            <a:endParaRPr lang="es-CL" sz="1400" b="1" dirty="0" smtClean="0"/>
          </a:p>
        </p:txBody>
      </p:sp>
      <p:sp>
        <p:nvSpPr>
          <p:cNvPr id="8" name="Rectángulo 7"/>
          <p:cNvSpPr/>
          <p:nvPr/>
        </p:nvSpPr>
        <p:spPr>
          <a:xfrm>
            <a:off x="6394970" y="3991218"/>
            <a:ext cx="664475" cy="6442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smtClean="0"/>
              <a:t>Router Externo</a:t>
            </a:r>
            <a:endParaRPr lang="es-CL" sz="1100" b="1" dirty="0"/>
          </a:p>
        </p:txBody>
      </p:sp>
      <p:sp>
        <p:nvSpPr>
          <p:cNvPr id="9" name="Rectángulo 8"/>
          <p:cNvSpPr/>
          <p:nvPr/>
        </p:nvSpPr>
        <p:spPr>
          <a:xfrm>
            <a:off x="3363648" y="3966982"/>
            <a:ext cx="591634" cy="32211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1" name="Rectángulo 10"/>
          <p:cNvSpPr/>
          <p:nvPr/>
        </p:nvSpPr>
        <p:spPr>
          <a:xfrm>
            <a:off x="1133284" y="3977369"/>
            <a:ext cx="591634" cy="29787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RF</a:t>
            </a:r>
            <a:endParaRPr lang="es-CL" sz="800" dirty="0"/>
          </a:p>
        </p:txBody>
      </p:sp>
      <p:sp>
        <p:nvSpPr>
          <p:cNvPr id="12" name="Rectángulo 11"/>
          <p:cNvSpPr/>
          <p:nvPr/>
        </p:nvSpPr>
        <p:spPr>
          <a:xfrm>
            <a:off x="1133284" y="4354897"/>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PLC</a:t>
            </a:r>
            <a:endParaRPr lang="es-CL" sz="800" dirty="0"/>
          </a:p>
        </p:txBody>
      </p:sp>
      <p:sp>
        <p:nvSpPr>
          <p:cNvPr id="13" name="Rectángulo 12"/>
          <p:cNvSpPr/>
          <p:nvPr/>
        </p:nvSpPr>
        <p:spPr>
          <a:xfrm>
            <a:off x="3360828" y="4354897"/>
            <a:ext cx="591634" cy="29441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Módulo PLC</a:t>
            </a:r>
            <a:endParaRPr lang="es-CL" sz="800" dirty="0"/>
          </a:p>
        </p:txBody>
      </p:sp>
      <p:cxnSp>
        <p:nvCxnSpPr>
          <p:cNvPr id="15" name="Conector recto de flecha 14"/>
          <p:cNvCxnSpPr>
            <a:stCxn id="7" idx="3"/>
            <a:endCxn id="6" idx="1"/>
          </p:cNvCxnSpPr>
          <p:nvPr/>
        </p:nvCxnSpPr>
        <p:spPr>
          <a:xfrm flipV="1">
            <a:off x="8865312" y="4313338"/>
            <a:ext cx="829104" cy="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8865224" y="4117067"/>
            <a:ext cx="821059" cy="246221"/>
          </a:xfrm>
          <a:prstGeom prst="rect">
            <a:avLst/>
          </a:prstGeom>
          <a:noFill/>
        </p:spPr>
        <p:txBody>
          <a:bodyPr wrap="none" rtlCol="0">
            <a:spAutoFit/>
          </a:bodyPr>
          <a:lstStyle/>
          <a:p>
            <a:pPr algn="ctr"/>
            <a:r>
              <a:rPr lang="es-CL" sz="1000" b="1" dirty="0" smtClean="0"/>
              <a:t>Red IP Local</a:t>
            </a:r>
            <a:endParaRPr lang="es-CL" sz="1000" b="1" dirty="0" smtClean="0"/>
          </a:p>
        </p:txBody>
      </p:sp>
      <p:cxnSp>
        <p:nvCxnSpPr>
          <p:cNvPr id="22" name="Conector recto de flecha 21"/>
          <p:cNvCxnSpPr>
            <a:stCxn id="8" idx="3"/>
            <a:endCxn id="7" idx="1"/>
          </p:cNvCxnSpPr>
          <p:nvPr/>
        </p:nvCxnSpPr>
        <p:spPr>
          <a:xfrm>
            <a:off x="7059445" y="4313337"/>
            <a:ext cx="1395425" cy="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7365609" y="3977369"/>
            <a:ext cx="811440" cy="400110"/>
          </a:xfrm>
          <a:prstGeom prst="rect">
            <a:avLst/>
          </a:prstGeom>
          <a:noFill/>
        </p:spPr>
        <p:txBody>
          <a:bodyPr wrap="none" rtlCol="0">
            <a:spAutoFit/>
          </a:bodyPr>
          <a:lstStyle/>
          <a:p>
            <a:pPr algn="ctr"/>
            <a:r>
              <a:rPr lang="es-CL" sz="1000" b="1" dirty="0" smtClean="0"/>
              <a:t>Red Celular</a:t>
            </a:r>
            <a:endParaRPr lang="es-CL" sz="1000" b="1" dirty="0" smtClean="0"/>
          </a:p>
          <a:p>
            <a:pPr algn="ctr"/>
            <a:r>
              <a:rPr lang="es-CL" sz="1000" b="1" dirty="0" smtClean="0"/>
              <a:t>Operador</a:t>
            </a:r>
            <a:endParaRPr lang="es-CL" sz="1000" b="1" dirty="0"/>
          </a:p>
        </p:txBody>
      </p:sp>
      <p:sp>
        <p:nvSpPr>
          <p:cNvPr id="25" name="Rectángulo redondeado 24"/>
          <p:cNvSpPr/>
          <p:nvPr/>
        </p:nvSpPr>
        <p:spPr>
          <a:xfrm>
            <a:off x="8327334" y="2638903"/>
            <a:ext cx="3196602" cy="334853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8" name="Conector recto de flecha 27"/>
          <p:cNvCxnSpPr>
            <a:stCxn id="5" idx="3"/>
            <a:endCxn id="8" idx="1"/>
          </p:cNvCxnSpPr>
          <p:nvPr/>
        </p:nvCxnSpPr>
        <p:spPr>
          <a:xfrm flipV="1">
            <a:off x="5819899" y="4313337"/>
            <a:ext cx="575071"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CuadroTexto 33"/>
          <p:cNvSpPr txBox="1"/>
          <p:nvPr/>
        </p:nvSpPr>
        <p:spPr>
          <a:xfrm>
            <a:off x="8487532" y="5411045"/>
            <a:ext cx="1856781" cy="523220"/>
          </a:xfrm>
          <a:prstGeom prst="rect">
            <a:avLst/>
          </a:prstGeom>
          <a:noFill/>
        </p:spPr>
        <p:txBody>
          <a:bodyPr wrap="square" rtlCol="0">
            <a:spAutoFit/>
          </a:bodyPr>
          <a:lstStyle/>
          <a:p>
            <a:r>
              <a:rPr lang="es-CL" sz="1400" b="1" dirty="0" smtClean="0"/>
              <a:t>Sistemas de</a:t>
            </a:r>
            <a:endParaRPr lang="es-CL" sz="1400" b="1" dirty="0" smtClean="0"/>
          </a:p>
          <a:p>
            <a:r>
              <a:rPr lang="es-CL" sz="1400" b="1" dirty="0" smtClean="0"/>
              <a:t>Medidas (HES)</a:t>
            </a:r>
            <a:endParaRPr lang="es-CL" sz="1400" b="1" dirty="0"/>
          </a:p>
        </p:txBody>
      </p:sp>
      <p:sp>
        <p:nvSpPr>
          <p:cNvPr id="35" name="CuadroTexto 34"/>
          <p:cNvSpPr txBox="1"/>
          <p:nvPr/>
        </p:nvSpPr>
        <p:spPr>
          <a:xfrm>
            <a:off x="5723547" y="3823481"/>
            <a:ext cx="805006" cy="553998"/>
          </a:xfrm>
          <a:prstGeom prst="rect">
            <a:avLst/>
          </a:prstGeom>
          <a:noFill/>
        </p:spPr>
        <p:txBody>
          <a:bodyPr wrap="square" rtlCol="0">
            <a:spAutoFit/>
          </a:bodyPr>
          <a:lstStyle/>
          <a:p>
            <a:pPr algn="ctr"/>
            <a:r>
              <a:rPr lang="es-CL" sz="1000" b="1" dirty="0" smtClean="0"/>
              <a:t>Conexión Ethernet</a:t>
            </a:r>
            <a:endParaRPr lang="es-CL" sz="1000" b="1" dirty="0" smtClean="0"/>
          </a:p>
          <a:p>
            <a:pPr algn="ctr"/>
            <a:r>
              <a:rPr lang="es-CL" sz="1000" b="1" dirty="0" smtClean="0"/>
              <a:t>Local</a:t>
            </a:r>
            <a:endParaRPr lang="es-CL" sz="1000" b="1" dirty="0"/>
          </a:p>
        </p:txBody>
      </p:sp>
      <p:cxnSp>
        <p:nvCxnSpPr>
          <p:cNvPr id="37" name="Conector recto de flecha 36"/>
          <p:cNvCxnSpPr>
            <a:stCxn id="11" idx="3"/>
            <a:endCxn id="9" idx="1"/>
          </p:cNvCxnSpPr>
          <p:nvPr/>
        </p:nvCxnSpPr>
        <p:spPr>
          <a:xfrm>
            <a:off x="1724918" y="4126306"/>
            <a:ext cx="1638730" cy="17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p:cNvCxnSpPr>
            <a:stCxn id="12" idx="3"/>
            <a:endCxn id="13" idx="1"/>
          </p:cNvCxnSpPr>
          <p:nvPr/>
        </p:nvCxnSpPr>
        <p:spPr>
          <a:xfrm>
            <a:off x="1724918" y="4502103"/>
            <a:ext cx="163591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CuadroTexto 46"/>
          <p:cNvSpPr txBox="1"/>
          <p:nvPr/>
        </p:nvSpPr>
        <p:spPr>
          <a:xfrm>
            <a:off x="1751960" y="3931885"/>
            <a:ext cx="1605942" cy="246221"/>
          </a:xfrm>
          <a:prstGeom prst="rect">
            <a:avLst/>
          </a:prstGeom>
          <a:noFill/>
        </p:spPr>
        <p:txBody>
          <a:bodyPr wrap="square" rtlCol="0">
            <a:spAutoFit/>
          </a:bodyPr>
          <a:lstStyle/>
          <a:p>
            <a:pPr algn="ctr"/>
            <a:r>
              <a:rPr lang="es-CL" sz="1000" b="1" dirty="0" smtClean="0"/>
              <a:t>Comunicación RF</a:t>
            </a:r>
            <a:endParaRPr lang="es-CL" sz="1000" b="1" dirty="0"/>
          </a:p>
        </p:txBody>
      </p:sp>
      <p:sp>
        <p:nvSpPr>
          <p:cNvPr id="48" name="CuadroTexto 47"/>
          <p:cNvSpPr txBox="1"/>
          <p:nvPr/>
        </p:nvSpPr>
        <p:spPr>
          <a:xfrm>
            <a:off x="1751960" y="4325310"/>
            <a:ext cx="1605942" cy="246221"/>
          </a:xfrm>
          <a:prstGeom prst="rect">
            <a:avLst/>
          </a:prstGeom>
          <a:noFill/>
        </p:spPr>
        <p:txBody>
          <a:bodyPr wrap="square" rtlCol="0">
            <a:spAutoFit/>
          </a:bodyPr>
          <a:lstStyle/>
          <a:p>
            <a:pPr algn="ctr"/>
            <a:r>
              <a:rPr lang="es-CL" sz="1000" b="1" dirty="0" smtClean="0"/>
              <a:t>Comunicación PLC</a:t>
            </a:r>
            <a:endParaRPr lang="es-CL" sz="1000" b="1" dirty="0"/>
          </a:p>
        </p:txBody>
      </p:sp>
      <p:sp>
        <p:nvSpPr>
          <p:cNvPr id="52" name="Rectángulo redondeado 51"/>
          <p:cNvSpPr/>
          <p:nvPr/>
        </p:nvSpPr>
        <p:spPr>
          <a:xfrm>
            <a:off x="3159866" y="1120878"/>
            <a:ext cx="4205743" cy="551589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7" name="CuadroTexto 56"/>
          <p:cNvSpPr txBox="1"/>
          <p:nvPr/>
        </p:nvSpPr>
        <p:spPr>
          <a:xfrm>
            <a:off x="3405025" y="5543170"/>
            <a:ext cx="2670611" cy="307777"/>
          </a:xfrm>
          <a:prstGeom prst="rect">
            <a:avLst/>
          </a:prstGeom>
          <a:noFill/>
        </p:spPr>
        <p:txBody>
          <a:bodyPr wrap="square" rtlCol="0">
            <a:spAutoFit/>
          </a:bodyPr>
          <a:lstStyle/>
          <a:p>
            <a:r>
              <a:rPr lang="es-CL" sz="1400" b="1" dirty="0" smtClean="0"/>
              <a:t>PACK MONITOREO</a:t>
            </a:r>
            <a:endParaRPr lang="es-CL" sz="1400" b="1" dirty="0"/>
          </a:p>
        </p:txBody>
      </p:sp>
      <p:sp>
        <p:nvSpPr>
          <p:cNvPr id="58" name="Rectángulo redondeado 57"/>
          <p:cNvSpPr/>
          <p:nvPr/>
        </p:nvSpPr>
        <p:spPr>
          <a:xfrm>
            <a:off x="357836" y="2875934"/>
            <a:ext cx="1680107"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9" name="CuadroTexto 58"/>
          <p:cNvSpPr txBox="1"/>
          <p:nvPr/>
        </p:nvSpPr>
        <p:spPr>
          <a:xfrm>
            <a:off x="357836" y="5543170"/>
            <a:ext cx="1856781" cy="307777"/>
          </a:xfrm>
          <a:prstGeom prst="rect">
            <a:avLst/>
          </a:prstGeom>
          <a:noFill/>
        </p:spPr>
        <p:txBody>
          <a:bodyPr wrap="square" rtlCol="0">
            <a:spAutoFit/>
          </a:bodyPr>
          <a:lstStyle/>
          <a:p>
            <a:r>
              <a:rPr lang="es-CL" sz="1400" b="1" dirty="0" smtClean="0"/>
              <a:t>UM</a:t>
            </a:r>
            <a:endParaRPr lang="es-CL" sz="1400" b="1" dirty="0"/>
          </a:p>
        </p:txBody>
      </p:sp>
      <p:sp>
        <p:nvSpPr>
          <p:cNvPr id="79" name="Elipse 78"/>
          <p:cNvSpPr/>
          <p:nvPr/>
        </p:nvSpPr>
        <p:spPr>
          <a:xfrm>
            <a:off x="2469685" y="3682959"/>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1" name="Elipse 80"/>
          <p:cNvSpPr/>
          <p:nvPr/>
        </p:nvSpPr>
        <p:spPr>
          <a:xfrm>
            <a:off x="7636107" y="3682959"/>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p:cNvSpPr txBox="1"/>
          <p:nvPr/>
        </p:nvSpPr>
        <p:spPr>
          <a:xfrm>
            <a:off x="2360090" y="426810"/>
            <a:ext cx="2813334" cy="369332"/>
          </a:xfrm>
          <a:prstGeom prst="rect">
            <a:avLst/>
          </a:prstGeom>
          <a:noFill/>
        </p:spPr>
        <p:txBody>
          <a:bodyPr wrap="none" rtlCol="0">
            <a:spAutoFit/>
          </a:bodyPr>
          <a:lstStyle/>
          <a:p>
            <a:r>
              <a:rPr lang="es-CL" dirty="0" smtClean="0"/>
              <a:t>Maqueta LVM - SmartMeter</a:t>
            </a:r>
            <a:endParaRPr lang="es-CL" dirty="0"/>
          </a:p>
        </p:txBody>
      </p:sp>
      <p:sp>
        <p:nvSpPr>
          <p:cNvPr id="44" name="Rectángulo 43"/>
          <p:cNvSpPr/>
          <p:nvPr/>
        </p:nvSpPr>
        <p:spPr>
          <a:xfrm>
            <a:off x="6256152" y="1594924"/>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SL7000</a:t>
            </a:r>
            <a:endParaRPr lang="es-CL" dirty="0"/>
          </a:p>
        </p:txBody>
      </p:sp>
      <p:sp>
        <p:nvSpPr>
          <p:cNvPr id="46" name="Rectángulo 45"/>
          <p:cNvSpPr/>
          <p:nvPr/>
        </p:nvSpPr>
        <p:spPr>
          <a:xfrm>
            <a:off x="6431389" y="2268064"/>
            <a:ext cx="591634" cy="29787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800" dirty="0" smtClean="0"/>
              <a:t>RS232</a:t>
            </a:r>
            <a:endParaRPr lang="es-CL" sz="800" dirty="0"/>
          </a:p>
        </p:txBody>
      </p:sp>
      <p:cxnSp>
        <p:nvCxnSpPr>
          <p:cNvPr id="16" name="Conector recto de flecha 15"/>
          <p:cNvCxnSpPr>
            <a:stCxn id="46" idx="2"/>
            <a:endCxn id="8" idx="0"/>
          </p:cNvCxnSpPr>
          <p:nvPr/>
        </p:nvCxnSpPr>
        <p:spPr>
          <a:xfrm>
            <a:off x="6727206" y="2565938"/>
            <a:ext cx="2" cy="14252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CuadroTexto 52"/>
          <p:cNvSpPr txBox="1"/>
          <p:nvPr/>
        </p:nvSpPr>
        <p:spPr>
          <a:xfrm>
            <a:off x="5992467" y="2638903"/>
            <a:ext cx="805006" cy="400110"/>
          </a:xfrm>
          <a:prstGeom prst="rect">
            <a:avLst/>
          </a:prstGeom>
          <a:noFill/>
        </p:spPr>
        <p:txBody>
          <a:bodyPr wrap="square" rtlCol="0">
            <a:spAutoFit/>
          </a:bodyPr>
          <a:lstStyle/>
          <a:p>
            <a:pPr algn="ctr"/>
            <a:r>
              <a:rPr lang="es-CL" sz="1000" b="1" dirty="0" smtClean="0"/>
              <a:t>Conexión </a:t>
            </a:r>
            <a:r>
              <a:rPr lang="es-CL" sz="1000" b="1" dirty="0" smtClean="0"/>
              <a:t>Serie</a:t>
            </a:r>
            <a:endParaRPr lang="es-CL" sz="1000" b="1" dirty="0"/>
          </a:p>
        </p:txBody>
      </p:sp>
      <p:sp>
        <p:nvSpPr>
          <p:cNvPr id="18" name="CuadroTexto 17"/>
          <p:cNvSpPr txBox="1"/>
          <p:nvPr/>
        </p:nvSpPr>
        <p:spPr>
          <a:xfrm>
            <a:off x="5760949" y="4998311"/>
            <a:ext cx="1521571" cy="1200329"/>
          </a:xfrm>
          <a:prstGeom prst="rect">
            <a:avLst/>
          </a:prstGeom>
          <a:noFill/>
        </p:spPr>
        <p:txBody>
          <a:bodyPr wrap="none" rtlCol="0">
            <a:spAutoFit/>
          </a:bodyPr>
          <a:lstStyle/>
          <a:p>
            <a:pPr algn="r"/>
            <a:r>
              <a:rPr lang="es-CL" sz="900" b="1" dirty="0" smtClean="0"/>
              <a:t>IP Router: 10.117.65.XX</a:t>
            </a:r>
            <a:endParaRPr lang="es-CL" sz="900" b="1" dirty="0" smtClean="0"/>
          </a:p>
          <a:p>
            <a:pPr algn="r"/>
            <a:r>
              <a:rPr lang="es-CL" sz="900" b="1" dirty="0" smtClean="0"/>
              <a:t>Puerto Servicio SL7000: XX</a:t>
            </a:r>
            <a:endParaRPr lang="es-CL" sz="900" b="1" dirty="0" smtClean="0"/>
          </a:p>
          <a:p>
            <a:pPr algn="r"/>
            <a:r>
              <a:rPr lang="es-CL" sz="900" b="1" dirty="0" smtClean="0"/>
              <a:t>Puerto servicio LVM: 50000</a:t>
            </a:r>
            <a:endParaRPr lang="es-CL" sz="900" b="1" dirty="0" smtClean="0"/>
          </a:p>
          <a:p>
            <a:pPr algn="r"/>
            <a:r>
              <a:rPr lang="es-CL" sz="900" b="1" dirty="0" smtClean="0"/>
              <a:t>50001</a:t>
            </a:r>
            <a:endParaRPr lang="es-CL" sz="900" b="1" dirty="0" smtClean="0"/>
          </a:p>
          <a:p>
            <a:pPr algn="r"/>
            <a:r>
              <a:rPr lang="es-CL" sz="900" b="1" dirty="0" smtClean="0"/>
              <a:t>50002</a:t>
            </a:r>
            <a:endParaRPr lang="es-CL" sz="900" b="1" dirty="0" smtClean="0"/>
          </a:p>
          <a:p>
            <a:pPr algn="r"/>
            <a:r>
              <a:rPr lang="es-CL" sz="900" b="1" dirty="0" smtClean="0"/>
              <a:t>50003</a:t>
            </a:r>
            <a:endParaRPr lang="es-CL" sz="900" b="1" dirty="0" smtClean="0"/>
          </a:p>
          <a:p>
            <a:pPr algn="r"/>
            <a:r>
              <a:rPr lang="es-CL" sz="900" b="1" dirty="0" smtClean="0"/>
              <a:t>21</a:t>
            </a:r>
            <a:endParaRPr lang="es-CL" sz="900" b="1" dirty="0" smtClean="0"/>
          </a:p>
          <a:p>
            <a:pPr algn="r"/>
            <a:r>
              <a:rPr lang="es-CL" sz="900" b="1" dirty="0" smtClean="0"/>
              <a:t>22</a:t>
            </a:r>
            <a:endParaRPr lang="es-CL" sz="900" b="1" dirty="0"/>
          </a:p>
        </p:txBody>
      </p:sp>
      <p:sp>
        <p:nvSpPr>
          <p:cNvPr id="19" name="Rectángulo redondeado 18"/>
          <p:cNvSpPr/>
          <p:nvPr/>
        </p:nvSpPr>
        <p:spPr>
          <a:xfrm>
            <a:off x="9686283" y="3028198"/>
            <a:ext cx="1686464" cy="1297111"/>
          </a:xfrm>
          <a:prstGeom prst="roundRect">
            <a:avLst/>
          </a:prstGeom>
          <a:solidFill>
            <a:srgbClr val="FFC00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Starbeat</a:t>
            </a:r>
            <a:endParaRPr lang="es-CL" dirty="0"/>
          </a:p>
        </p:txBody>
      </p:sp>
      <p:sp>
        <p:nvSpPr>
          <p:cNvPr id="56" name="Rectángulo redondeado 55"/>
          <p:cNvSpPr/>
          <p:nvPr/>
        </p:nvSpPr>
        <p:spPr>
          <a:xfrm>
            <a:off x="9694416" y="4313337"/>
            <a:ext cx="1686464" cy="1297111"/>
          </a:xfrm>
          <a:prstGeom prst="roundRect">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SMMePLUS</a:t>
            </a:r>
            <a:endParaRPr lang="es-CL" dirty="0"/>
          </a:p>
        </p:txBody>
      </p:sp>
      <p:sp>
        <p:nvSpPr>
          <p:cNvPr id="21" name="Forma libre 20"/>
          <p:cNvSpPr/>
          <p:nvPr/>
        </p:nvSpPr>
        <p:spPr>
          <a:xfrm>
            <a:off x="6843252" y="2610465"/>
            <a:ext cx="2698954" cy="1224116"/>
          </a:xfrm>
          <a:custGeom>
            <a:avLst/>
            <a:gdLst>
              <a:gd name="connsiteX0" fmla="*/ 0 w 2698954"/>
              <a:gd name="connsiteY0" fmla="*/ 0 h 1224116"/>
              <a:gd name="connsiteX1" fmla="*/ 14748 w 2698954"/>
              <a:gd name="connsiteY1" fmla="*/ 589935 h 1224116"/>
              <a:gd name="connsiteX2" fmla="*/ 29496 w 2698954"/>
              <a:gd name="connsiteY2" fmla="*/ 678425 h 1224116"/>
              <a:gd name="connsiteX3" fmla="*/ 58993 w 2698954"/>
              <a:gd name="connsiteY3" fmla="*/ 766916 h 1224116"/>
              <a:gd name="connsiteX4" fmla="*/ 73742 w 2698954"/>
              <a:gd name="connsiteY4" fmla="*/ 811161 h 1224116"/>
              <a:gd name="connsiteX5" fmla="*/ 88490 w 2698954"/>
              <a:gd name="connsiteY5" fmla="*/ 855406 h 1224116"/>
              <a:gd name="connsiteX6" fmla="*/ 162232 w 2698954"/>
              <a:gd name="connsiteY6" fmla="*/ 988141 h 1224116"/>
              <a:gd name="connsiteX7" fmla="*/ 250722 w 2698954"/>
              <a:gd name="connsiteY7" fmla="*/ 1047135 h 1224116"/>
              <a:gd name="connsiteX8" fmla="*/ 412954 w 2698954"/>
              <a:gd name="connsiteY8" fmla="*/ 1091380 h 1224116"/>
              <a:gd name="connsiteX9" fmla="*/ 589935 w 2698954"/>
              <a:gd name="connsiteY9" fmla="*/ 1135625 h 1224116"/>
              <a:gd name="connsiteX10" fmla="*/ 781664 w 2698954"/>
              <a:gd name="connsiteY10" fmla="*/ 1179870 h 1224116"/>
              <a:gd name="connsiteX11" fmla="*/ 855406 w 2698954"/>
              <a:gd name="connsiteY11" fmla="*/ 1194619 h 1224116"/>
              <a:gd name="connsiteX12" fmla="*/ 899651 w 2698954"/>
              <a:gd name="connsiteY12" fmla="*/ 1209367 h 1224116"/>
              <a:gd name="connsiteX13" fmla="*/ 1253613 w 2698954"/>
              <a:gd name="connsiteY13" fmla="*/ 1224116 h 1224116"/>
              <a:gd name="connsiteX14" fmla="*/ 2698954 w 2698954"/>
              <a:gd name="connsiteY14" fmla="*/ 1224116 h 1224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98954" h="1224116">
                <a:moveTo>
                  <a:pt x="0" y="0"/>
                </a:moveTo>
                <a:cubicBezTo>
                  <a:pt x="4916" y="196645"/>
                  <a:pt x="6204" y="393414"/>
                  <a:pt x="14748" y="589935"/>
                </a:cubicBezTo>
                <a:cubicBezTo>
                  <a:pt x="16047" y="619810"/>
                  <a:pt x="22243" y="649414"/>
                  <a:pt x="29496" y="678425"/>
                </a:cubicBezTo>
                <a:cubicBezTo>
                  <a:pt x="37037" y="708589"/>
                  <a:pt x="49161" y="737419"/>
                  <a:pt x="58993" y="766916"/>
                </a:cubicBezTo>
                <a:lnTo>
                  <a:pt x="73742" y="811161"/>
                </a:lnTo>
                <a:lnTo>
                  <a:pt x="88490" y="855406"/>
                </a:lnTo>
                <a:cubicBezTo>
                  <a:pt x="103859" y="901514"/>
                  <a:pt x="118762" y="959161"/>
                  <a:pt x="162232" y="988141"/>
                </a:cubicBezTo>
                <a:cubicBezTo>
                  <a:pt x="191729" y="1007806"/>
                  <a:pt x="217091" y="1035925"/>
                  <a:pt x="250722" y="1047135"/>
                </a:cubicBezTo>
                <a:cubicBezTo>
                  <a:pt x="518138" y="1136274"/>
                  <a:pt x="183646" y="1028842"/>
                  <a:pt x="412954" y="1091380"/>
                </a:cubicBezTo>
                <a:cubicBezTo>
                  <a:pt x="596590" y="1141462"/>
                  <a:pt x="406553" y="1105062"/>
                  <a:pt x="589935" y="1135625"/>
                </a:cubicBezTo>
                <a:cubicBezTo>
                  <a:pt x="728531" y="1181824"/>
                  <a:pt x="628496" y="1154342"/>
                  <a:pt x="781664" y="1179870"/>
                </a:cubicBezTo>
                <a:cubicBezTo>
                  <a:pt x="806390" y="1183991"/>
                  <a:pt x="831087" y="1188539"/>
                  <a:pt x="855406" y="1194619"/>
                </a:cubicBezTo>
                <a:cubicBezTo>
                  <a:pt x="870488" y="1198390"/>
                  <a:pt x="884147" y="1208219"/>
                  <a:pt x="899651" y="1209367"/>
                </a:cubicBezTo>
                <a:cubicBezTo>
                  <a:pt x="1017418" y="1218091"/>
                  <a:pt x="1135527" y="1223148"/>
                  <a:pt x="1253613" y="1224116"/>
                </a:cubicBezTo>
                <a:lnTo>
                  <a:pt x="2698954" y="1224116"/>
                </a:lnTo>
              </a:path>
            </a:pathLst>
          </a:cu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7" name="Forma libre 26"/>
          <p:cNvSpPr/>
          <p:nvPr/>
        </p:nvSpPr>
        <p:spPr>
          <a:xfrm>
            <a:off x="1002890" y="4778477"/>
            <a:ext cx="8613058" cy="442452"/>
          </a:xfrm>
          <a:custGeom>
            <a:avLst/>
            <a:gdLst>
              <a:gd name="connsiteX0" fmla="*/ 8613058 w 8613058"/>
              <a:gd name="connsiteY0" fmla="*/ 442452 h 442452"/>
              <a:gd name="connsiteX1" fmla="*/ 8391833 w 8613058"/>
              <a:gd name="connsiteY1" fmla="*/ 398207 h 442452"/>
              <a:gd name="connsiteX2" fmla="*/ 8214852 w 8613058"/>
              <a:gd name="connsiteY2" fmla="*/ 339213 h 442452"/>
              <a:gd name="connsiteX3" fmla="*/ 8126362 w 8613058"/>
              <a:gd name="connsiteY3" fmla="*/ 324465 h 442452"/>
              <a:gd name="connsiteX4" fmla="*/ 8052620 w 8613058"/>
              <a:gd name="connsiteY4" fmla="*/ 309717 h 442452"/>
              <a:gd name="connsiteX5" fmla="*/ 7949381 w 8613058"/>
              <a:gd name="connsiteY5" fmla="*/ 294968 h 442452"/>
              <a:gd name="connsiteX6" fmla="*/ 7831394 w 8613058"/>
              <a:gd name="connsiteY6" fmla="*/ 265471 h 442452"/>
              <a:gd name="connsiteX7" fmla="*/ 7565923 w 8613058"/>
              <a:gd name="connsiteY7" fmla="*/ 235975 h 442452"/>
              <a:gd name="connsiteX8" fmla="*/ 7462684 w 8613058"/>
              <a:gd name="connsiteY8" fmla="*/ 206478 h 442452"/>
              <a:gd name="connsiteX9" fmla="*/ 7344697 w 8613058"/>
              <a:gd name="connsiteY9" fmla="*/ 191729 h 442452"/>
              <a:gd name="connsiteX10" fmla="*/ 7064478 w 8613058"/>
              <a:gd name="connsiteY10" fmla="*/ 162233 h 442452"/>
              <a:gd name="connsiteX11" fmla="*/ 6769510 w 8613058"/>
              <a:gd name="connsiteY11" fmla="*/ 132736 h 442452"/>
              <a:gd name="connsiteX12" fmla="*/ 6636775 w 8613058"/>
              <a:gd name="connsiteY12" fmla="*/ 103239 h 442452"/>
              <a:gd name="connsiteX13" fmla="*/ 6445045 w 8613058"/>
              <a:gd name="connsiteY13" fmla="*/ 88491 h 442452"/>
              <a:gd name="connsiteX14" fmla="*/ 6356555 w 8613058"/>
              <a:gd name="connsiteY14" fmla="*/ 58994 h 442452"/>
              <a:gd name="connsiteX15" fmla="*/ 6150078 w 8613058"/>
              <a:gd name="connsiteY15" fmla="*/ 44246 h 442452"/>
              <a:gd name="connsiteX16" fmla="*/ 5884607 w 8613058"/>
              <a:gd name="connsiteY16" fmla="*/ 73742 h 442452"/>
              <a:gd name="connsiteX17" fmla="*/ 5766620 w 8613058"/>
              <a:gd name="connsiteY17" fmla="*/ 88491 h 442452"/>
              <a:gd name="connsiteX18" fmla="*/ 4984955 w 8613058"/>
              <a:gd name="connsiteY18" fmla="*/ 73742 h 442452"/>
              <a:gd name="connsiteX19" fmla="*/ 4896465 w 8613058"/>
              <a:gd name="connsiteY19" fmla="*/ 58994 h 442452"/>
              <a:gd name="connsiteX20" fmla="*/ 4837471 w 8613058"/>
              <a:gd name="connsiteY20" fmla="*/ 44246 h 442452"/>
              <a:gd name="connsiteX21" fmla="*/ 4601497 w 8613058"/>
              <a:gd name="connsiteY21" fmla="*/ 29497 h 442452"/>
              <a:gd name="connsiteX22" fmla="*/ 4306529 w 8613058"/>
              <a:gd name="connsiteY22" fmla="*/ 0 h 442452"/>
              <a:gd name="connsiteX23" fmla="*/ 1946787 w 8613058"/>
              <a:gd name="connsiteY23" fmla="*/ 14749 h 442452"/>
              <a:gd name="connsiteX24" fmla="*/ 1843549 w 8613058"/>
              <a:gd name="connsiteY24" fmla="*/ 29497 h 442452"/>
              <a:gd name="connsiteX25" fmla="*/ 1415845 w 8613058"/>
              <a:gd name="connsiteY25" fmla="*/ 44246 h 442452"/>
              <a:gd name="connsiteX26" fmla="*/ 1268362 w 8613058"/>
              <a:gd name="connsiteY26" fmla="*/ 58994 h 442452"/>
              <a:gd name="connsiteX27" fmla="*/ 1209368 w 8613058"/>
              <a:gd name="connsiteY27" fmla="*/ 73742 h 442452"/>
              <a:gd name="connsiteX28" fmla="*/ 1120878 w 8613058"/>
              <a:gd name="connsiteY28" fmla="*/ 88491 h 442452"/>
              <a:gd name="connsiteX29" fmla="*/ 1002891 w 8613058"/>
              <a:gd name="connsiteY29" fmla="*/ 103239 h 442452"/>
              <a:gd name="connsiteX30" fmla="*/ 914400 w 8613058"/>
              <a:gd name="connsiteY30" fmla="*/ 117988 h 442452"/>
              <a:gd name="connsiteX31" fmla="*/ 737420 w 8613058"/>
              <a:gd name="connsiteY31" fmla="*/ 147484 h 442452"/>
              <a:gd name="connsiteX32" fmla="*/ 634181 w 8613058"/>
              <a:gd name="connsiteY32" fmla="*/ 176981 h 442452"/>
              <a:gd name="connsiteX33" fmla="*/ 486697 w 8613058"/>
              <a:gd name="connsiteY33" fmla="*/ 206478 h 442452"/>
              <a:gd name="connsiteX34" fmla="*/ 398207 w 8613058"/>
              <a:gd name="connsiteY34" fmla="*/ 235975 h 442452"/>
              <a:gd name="connsiteX35" fmla="*/ 265471 w 8613058"/>
              <a:gd name="connsiteY35" fmla="*/ 221226 h 442452"/>
              <a:gd name="connsiteX36" fmla="*/ 176981 w 8613058"/>
              <a:gd name="connsiteY36" fmla="*/ 191729 h 442452"/>
              <a:gd name="connsiteX37" fmla="*/ 0 w 8613058"/>
              <a:gd name="connsiteY37" fmla="*/ 176981 h 44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613058" h="442452">
                <a:moveTo>
                  <a:pt x="8613058" y="442452"/>
                </a:moveTo>
                <a:cubicBezTo>
                  <a:pt x="8539316" y="427704"/>
                  <a:pt x="8463176" y="421988"/>
                  <a:pt x="8391833" y="398207"/>
                </a:cubicBezTo>
                <a:cubicBezTo>
                  <a:pt x="8332839" y="378542"/>
                  <a:pt x="8276191" y="349436"/>
                  <a:pt x="8214852" y="339213"/>
                </a:cubicBezTo>
                <a:lnTo>
                  <a:pt x="8126362" y="324465"/>
                </a:lnTo>
                <a:cubicBezTo>
                  <a:pt x="8101699" y="319981"/>
                  <a:pt x="8077346" y="313838"/>
                  <a:pt x="8052620" y="309717"/>
                </a:cubicBezTo>
                <a:cubicBezTo>
                  <a:pt x="8018331" y="304002"/>
                  <a:pt x="7983468" y="301786"/>
                  <a:pt x="7949381" y="294968"/>
                </a:cubicBezTo>
                <a:cubicBezTo>
                  <a:pt x="7909629" y="287017"/>
                  <a:pt x="7871462" y="271635"/>
                  <a:pt x="7831394" y="265471"/>
                </a:cubicBezTo>
                <a:cubicBezTo>
                  <a:pt x="7743394" y="251933"/>
                  <a:pt x="7565923" y="235975"/>
                  <a:pt x="7565923" y="235975"/>
                </a:cubicBezTo>
                <a:cubicBezTo>
                  <a:pt x="7531510" y="226143"/>
                  <a:pt x="7497779" y="213497"/>
                  <a:pt x="7462684" y="206478"/>
                </a:cubicBezTo>
                <a:cubicBezTo>
                  <a:pt x="7423819" y="198705"/>
                  <a:pt x="7384090" y="196106"/>
                  <a:pt x="7344697" y="191729"/>
                </a:cubicBezTo>
                <a:lnTo>
                  <a:pt x="7064478" y="162233"/>
                </a:lnTo>
                <a:cubicBezTo>
                  <a:pt x="6688940" y="124679"/>
                  <a:pt x="7094740" y="168872"/>
                  <a:pt x="6769510" y="132736"/>
                </a:cubicBezTo>
                <a:cubicBezTo>
                  <a:pt x="6725265" y="122904"/>
                  <a:pt x="6681684" y="109363"/>
                  <a:pt x="6636775" y="103239"/>
                </a:cubicBezTo>
                <a:cubicBezTo>
                  <a:pt x="6573264" y="94578"/>
                  <a:pt x="6508359" y="98488"/>
                  <a:pt x="6445045" y="88491"/>
                </a:cubicBezTo>
                <a:cubicBezTo>
                  <a:pt x="6414333" y="83642"/>
                  <a:pt x="6387568" y="61209"/>
                  <a:pt x="6356555" y="58994"/>
                </a:cubicBezTo>
                <a:lnTo>
                  <a:pt x="6150078" y="44246"/>
                </a:lnTo>
                <a:lnTo>
                  <a:pt x="5884607" y="73742"/>
                </a:lnTo>
                <a:cubicBezTo>
                  <a:pt x="5845233" y="78285"/>
                  <a:pt x="5806255" y="88491"/>
                  <a:pt x="5766620" y="88491"/>
                </a:cubicBezTo>
                <a:cubicBezTo>
                  <a:pt x="5506019" y="88491"/>
                  <a:pt x="5245510" y="78658"/>
                  <a:pt x="4984955" y="73742"/>
                </a:cubicBezTo>
                <a:cubicBezTo>
                  <a:pt x="4955458" y="68826"/>
                  <a:pt x="4925788" y="64858"/>
                  <a:pt x="4896465" y="58994"/>
                </a:cubicBezTo>
                <a:cubicBezTo>
                  <a:pt x="4876589" y="55019"/>
                  <a:pt x="4857640" y="46263"/>
                  <a:pt x="4837471" y="44246"/>
                </a:cubicBezTo>
                <a:cubicBezTo>
                  <a:pt x="4759051" y="36404"/>
                  <a:pt x="4680036" y="36042"/>
                  <a:pt x="4601497" y="29497"/>
                </a:cubicBezTo>
                <a:cubicBezTo>
                  <a:pt x="4503025" y="21291"/>
                  <a:pt x="4306529" y="0"/>
                  <a:pt x="4306529" y="0"/>
                </a:cubicBezTo>
                <a:lnTo>
                  <a:pt x="1946787" y="14749"/>
                </a:lnTo>
                <a:cubicBezTo>
                  <a:pt x="1912027" y="15165"/>
                  <a:pt x="1878258" y="27569"/>
                  <a:pt x="1843549" y="29497"/>
                </a:cubicBezTo>
                <a:cubicBezTo>
                  <a:pt x="1701116" y="37410"/>
                  <a:pt x="1558413" y="39330"/>
                  <a:pt x="1415845" y="44246"/>
                </a:cubicBezTo>
                <a:cubicBezTo>
                  <a:pt x="1366684" y="49162"/>
                  <a:pt x="1317272" y="52007"/>
                  <a:pt x="1268362" y="58994"/>
                </a:cubicBezTo>
                <a:cubicBezTo>
                  <a:pt x="1248296" y="61861"/>
                  <a:pt x="1229244" y="69767"/>
                  <a:pt x="1209368" y="73742"/>
                </a:cubicBezTo>
                <a:cubicBezTo>
                  <a:pt x="1180045" y="79607"/>
                  <a:pt x="1150481" y="84262"/>
                  <a:pt x="1120878" y="88491"/>
                </a:cubicBezTo>
                <a:cubicBezTo>
                  <a:pt x="1081641" y="94096"/>
                  <a:pt x="1042128" y="97634"/>
                  <a:pt x="1002891" y="103239"/>
                </a:cubicBezTo>
                <a:cubicBezTo>
                  <a:pt x="973288" y="107468"/>
                  <a:pt x="943956" y="113441"/>
                  <a:pt x="914400" y="117988"/>
                </a:cubicBezTo>
                <a:cubicBezTo>
                  <a:pt x="849474" y="127977"/>
                  <a:pt x="799727" y="131907"/>
                  <a:pt x="737420" y="147484"/>
                </a:cubicBezTo>
                <a:cubicBezTo>
                  <a:pt x="624955" y="175600"/>
                  <a:pt x="772132" y="149391"/>
                  <a:pt x="634181" y="176981"/>
                </a:cubicBezTo>
                <a:cubicBezTo>
                  <a:pt x="554445" y="192928"/>
                  <a:pt x="555215" y="185922"/>
                  <a:pt x="486697" y="206478"/>
                </a:cubicBezTo>
                <a:cubicBezTo>
                  <a:pt x="456916" y="215412"/>
                  <a:pt x="398207" y="235975"/>
                  <a:pt x="398207" y="235975"/>
                </a:cubicBezTo>
                <a:cubicBezTo>
                  <a:pt x="353962" y="231059"/>
                  <a:pt x="309124" y="229957"/>
                  <a:pt x="265471" y="221226"/>
                </a:cubicBezTo>
                <a:cubicBezTo>
                  <a:pt x="234983" y="215128"/>
                  <a:pt x="207761" y="196126"/>
                  <a:pt x="176981" y="191729"/>
                </a:cubicBezTo>
                <a:cubicBezTo>
                  <a:pt x="49408" y="173505"/>
                  <a:pt x="108504" y="176981"/>
                  <a:pt x="0" y="176981"/>
                </a:cubicBezTo>
              </a:path>
            </a:pathLst>
          </a:cu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572521" y="2418762"/>
            <a:ext cx="942109"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UM</a:t>
            </a:r>
            <a:endParaRPr lang="es-CL" dirty="0"/>
          </a:p>
        </p:txBody>
      </p:sp>
      <p:sp>
        <p:nvSpPr>
          <p:cNvPr id="6" name="Rectángulo redondeado 5"/>
          <p:cNvSpPr/>
          <p:nvPr/>
        </p:nvSpPr>
        <p:spPr>
          <a:xfrm>
            <a:off x="9397280" y="1523863"/>
            <a:ext cx="1678331" cy="25702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smtClean="0"/>
              <a:t>Sistema de Gestion y Operación</a:t>
            </a:r>
            <a:endParaRPr lang="es-CL" dirty="0" smtClean="0"/>
          </a:p>
          <a:p>
            <a:pPr algn="ctr"/>
            <a:r>
              <a:rPr lang="es-CL" dirty="0" smtClean="0"/>
              <a:t>(HES)</a:t>
            </a:r>
            <a:endParaRPr lang="es-CL" dirty="0"/>
          </a:p>
        </p:txBody>
      </p:sp>
      <p:sp>
        <p:nvSpPr>
          <p:cNvPr id="7" name="Rectángulo 6"/>
          <p:cNvSpPr/>
          <p:nvPr/>
        </p:nvSpPr>
        <p:spPr>
          <a:xfrm>
            <a:off x="8157734" y="2178623"/>
            <a:ext cx="410442" cy="12607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400" b="1" dirty="0" smtClean="0"/>
              <a:t>DMZ</a:t>
            </a:r>
            <a:endParaRPr lang="es-CL" sz="1400" b="1" dirty="0" smtClean="0"/>
          </a:p>
        </p:txBody>
      </p:sp>
      <p:sp>
        <p:nvSpPr>
          <p:cNvPr id="8" name="Rectángulo 7"/>
          <p:cNvSpPr/>
          <p:nvPr/>
        </p:nvSpPr>
        <p:spPr>
          <a:xfrm>
            <a:off x="6097834" y="2486882"/>
            <a:ext cx="664475" cy="64423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100" b="1" dirty="0" smtClean="0"/>
              <a:t>Router Externo</a:t>
            </a:r>
            <a:endParaRPr lang="es-CL" sz="1100" b="1" dirty="0"/>
          </a:p>
        </p:txBody>
      </p:sp>
      <p:cxnSp>
        <p:nvCxnSpPr>
          <p:cNvPr id="15" name="Conector recto de flecha 14"/>
          <p:cNvCxnSpPr>
            <a:stCxn id="7" idx="3"/>
            <a:endCxn id="6" idx="1"/>
          </p:cNvCxnSpPr>
          <p:nvPr/>
        </p:nvCxnSpPr>
        <p:spPr>
          <a:xfrm flipV="1">
            <a:off x="8568176" y="2809002"/>
            <a:ext cx="829104" cy="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8568088" y="2612731"/>
            <a:ext cx="821059" cy="246221"/>
          </a:xfrm>
          <a:prstGeom prst="rect">
            <a:avLst/>
          </a:prstGeom>
          <a:noFill/>
        </p:spPr>
        <p:txBody>
          <a:bodyPr wrap="none" rtlCol="0">
            <a:spAutoFit/>
          </a:bodyPr>
          <a:lstStyle/>
          <a:p>
            <a:pPr algn="ctr"/>
            <a:r>
              <a:rPr lang="es-CL" sz="1000" b="1" dirty="0" smtClean="0"/>
              <a:t>Red IP Local</a:t>
            </a:r>
            <a:endParaRPr lang="es-CL" sz="1000" b="1" dirty="0" smtClean="0"/>
          </a:p>
        </p:txBody>
      </p:sp>
      <p:cxnSp>
        <p:nvCxnSpPr>
          <p:cNvPr id="22" name="Conector recto de flecha 21"/>
          <p:cNvCxnSpPr>
            <a:stCxn id="8" idx="3"/>
            <a:endCxn id="7" idx="1"/>
          </p:cNvCxnSpPr>
          <p:nvPr/>
        </p:nvCxnSpPr>
        <p:spPr>
          <a:xfrm>
            <a:off x="6762309" y="2809001"/>
            <a:ext cx="1395425" cy="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CuadroTexto 23"/>
          <p:cNvSpPr txBox="1"/>
          <p:nvPr/>
        </p:nvSpPr>
        <p:spPr>
          <a:xfrm>
            <a:off x="7068473" y="2473033"/>
            <a:ext cx="811440" cy="400110"/>
          </a:xfrm>
          <a:prstGeom prst="rect">
            <a:avLst/>
          </a:prstGeom>
          <a:noFill/>
        </p:spPr>
        <p:txBody>
          <a:bodyPr wrap="none" rtlCol="0">
            <a:spAutoFit/>
          </a:bodyPr>
          <a:lstStyle/>
          <a:p>
            <a:pPr algn="ctr"/>
            <a:r>
              <a:rPr lang="es-CL" sz="1000" b="1" dirty="0" smtClean="0"/>
              <a:t>Red Celular</a:t>
            </a:r>
            <a:endParaRPr lang="es-CL" sz="1000" b="1" dirty="0" smtClean="0"/>
          </a:p>
          <a:p>
            <a:pPr algn="ctr"/>
            <a:r>
              <a:rPr lang="es-CL" sz="1000" b="1" dirty="0" smtClean="0"/>
              <a:t>Operador</a:t>
            </a:r>
            <a:endParaRPr lang="es-CL" sz="1000" b="1" dirty="0"/>
          </a:p>
        </p:txBody>
      </p:sp>
      <p:sp>
        <p:nvSpPr>
          <p:cNvPr id="25" name="Rectángulo redondeado 24"/>
          <p:cNvSpPr/>
          <p:nvPr/>
        </p:nvSpPr>
        <p:spPr>
          <a:xfrm>
            <a:off x="8030198" y="1371599"/>
            <a:ext cx="3196602"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28" name="Conector recto de flecha 27"/>
          <p:cNvCxnSpPr/>
          <p:nvPr/>
        </p:nvCxnSpPr>
        <p:spPr>
          <a:xfrm flipV="1">
            <a:off x="5518953" y="2612786"/>
            <a:ext cx="575071" cy="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CuadroTexto 33"/>
          <p:cNvSpPr txBox="1"/>
          <p:nvPr/>
        </p:nvSpPr>
        <p:spPr>
          <a:xfrm>
            <a:off x="8157734" y="4038834"/>
            <a:ext cx="1856781" cy="307777"/>
          </a:xfrm>
          <a:prstGeom prst="rect">
            <a:avLst/>
          </a:prstGeom>
          <a:noFill/>
        </p:spPr>
        <p:txBody>
          <a:bodyPr wrap="square" rtlCol="0">
            <a:spAutoFit/>
          </a:bodyPr>
          <a:lstStyle/>
          <a:p>
            <a:r>
              <a:rPr lang="es-CL" sz="1400" b="1" dirty="0" smtClean="0"/>
              <a:t>Red interna Enel</a:t>
            </a:r>
            <a:endParaRPr lang="es-CL" sz="1400" b="1" dirty="0"/>
          </a:p>
        </p:txBody>
      </p:sp>
      <p:sp>
        <p:nvSpPr>
          <p:cNvPr id="35" name="CuadroTexto 34"/>
          <p:cNvSpPr txBox="1"/>
          <p:nvPr/>
        </p:nvSpPr>
        <p:spPr>
          <a:xfrm>
            <a:off x="5304155" y="2019935"/>
            <a:ext cx="1005205" cy="398780"/>
          </a:xfrm>
          <a:prstGeom prst="rect">
            <a:avLst/>
          </a:prstGeom>
          <a:noFill/>
        </p:spPr>
        <p:txBody>
          <a:bodyPr wrap="square" rtlCol="0">
            <a:spAutoFit/>
          </a:bodyPr>
          <a:lstStyle/>
          <a:p>
            <a:pPr algn="ctr"/>
            <a:r>
              <a:rPr lang="es-CL" sz="1000" b="1" dirty="0" smtClean="0"/>
              <a:t>Conexión Serial RS232/RS485</a:t>
            </a:r>
            <a:endParaRPr lang="es-CL" sz="1000" b="1" dirty="0"/>
          </a:p>
        </p:txBody>
      </p:sp>
      <p:sp>
        <p:nvSpPr>
          <p:cNvPr id="52" name="Rectángulo redondeado 51"/>
          <p:cNvSpPr/>
          <p:nvPr/>
        </p:nvSpPr>
        <p:spPr>
          <a:xfrm>
            <a:off x="4394200" y="1371598"/>
            <a:ext cx="2495644" cy="311150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7" name="CuadroTexto 56"/>
          <p:cNvSpPr txBox="1"/>
          <p:nvPr/>
        </p:nvSpPr>
        <p:spPr>
          <a:xfrm>
            <a:off x="4426027" y="4014061"/>
            <a:ext cx="2670611" cy="307777"/>
          </a:xfrm>
          <a:prstGeom prst="rect">
            <a:avLst/>
          </a:prstGeom>
          <a:noFill/>
        </p:spPr>
        <p:txBody>
          <a:bodyPr wrap="square" rtlCol="0">
            <a:spAutoFit/>
          </a:bodyPr>
          <a:lstStyle/>
          <a:p>
            <a:r>
              <a:rPr lang="es-CL" sz="1400" b="1" dirty="0" smtClean="0"/>
              <a:t>Instalación Subestación MT/BT</a:t>
            </a:r>
            <a:endParaRPr lang="es-CL" sz="1400" b="1" dirty="0"/>
          </a:p>
        </p:txBody>
      </p:sp>
      <p:sp>
        <p:nvSpPr>
          <p:cNvPr id="60" name="Rectángulo redondeado 59"/>
          <p:cNvSpPr/>
          <p:nvPr/>
        </p:nvSpPr>
        <p:spPr>
          <a:xfrm>
            <a:off x="3003273" y="4668396"/>
            <a:ext cx="777404" cy="3574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1000" dirty="0" smtClean="0"/>
              <a:t>Acceso Local</a:t>
            </a:r>
            <a:endParaRPr lang="es-CL" sz="1000" dirty="0"/>
          </a:p>
        </p:txBody>
      </p:sp>
      <p:cxnSp>
        <p:nvCxnSpPr>
          <p:cNvPr id="66" name="Conector recto de flecha 65"/>
          <p:cNvCxnSpPr/>
          <p:nvPr/>
        </p:nvCxnSpPr>
        <p:spPr>
          <a:xfrm flipH="1">
            <a:off x="3293331" y="3161708"/>
            <a:ext cx="1931241" cy="15066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CuadroTexto 69"/>
          <p:cNvSpPr txBox="1"/>
          <p:nvPr/>
        </p:nvSpPr>
        <p:spPr>
          <a:xfrm>
            <a:off x="3708225" y="4392231"/>
            <a:ext cx="805006" cy="400110"/>
          </a:xfrm>
          <a:prstGeom prst="rect">
            <a:avLst/>
          </a:prstGeom>
          <a:noFill/>
        </p:spPr>
        <p:txBody>
          <a:bodyPr wrap="square" rtlCol="0">
            <a:spAutoFit/>
          </a:bodyPr>
          <a:lstStyle/>
          <a:p>
            <a:pPr algn="ctr"/>
            <a:r>
              <a:rPr lang="es-CL" sz="1000" b="1" dirty="0" smtClean="0"/>
              <a:t>Sonda </a:t>
            </a:r>
            <a:r>
              <a:rPr lang="es-CL" sz="1000" b="1" dirty="0"/>
              <a:t>Ó</a:t>
            </a:r>
            <a:r>
              <a:rPr lang="es-CL" sz="1000" b="1" dirty="0" smtClean="0"/>
              <a:t>ptica</a:t>
            </a:r>
            <a:endParaRPr lang="es-CL" sz="1000" b="1" dirty="0"/>
          </a:p>
        </p:txBody>
      </p:sp>
      <p:sp>
        <p:nvSpPr>
          <p:cNvPr id="81" name="Elipse 80"/>
          <p:cNvSpPr/>
          <p:nvPr/>
        </p:nvSpPr>
        <p:spPr>
          <a:xfrm>
            <a:off x="7338971" y="2178623"/>
            <a:ext cx="187541" cy="12607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3" name="CuadroTexto 82"/>
          <p:cNvSpPr txBox="1"/>
          <p:nvPr/>
        </p:nvSpPr>
        <p:spPr>
          <a:xfrm>
            <a:off x="7270677" y="1886943"/>
            <a:ext cx="324128" cy="307777"/>
          </a:xfrm>
          <a:prstGeom prst="rect">
            <a:avLst/>
          </a:prstGeom>
          <a:noFill/>
        </p:spPr>
        <p:txBody>
          <a:bodyPr wrap="none" rtlCol="0">
            <a:spAutoFit/>
          </a:bodyPr>
          <a:lstStyle/>
          <a:p>
            <a:r>
              <a:rPr lang="es-CL" sz="1400" b="1" dirty="0" smtClean="0"/>
              <a:t>I2</a:t>
            </a:r>
            <a:endParaRPr lang="es-CL" sz="1400" b="1" dirty="0"/>
          </a:p>
        </p:txBody>
      </p:sp>
      <p:sp>
        <p:nvSpPr>
          <p:cNvPr id="84" name="CuadroTexto 83"/>
          <p:cNvSpPr txBox="1"/>
          <p:nvPr/>
        </p:nvSpPr>
        <p:spPr>
          <a:xfrm>
            <a:off x="3620945" y="3882218"/>
            <a:ext cx="324128" cy="307777"/>
          </a:xfrm>
          <a:prstGeom prst="rect">
            <a:avLst/>
          </a:prstGeom>
          <a:noFill/>
        </p:spPr>
        <p:txBody>
          <a:bodyPr wrap="square" rtlCol="0">
            <a:spAutoFit/>
          </a:bodyPr>
          <a:lstStyle/>
          <a:p>
            <a:r>
              <a:rPr lang="es-CL" sz="1400" b="1" dirty="0" smtClean="0"/>
              <a:t>I0</a:t>
            </a:r>
            <a:endParaRPr lang="es-CL" sz="1400" b="1" dirty="0"/>
          </a:p>
        </p:txBody>
      </p:sp>
      <p:sp>
        <p:nvSpPr>
          <p:cNvPr id="42" name="Elipse 41"/>
          <p:cNvSpPr/>
          <p:nvPr/>
        </p:nvSpPr>
        <p:spPr>
          <a:xfrm>
            <a:off x="3445385" y="4195194"/>
            <a:ext cx="796761" cy="2132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3" name="CuadroTexto 22"/>
          <p:cNvSpPr txBox="1"/>
          <p:nvPr/>
        </p:nvSpPr>
        <p:spPr>
          <a:xfrm>
            <a:off x="2360090" y="471055"/>
            <a:ext cx="5886868" cy="369332"/>
          </a:xfrm>
          <a:prstGeom prst="rect">
            <a:avLst/>
          </a:prstGeom>
          <a:noFill/>
        </p:spPr>
        <p:txBody>
          <a:bodyPr wrap="none" rtlCol="0">
            <a:spAutoFit/>
          </a:bodyPr>
          <a:lstStyle/>
          <a:p>
            <a:r>
              <a:rPr lang="es-CL" dirty="0" smtClean="0"/>
              <a:t>Sistema de Comunicaciones Solución Medidor Punto a Punto</a:t>
            </a:r>
            <a:endParaRPr lang="es-CL" dirty="0"/>
          </a:p>
        </p:txBody>
      </p:sp>
      <p:sp>
        <p:nvSpPr>
          <p:cNvPr id="26" name="CuadroTexto 25"/>
          <p:cNvSpPr txBox="1"/>
          <p:nvPr/>
        </p:nvSpPr>
        <p:spPr>
          <a:xfrm>
            <a:off x="9605382" y="5662982"/>
            <a:ext cx="1821845" cy="369332"/>
          </a:xfrm>
          <a:prstGeom prst="rect">
            <a:avLst/>
          </a:prstGeom>
          <a:noFill/>
        </p:spPr>
        <p:txBody>
          <a:bodyPr wrap="none" rtlCol="0">
            <a:spAutoFit/>
          </a:bodyPr>
          <a:lstStyle/>
          <a:p>
            <a:r>
              <a:rPr lang="es-CL" dirty="0" smtClean="0"/>
              <a:t>Actualización PFC</a:t>
            </a:r>
            <a:endParaRPr lang="es-CL" dirty="0"/>
          </a:p>
        </p:txBody>
      </p:sp>
      <p:cxnSp>
        <p:nvCxnSpPr>
          <p:cNvPr id="2" name="Conector recto de flecha 1"/>
          <p:cNvCxnSpPr/>
          <p:nvPr/>
        </p:nvCxnSpPr>
        <p:spPr>
          <a:xfrm flipV="1">
            <a:off x="5518953" y="2889646"/>
            <a:ext cx="575071" cy="2"/>
          </a:xfrm>
          <a:prstGeom prst="straightConnector1">
            <a:avLst/>
          </a:prstGeom>
          <a:ln>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uadroTexto 34"/>
          <p:cNvSpPr txBox="1"/>
          <p:nvPr/>
        </p:nvSpPr>
        <p:spPr>
          <a:xfrm>
            <a:off x="5314315" y="3040380"/>
            <a:ext cx="1005205" cy="398780"/>
          </a:xfrm>
          <a:prstGeom prst="rect">
            <a:avLst/>
          </a:prstGeom>
          <a:noFill/>
        </p:spPr>
        <p:txBody>
          <a:bodyPr wrap="square" rtlCol="0">
            <a:spAutoFit/>
          </a:bodyPr>
          <a:p>
            <a:pPr algn="ctr"/>
            <a:r>
              <a:rPr lang="es-CL" sz="1000" b="1" dirty="0" smtClean="0"/>
              <a:t>Conexión Ethernet</a:t>
            </a:r>
            <a:endParaRPr lang="es-CL" sz="1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image0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63" y="4763"/>
            <a:ext cx="10288768" cy="6712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2814</Words>
  <Application>WPS Presentation</Application>
  <PresentationFormat>Panorámica</PresentationFormat>
  <Paragraphs>458</Paragraphs>
  <Slides>10</Slides>
  <Notes>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Calibri</vt:lpstr>
      <vt:lpstr>Microsoft YaHei</vt:lpstr>
      <vt:lpstr>Arial Unicode MS</vt:lpstr>
      <vt:lpstr>Calibri Light</vt:lpstr>
      <vt:lpstr>Calibri</vt:lpstr>
      <vt:lpstr>Tema di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ENEL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Di Rienzo Federica (I&amp;N DH )</dc:creator>
  <cp:lastModifiedBy>CL146041000</cp:lastModifiedBy>
  <cp:revision>51</cp:revision>
  <dcterms:created xsi:type="dcterms:W3CDTF">2020-05-12T14:43:00Z</dcterms:created>
  <dcterms:modified xsi:type="dcterms:W3CDTF">2021-09-15T02:12:08Z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0x010100519AFFBCE879BC45BFF8E1E520784B63</vt:lpwstr>
  </property>
  <property fmtid="{D5CDD505-2E9C-101B-9397-08002B2CF9AE}" pid="3" name="MSIP_Label_00183ae1-726f-4969-b787-1995b26b5e2f_Enabled">
    <vt:lpwstr>True</vt:lpwstr>
  </property>
  <property fmtid="{D5CDD505-2E9C-101B-9397-08002B2CF9AE}" pid="4" name="MSIP_Label_00183ae1-726f-4969-b787-1995b26b5e2f_SiteId">
    <vt:lpwstr>d539d4bf-5610-471a-afc2-1c76685cfefa</vt:lpwstr>
  </property>
  <property fmtid="{D5CDD505-2E9C-101B-9397-08002B2CF9AE}" pid="5" name="MSIP_Label_00183ae1-726f-4969-b787-1995b26b5e2f_Owner">
    <vt:lpwstr>patricio.figueroa@enel.com</vt:lpwstr>
  </property>
  <property fmtid="{D5CDD505-2E9C-101B-9397-08002B2CF9AE}" pid="6" name="MSIP_Label_00183ae1-726f-4969-b787-1995b26b5e2f_SetDate">
    <vt:lpwstr>2021-04-05T23:04:00.0256496Z</vt:lpwstr>
  </property>
  <property fmtid="{D5CDD505-2E9C-101B-9397-08002B2CF9AE}" pid="7" name="MSIP_Label_00183ae1-726f-4969-b787-1995b26b5e2f_Name">
    <vt:lpwstr>Internal</vt:lpwstr>
  </property>
  <property fmtid="{D5CDD505-2E9C-101B-9397-08002B2CF9AE}" pid="8" name="MSIP_Label_00183ae1-726f-4969-b787-1995b26b5e2f_Application">
    <vt:lpwstr>Microsoft Azure Information Protection</vt:lpwstr>
  </property>
  <property fmtid="{D5CDD505-2E9C-101B-9397-08002B2CF9AE}" pid="9" name="MSIP_Label_00183ae1-726f-4969-b787-1995b26b5e2f_ActionId">
    <vt:lpwstr>ef3f03d3-1d54-4733-9df1-476e16e29164</vt:lpwstr>
  </property>
  <property fmtid="{D5CDD505-2E9C-101B-9397-08002B2CF9AE}" pid="10" name="MSIP_Label_00183ae1-726f-4969-b787-1995b26b5e2f_Extended_MSFT_Method">
    <vt:lpwstr>Automatic</vt:lpwstr>
  </property>
  <property fmtid="{D5CDD505-2E9C-101B-9397-08002B2CF9AE}" pid="11" name="MSIP_Label_797ad33d-ed35-43c0-b526-22bc83c17deb_Enabled">
    <vt:lpwstr>True</vt:lpwstr>
  </property>
  <property fmtid="{D5CDD505-2E9C-101B-9397-08002B2CF9AE}" pid="12" name="MSIP_Label_797ad33d-ed35-43c0-b526-22bc83c17deb_SiteId">
    <vt:lpwstr>d539d4bf-5610-471a-afc2-1c76685cfefa</vt:lpwstr>
  </property>
  <property fmtid="{D5CDD505-2E9C-101B-9397-08002B2CF9AE}" pid="13" name="MSIP_Label_797ad33d-ed35-43c0-b526-22bc83c17deb_Owner">
    <vt:lpwstr>patricio.figueroa@enel.com</vt:lpwstr>
  </property>
  <property fmtid="{D5CDD505-2E9C-101B-9397-08002B2CF9AE}" pid="14" name="MSIP_Label_797ad33d-ed35-43c0-b526-22bc83c17deb_SetDate">
    <vt:lpwstr>2021-04-05T23:04:00.0256496Z</vt:lpwstr>
  </property>
  <property fmtid="{D5CDD505-2E9C-101B-9397-08002B2CF9AE}" pid="15" name="MSIP_Label_797ad33d-ed35-43c0-b526-22bc83c17deb_Name">
    <vt:lpwstr>Not Encrypted</vt:lpwstr>
  </property>
  <property fmtid="{D5CDD505-2E9C-101B-9397-08002B2CF9AE}" pid="16" name="MSIP_Label_797ad33d-ed35-43c0-b526-22bc83c17deb_Application">
    <vt:lpwstr>Microsoft Azure Information Protection</vt:lpwstr>
  </property>
  <property fmtid="{D5CDD505-2E9C-101B-9397-08002B2CF9AE}" pid="17" name="MSIP_Label_797ad33d-ed35-43c0-b526-22bc83c17deb_ActionId">
    <vt:lpwstr>ef3f03d3-1d54-4733-9df1-476e16e29164</vt:lpwstr>
  </property>
  <property fmtid="{D5CDD505-2E9C-101B-9397-08002B2CF9AE}" pid="18" name="MSIP_Label_797ad33d-ed35-43c0-b526-22bc83c17deb_Parent">
    <vt:lpwstr>00183ae1-726f-4969-b787-1995b26b5e2f</vt:lpwstr>
  </property>
  <property fmtid="{D5CDD505-2E9C-101B-9397-08002B2CF9AE}" pid="19" name="MSIP_Label_797ad33d-ed35-43c0-b526-22bc83c17deb_Extended_MSFT_Method">
    <vt:lpwstr>Automatic</vt:lpwstr>
  </property>
  <property fmtid="{D5CDD505-2E9C-101B-9397-08002B2CF9AE}" pid="20" name="Sensitivity">
    <vt:lpwstr>Internal Not Encrypted</vt:lpwstr>
  </property>
  <property fmtid="{D5CDD505-2E9C-101B-9397-08002B2CF9AE}" pid="21" name="ICV">
    <vt:lpwstr>24DEF77EFB7D49FBA398A352715D5170</vt:lpwstr>
  </property>
  <property fmtid="{D5CDD505-2E9C-101B-9397-08002B2CF9AE}" pid="22" name="KSOProductBuildVer">
    <vt:lpwstr>2058-11.2.0.10265</vt:lpwstr>
  </property>
</Properties>
</file>
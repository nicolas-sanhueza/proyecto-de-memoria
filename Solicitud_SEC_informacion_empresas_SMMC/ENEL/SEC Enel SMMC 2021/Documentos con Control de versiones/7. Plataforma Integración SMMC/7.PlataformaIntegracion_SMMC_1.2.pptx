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62D3-CCBA-442F-85C4-65267B3F0DE8}" type="datetimeFigureOut">
              <a:rPr lang="en-US" smtClean="0"/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08A-0527-46C7-9D36-8F54217E81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62D3-CCBA-442F-85C4-65267B3F0DE8}" type="datetimeFigureOut">
              <a:rPr lang="en-US" smtClean="0"/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08A-0527-46C7-9D36-8F54217E81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  <a:endParaRPr lang="es-ES" smtClean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62D3-CCBA-442F-85C4-65267B3F0DE8}" type="datetimeFigureOut">
              <a:rPr lang="en-US" smtClean="0"/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08A-0527-46C7-9D36-8F54217E81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62D3-CCBA-442F-85C4-65267B3F0DE8}" type="datetimeFigureOut">
              <a:rPr lang="en-US" smtClean="0"/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08A-0527-46C7-9D36-8F54217E81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  <a:endParaRPr lang="es-ES" smtClean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  <a:endParaRPr lang="es-ES" smtClean="0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62D3-CCBA-442F-85C4-65267B3F0DE8}" type="datetimeFigureOut">
              <a:rPr lang="en-US" smtClean="0"/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08A-0527-46C7-9D36-8F54217E81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62D3-CCBA-442F-85C4-65267B3F0DE8}" type="datetimeFigureOut">
              <a:rPr lang="en-US" smtClean="0"/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08A-0527-46C7-9D36-8F54217E81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62D3-CCBA-442F-85C4-65267B3F0DE8}" type="datetimeFigureOut">
              <a:rPr lang="en-US" smtClean="0"/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08A-0527-46C7-9D36-8F54217E81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  <a:endParaRPr lang="es-ES" smtClean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62D3-CCBA-442F-85C4-65267B3F0DE8}" type="datetimeFigureOut">
              <a:rPr lang="en-US" smtClean="0"/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08A-0527-46C7-9D36-8F54217E81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  <a:endParaRPr lang="es-ES" smtClean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62D3-CCBA-442F-85C4-65267B3F0DE8}" type="datetimeFigureOut">
              <a:rPr lang="en-US" smtClean="0"/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08A-0527-46C7-9D36-8F54217E81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62D3-CCBA-442F-85C4-65267B3F0DE8}" type="datetimeFigureOut">
              <a:rPr lang="en-US" smtClean="0"/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08A-0527-46C7-9D36-8F54217E81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D62D3-CCBA-442F-85C4-65267B3F0DE8}" type="datetimeFigureOut">
              <a:rPr lang="en-US" smtClean="0"/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608A-0527-46C7-9D36-8F54217E81A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D62D3-CCBA-442F-85C4-65267B3F0DE8}" type="datetimeFigureOut">
              <a:rPr lang="en-US" smtClean="0"/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7608A-0527-46C7-9D36-8F54217E81A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11.png"/><Relationship Id="rId7" Type="http://schemas.openxmlformats.org/officeDocument/2006/relationships/image" Target="../media/image8.png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02" y="1281387"/>
            <a:ext cx="930867" cy="930867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38" y="4828807"/>
            <a:ext cx="717450" cy="717450"/>
          </a:xfrm>
          <a:prstGeom prst="rect">
            <a:avLst/>
          </a:prstGeom>
        </p:spPr>
      </p:pic>
      <p:sp>
        <p:nvSpPr>
          <p:cNvPr id="11" name="Rectángulo 10"/>
          <p:cNvSpPr/>
          <p:nvPr/>
        </p:nvSpPr>
        <p:spPr>
          <a:xfrm>
            <a:off x="1885071" y="379827"/>
            <a:ext cx="7484012" cy="620385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1452" y="2117914"/>
            <a:ext cx="718097" cy="588943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995" y="4941343"/>
            <a:ext cx="1074156" cy="1074156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502" y="799902"/>
            <a:ext cx="609520" cy="581076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667" y="2040313"/>
            <a:ext cx="564985" cy="564985"/>
          </a:xfrm>
          <a:prstGeom prst="rect">
            <a:avLst/>
          </a:prstGeom>
        </p:spPr>
      </p:pic>
      <p:sp>
        <p:nvSpPr>
          <p:cNvPr id="18" name="Rectángulo 17"/>
          <p:cNvSpPr/>
          <p:nvPr/>
        </p:nvSpPr>
        <p:spPr>
          <a:xfrm>
            <a:off x="5554463" y="1941339"/>
            <a:ext cx="3111238" cy="7737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CL" dirty="0" err="1" smtClean="0">
                <a:solidFill>
                  <a:schemeClr val="tx1"/>
                </a:solidFill>
              </a:rPr>
              <a:t>IntegradorEHCallServices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0" name="Imagen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692" y="3458805"/>
            <a:ext cx="564985" cy="564985"/>
          </a:xfrm>
          <a:prstGeom prst="rect">
            <a:avLst/>
          </a:prstGeom>
        </p:spPr>
      </p:pic>
      <p:sp>
        <p:nvSpPr>
          <p:cNvPr id="21" name="Rectángulo 20"/>
          <p:cNvSpPr/>
          <p:nvPr/>
        </p:nvSpPr>
        <p:spPr>
          <a:xfrm>
            <a:off x="5903809" y="3231065"/>
            <a:ext cx="3111238" cy="102909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err="1" smtClean="0">
                <a:solidFill>
                  <a:schemeClr val="tx1"/>
                </a:solidFill>
              </a:rPr>
              <a:t>IntegradorEH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2" name="Imagen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262" y="5763566"/>
            <a:ext cx="564985" cy="564985"/>
          </a:xfrm>
          <a:prstGeom prst="rect">
            <a:avLst/>
          </a:prstGeom>
        </p:spPr>
      </p:pic>
      <p:sp>
        <p:nvSpPr>
          <p:cNvPr id="23" name="Rectángulo 22"/>
          <p:cNvSpPr/>
          <p:nvPr/>
        </p:nvSpPr>
        <p:spPr>
          <a:xfrm>
            <a:off x="3154452" y="5664592"/>
            <a:ext cx="2932168" cy="7737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CL" dirty="0" err="1" smtClean="0">
                <a:solidFill>
                  <a:schemeClr val="tx1"/>
                </a:solidFill>
              </a:rPr>
              <a:t>IntegradorEHReinyecta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228377" y="2152353"/>
            <a:ext cx="1460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Enel Sistemas</a:t>
            </a:r>
            <a:endParaRPr lang="es-CL" dirty="0" smtClean="0"/>
          </a:p>
        </p:txBody>
      </p:sp>
      <p:sp>
        <p:nvSpPr>
          <p:cNvPr id="24" name="CuadroTexto 23"/>
          <p:cNvSpPr txBox="1"/>
          <p:nvPr/>
        </p:nvSpPr>
        <p:spPr>
          <a:xfrm>
            <a:off x="228374" y="5537978"/>
            <a:ext cx="16014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Base de Datos</a:t>
            </a:r>
            <a:endParaRPr lang="es-CL" dirty="0" smtClean="0"/>
          </a:p>
          <a:p>
            <a:pPr algn="ctr"/>
            <a:r>
              <a:rPr lang="es-CL" dirty="0" smtClean="0"/>
              <a:t>Integración</a:t>
            </a:r>
            <a:endParaRPr lang="es-CL" dirty="0" smtClean="0"/>
          </a:p>
          <a:p>
            <a:pPr algn="ctr"/>
            <a:r>
              <a:rPr lang="es-CL" dirty="0" smtClean="0"/>
              <a:t>(Enel Sistemas)</a:t>
            </a:r>
            <a:endParaRPr lang="es-CL" dirty="0" smtClean="0"/>
          </a:p>
        </p:txBody>
      </p:sp>
      <p:sp>
        <p:nvSpPr>
          <p:cNvPr id="26" name="Rectángulo 25"/>
          <p:cNvSpPr/>
          <p:nvPr/>
        </p:nvSpPr>
        <p:spPr>
          <a:xfrm>
            <a:off x="4260233" y="689317"/>
            <a:ext cx="2760842" cy="7484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CL" dirty="0" err="1" smtClean="0">
                <a:solidFill>
                  <a:schemeClr val="tx1"/>
                </a:solidFill>
              </a:rPr>
              <a:t>GatewaySMMcxWs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Conector angular 27"/>
          <p:cNvCxnSpPr>
            <a:stCxn id="9" idx="0"/>
          </p:cNvCxnSpPr>
          <p:nvPr/>
        </p:nvCxnSpPr>
        <p:spPr>
          <a:xfrm rot="5400000" flipH="1" flipV="1">
            <a:off x="2323540" y="-602703"/>
            <a:ext cx="481487" cy="328669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/>
          <p:cNvSpPr txBox="1"/>
          <p:nvPr/>
        </p:nvSpPr>
        <p:spPr>
          <a:xfrm>
            <a:off x="9738912" y="6004991"/>
            <a:ext cx="168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err="1" smtClean="0"/>
              <a:t>Azure</a:t>
            </a:r>
            <a:r>
              <a:rPr lang="es-CL" dirty="0" smtClean="0"/>
              <a:t> </a:t>
            </a:r>
            <a:r>
              <a:rPr lang="es-CL" dirty="0" err="1" smtClean="0"/>
              <a:t>EventHub</a:t>
            </a:r>
            <a:endParaRPr lang="en-US" dirty="0"/>
          </a:p>
        </p:txBody>
      </p:sp>
      <p:pic>
        <p:nvPicPr>
          <p:cNvPr id="30" name="Imagen 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7388" y="467712"/>
            <a:ext cx="1044052" cy="995330"/>
          </a:xfrm>
          <a:prstGeom prst="rect">
            <a:avLst/>
          </a:prstGeom>
        </p:spPr>
      </p:pic>
      <p:sp>
        <p:nvSpPr>
          <p:cNvPr id="31" name="CuadroTexto 30"/>
          <p:cNvSpPr txBox="1"/>
          <p:nvPr/>
        </p:nvSpPr>
        <p:spPr>
          <a:xfrm>
            <a:off x="9457560" y="1368146"/>
            <a:ext cx="1822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dirty="0" err="1" smtClean="0"/>
              <a:t>ePlus</a:t>
            </a:r>
            <a:r>
              <a:rPr lang="es-CL" dirty="0" smtClean="0"/>
              <a:t> </a:t>
            </a:r>
            <a:r>
              <a:rPr lang="es-CL" dirty="0" err="1" smtClean="0"/>
              <a:t>Integration</a:t>
            </a:r>
            <a:r>
              <a:rPr lang="es-CL" dirty="0" smtClean="0"/>
              <a:t> </a:t>
            </a:r>
            <a:endParaRPr lang="es-CL" dirty="0" smtClean="0"/>
          </a:p>
          <a:p>
            <a:pPr algn="ctr"/>
            <a:r>
              <a:rPr lang="es-CL" dirty="0" err="1" smtClean="0"/>
              <a:t>Services</a:t>
            </a:r>
            <a:endParaRPr lang="en-US" dirty="0"/>
          </a:p>
        </p:txBody>
      </p:sp>
      <p:pic>
        <p:nvPicPr>
          <p:cNvPr id="33" name="Imagen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282" y="2773120"/>
            <a:ext cx="718097" cy="588943"/>
          </a:xfrm>
          <a:prstGeom prst="rect">
            <a:avLst/>
          </a:prstGeom>
        </p:spPr>
      </p:pic>
      <p:pic>
        <p:nvPicPr>
          <p:cNvPr id="34" name="Imagen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8574" y="3428326"/>
            <a:ext cx="718097" cy="588943"/>
          </a:xfrm>
          <a:prstGeom prst="rect">
            <a:avLst/>
          </a:prstGeom>
        </p:spPr>
      </p:pic>
      <p:sp>
        <p:nvSpPr>
          <p:cNvPr id="32" name="CuadroTexto 31"/>
          <p:cNvSpPr txBox="1"/>
          <p:nvPr/>
        </p:nvSpPr>
        <p:spPr>
          <a:xfrm>
            <a:off x="11285183" y="4035083"/>
            <a:ext cx="851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dirty="0" smtClean="0"/>
              <a:t>Smart </a:t>
            </a:r>
            <a:endParaRPr lang="es-CL" dirty="0" smtClean="0"/>
          </a:p>
          <a:p>
            <a:pPr algn="ctr"/>
            <a:r>
              <a:rPr lang="es-CL" dirty="0" err="1" smtClean="0"/>
              <a:t>Meters</a:t>
            </a:r>
            <a:endParaRPr lang="en-US" dirty="0"/>
          </a:p>
        </p:txBody>
      </p:sp>
      <p:pic>
        <p:nvPicPr>
          <p:cNvPr id="36" name="Imagen 3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050" y="2767986"/>
            <a:ext cx="716839" cy="716839"/>
          </a:xfrm>
          <a:prstGeom prst="rect">
            <a:avLst/>
          </a:prstGeom>
        </p:spPr>
      </p:pic>
      <p:sp>
        <p:nvSpPr>
          <p:cNvPr id="35" name="CuadroTexto 34"/>
          <p:cNvSpPr txBox="1"/>
          <p:nvPr/>
        </p:nvSpPr>
        <p:spPr>
          <a:xfrm>
            <a:off x="9563753" y="3488785"/>
            <a:ext cx="851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dirty="0" err="1" smtClean="0"/>
              <a:t>ePlus</a:t>
            </a:r>
            <a:endParaRPr lang="es-CL" dirty="0" smtClean="0"/>
          </a:p>
          <a:p>
            <a:pPr algn="ctr"/>
            <a:r>
              <a:rPr lang="es-CL" dirty="0" err="1" smtClean="0"/>
              <a:t>System</a:t>
            </a:r>
            <a:endParaRPr lang="en-US" dirty="0"/>
          </a:p>
        </p:txBody>
      </p:sp>
      <p:sp>
        <p:nvSpPr>
          <p:cNvPr id="37" name="CuadroTexto 36"/>
          <p:cNvSpPr txBox="1"/>
          <p:nvPr/>
        </p:nvSpPr>
        <p:spPr>
          <a:xfrm>
            <a:off x="140677" y="518548"/>
            <a:ext cx="1798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 smtClean="0"/>
              <a:t>Solicitud a integración</a:t>
            </a:r>
            <a:endParaRPr lang="en-US" sz="1400" dirty="0"/>
          </a:p>
        </p:txBody>
      </p:sp>
      <p:sp>
        <p:nvSpPr>
          <p:cNvPr id="39" name="CuadroTexto 38"/>
          <p:cNvSpPr txBox="1"/>
          <p:nvPr/>
        </p:nvSpPr>
        <p:spPr>
          <a:xfrm>
            <a:off x="4192170" y="-28137"/>
            <a:ext cx="28821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u="sng" dirty="0" smtClean="0"/>
              <a:t>Plataforma de Integración</a:t>
            </a:r>
            <a:endParaRPr lang="en-US" sz="2000" u="sng" dirty="0"/>
          </a:p>
        </p:txBody>
      </p:sp>
      <p:cxnSp>
        <p:nvCxnSpPr>
          <p:cNvPr id="41" name="Conector recto de flecha 40"/>
          <p:cNvCxnSpPr/>
          <p:nvPr/>
        </p:nvCxnSpPr>
        <p:spPr>
          <a:xfrm flipV="1">
            <a:off x="7258929" y="799900"/>
            <a:ext cx="2578459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/>
          <p:cNvSpPr txBox="1"/>
          <p:nvPr/>
        </p:nvSpPr>
        <p:spPr>
          <a:xfrm>
            <a:off x="7175823" y="512372"/>
            <a:ext cx="1407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 smtClean="0"/>
              <a:t>Solicitud a </a:t>
            </a:r>
            <a:r>
              <a:rPr lang="es-CL" sz="1400" dirty="0" err="1" smtClean="0"/>
              <a:t>ePlus</a:t>
            </a:r>
            <a:r>
              <a:rPr lang="es-CL" sz="1400" dirty="0" smtClean="0"/>
              <a:t> </a:t>
            </a:r>
            <a:endParaRPr lang="en-US" sz="1400" dirty="0"/>
          </a:p>
        </p:txBody>
      </p:sp>
      <p:cxnSp>
        <p:nvCxnSpPr>
          <p:cNvPr id="44" name="Conector recto de flecha 43"/>
          <p:cNvCxnSpPr/>
          <p:nvPr/>
        </p:nvCxnSpPr>
        <p:spPr>
          <a:xfrm flipH="1">
            <a:off x="7175824" y="1252025"/>
            <a:ext cx="2643425" cy="148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/>
          <p:cNvSpPr txBox="1"/>
          <p:nvPr/>
        </p:nvSpPr>
        <p:spPr>
          <a:xfrm>
            <a:off x="7357403" y="977897"/>
            <a:ext cx="1512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 smtClean="0"/>
              <a:t>Primera respuesta</a:t>
            </a:r>
            <a:endParaRPr lang="en-US" sz="1400" dirty="0"/>
          </a:p>
        </p:txBody>
      </p:sp>
      <p:cxnSp>
        <p:nvCxnSpPr>
          <p:cNvPr id="47" name="Conector angular 46"/>
          <p:cNvCxnSpPr>
            <a:endCxn id="9" idx="3"/>
          </p:cNvCxnSpPr>
          <p:nvPr/>
        </p:nvCxnSpPr>
        <p:spPr>
          <a:xfrm rot="10800000" flipV="1">
            <a:off x="1386370" y="1240541"/>
            <a:ext cx="2773435" cy="506279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/>
          <p:cNvSpPr txBox="1"/>
          <p:nvPr/>
        </p:nvSpPr>
        <p:spPr>
          <a:xfrm>
            <a:off x="2754699" y="1243144"/>
            <a:ext cx="1512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 smtClean="0"/>
              <a:t>Primera respuesta</a:t>
            </a:r>
            <a:endParaRPr lang="en-US" sz="1400" dirty="0"/>
          </a:p>
        </p:txBody>
      </p:sp>
      <p:sp>
        <p:nvSpPr>
          <p:cNvPr id="48" name="Flecha izquierda y derecha 47"/>
          <p:cNvSpPr/>
          <p:nvPr/>
        </p:nvSpPr>
        <p:spPr>
          <a:xfrm>
            <a:off x="10607040" y="2899727"/>
            <a:ext cx="506437" cy="345944"/>
          </a:xfrm>
          <a:prstGeom prst="left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echa arriba y abajo 49"/>
          <p:cNvSpPr/>
          <p:nvPr/>
        </p:nvSpPr>
        <p:spPr>
          <a:xfrm>
            <a:off x="9837388" y="2194558"/>
            <a:ext cx="305418" cy="513196"/>
          </a:xfrm>
          <a:prstGeom prst="up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echa arriba y abajo 51"/>
          <p:cNvSpPr/>
          <p:nvPr/>
        </p:nvSpPr>
        <p:spPr>
          <a:xfrm>
            <a:off x="9878813" y="4291875"/>
            <a:ext cx="305418" cy="513196"/>
          </a:xfrm>
          <a:prstGeom prst="up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Imagen 5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22" y="2714473"/>
            <a:ext cx="917445" cy="874632"/>
          </a:xfrm>
          <a:prstGeom prst="rect">
            <a:avLst/>
          </a:prstGeom>
        </p:spPr>
      </p:pic>
      <p:sp>
        <p:nvSpPr>
          <p:cNvPr id="56" name="CuadroTexto 55"/>
          <p:cNvSpPr txBox="1"/>
          <p:nvPr/>
        </p:nvSpPr>
        <p:spPr>
          <a:xfrm>
            <a:off x="172103" y="3510086"/>
            <a:ext cx="16014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dirty="0" err="1" smtClean="0"/>
              <a:t>WebService</a:t>
            </a:r>
            <a:endParaRPr lang="es-CL" dirty="0"/>
          </a:p>
          <a:p>
            <a:pPr algn="ctr"/>
            <a:r>
              <a:rPr lang="es-CL" dirty="0" smtClean="0"/>
              <a:t>Integración</a:t>
            </a:r>
            <a:endParaRPr lang="es-CL" dirty="0" smtClean="0"/>
          </a:p>
          <a:p>
            <a:pPr algn="ctr"/>
            <a:r>
              <a:rPr lang="es-CL" dirty="0" smtClean="0"/>
              <a:t>(Enel Sistemas)</a:t>
            </a:r>
            <a:endParaRPr lang="en-US" dirty="0"/>
          </a:p>
        </p:txBody>
      </p:sp>
      <p:cxnSp>
        <p:nvCxnSpPr>
          <p:cNvPr id="1028" name="Conector recto de flecha 1027"/>
          <p:cNvCxnSpPr/>
          <p:nvPr/>
        </p:nvCxnSpPr>
        <p:spPr>
          <a:xfrm flipV="1">
            <a:off x="6921305" y="4315652"/>
            <a:ext cx="0" cy="7862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de flecha 68"/>
          <p:cNvCxnSpPr/>
          <p:nvPr/>
        </p:nvCxnSpPr>
        <p:spPr>
          <a:xfrm flipV="1">
            <a:off x="7383195" y="4313305"/>
            <a:ext cx="0" cy="7862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de flecha 69"/>
          <p:cNvCxnSpPr/>
          <p:nvPr/>
        </p:nvCxnSpPr>
        <p:spPr>
          <a:xfrm flipV="1">
            <a:off x="7847429" y="4299237"/>
            <a:ext cx="0" cy="7862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70"/>
          <p:cNvCxnSpPr/>
          <p:nvPr/>
        </p:nvCxnSpPr>
        <p:spPr>
          <a:xfrm flipV="1">
            <a:off x="8311663" y="4299240"/>
            <a:ext cx="0" cy="7862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CuadroTexto 1030"/>
          <p:cNvSpPr txBox="1"/>
          <p:nvPr/>
        </p:nvSpPr>
        <p:spPr>
          <a:xfrm>
            <a:off x="7399605" y="5444198"/>
            <a:ext cx="199631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CL" sz="1400" dirty="0" smtClean="0"/>
              <a:t>Respuesta Solicitud</a:t>
            </a:r>
            <a:endParaRPr lang="es-CL" sz="1400" dirty="0" smtClean="0"/>
          </a:p>
          <a:p>
            <a:pPr marL="285750" indent="-285750">
              <a:buFontTx/>
              <a:buChar char="-"/>
            </a:pPr>
            <a:r>
              <a:rPr lang="es-CL" sz="1400" dirty="0" smtClean="0"/>
              <a:t>Lecturas</a:t>
            </a:r>
            <a:endParaRPr lang="es-CL" sz="1400" dirty="0" smtClean="0"/>
          </a:p>
          <a:p>
            <a:pPr marL="285750" indent="-285750">
              <a:buFontTx/>
              <a:buChar char="-"/>
            </a:pPr>
            <a:r>
              <a:rPr lang="es-CL" sz="1400" dirty="0" smtClean="0"/>
              <a:t>Curva de Carga</a:t>
            </a:r>
            <a:endParaRPr lang="es-CL" sz="1400" dirty="0" smtClean="0"/>
          </a:p>
          <a:p>
            <a:pPr marL="285750" indent="-285750">
              <a:buFontTx/>
              <a:buChar char="-"/>
            </a:pPr>
            <a:r>
              <a:rPr lang="es-CL" sz="1400" dirty="0" smtClean="0"/>
              <a:t>Eventos High </a:t>
            </a:r>
            <a:r>
              <a:rPr lang="es-CL" sz="1400" dirty="0" err="1" smtClean="0"/>
              <a:t>Priority</a:t>
            </a:r>
            <a:endParaRPr lang="es-CL" sz="1400" dirty="0" smtClean="0"/>
          </a:p>
          <a:p>
            <a:pPr marL="285750" indent="-285750">
              <a:buFontTx/>
              <a:buChar char="-"/>
            </a:pPr>
            <a:r>
              <a:rPr lang="es-CL" sz="1400" dirty="0" smtClean="0"/>
              <a:t>Alarmas</a:t>
            </a:r>
            <a:endParaRPr lang="en-US" sz="1400" dirty="0"/>
          </a:p>
        </p:txBody>
      </p:sp>
      <p:pic>
        <p:nvPicPr>
          <p:cNvPr id="1036" name="Imagen 103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092" y="2590189"/>
            <a:ext cx="645376" cy="645376"/>
          </a:xfrm>
          <a:prstGeom prst="rect">
            <a:avLst/>
          </a:prstGeom>
        </p:spPr>
      </p:pic>
      <p:pic>
        <p:nvPicPr>
          <p:cNvPr id="1041" name="Imagen 104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8301" y="1502368"/>
            <a:ext cx="494955" cy="494955"/>
          </a:xfrm>
          <a:prstGeom prst="rect">
            <a:avLst/>
          </a:prstGeom>
        </p:spPr>
      </p:pic>
      <p:pic>
        <p:nvPicPr>
          <p:cNvPr id="85" name="Imagen 8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629" y="5240998"/>
            <a:ext cx="494955" cy="494955"/>
          </a:xfrm>
          <a:prstGeom prst="rect">
            <a:avLst/>
          </a:prstGeom>
        </p:spPr>
      </p:pic>
      <p:pic>
        <p:nvPicPr>
          <p:cNvPr id="86" name="Imagen 8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1294" y="3600778"/>
            <a:ext cx="645376" cy="645376"/>
          </a:xfrm>
          <a:prstGeom prst="rect">
            <a:avLst/>
          </a:prstGeom>
        </p:spPr>
      </p:pic>
      <p:cxnSp>
        <p:nvCxnSpPr>
          <p:cNvPr id="1043" name="Conector angular 1042"/>
          <p:cNvCxnSpPr>
            <a:stCxn id="18" idx="1"/>
            <a:endCxn id="1036" idx="0"/>
          </p:cNvCxnSpPr>
          <p:nvPr/>
        </p:nvCxnSpPr>
        <p:spPr>
          <a:xfrm rot="10800000" flipV="1">
            <a:off x="4789781" y="2328201"/>
            <a:ext cx="764683" cy="26198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Conector angular 1044"/>
          <p:cNvCxnSpPr>
            <a:stCxn id="1036" idx="1"/>
            <a:endCxn id="57" idx="3"/>
          </p:cNvCxnSpPr>
          <p:nvPr/>
        </p:nvCxnSpPr>
        <p:spPr>
          <a:xfrm rot="10800000" flipV="1">
            <a:off x="1374568" y="2912877"/>
            <a:ext cx="3092525" cy="238912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6" name="Imagen 104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06" y="3587258"/>
            <a:ext cx="680254" cy="680254"/>
          </a:xfrm>
          <a:prstGeom prst="rect">
            <a:avLst/>
          </a:prstGeom>
        </p:spPr>
      </p:pic>
      <p:cxnSp>
        <p:nvCxnSpPr>
          <p:cNvPr id="1048" name="Conector angular 1047"/>
          <p:cNvCxnSpPr>
            <a:stCxn id="13" idx="1"/>
          </p:cNvCxnSpPr>
          <p:nvPr/>
        </p:nvCxnSpPr>
        <p:spPr>
          <a:xfrm rot="10800000">
            <a:off x="6921305" y="5085469"/>
            <a:ext cx="3042690" cy="392953"/>
          </a:xfrm>
          <a:prstGeom prst="bentConnector3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Conector angular 1049"/>
          <p:cNvCxnSpPr>
            <a:stCxn id="21" idx="1"/>
            <a:endCxn id="1036" idx="3"/>
          </p:cNvCxnSpPr>
          <p:nvPr/>
        </p:nvCxnSpPr>
        <p:spPr>
          <a:xfrm rot="10800000">
            <a:off x="5112469" y="2912877"/>
            <a:ext cx="791341" cy="832738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Conector angular 1051"/>
          <p:cNvCxnSpPr>
            <a:stCxn id="21" idx="1"/>
            <a:endCxn id="86" idx="3"/>
          </p:cNvCxnSpPr>
          <p:nvPr/>
        </p:nvCxnSpPr>
        <p:spPr>
          <a:xfrm rot="10800000" flipV="1">
            <a:off x="5146671" y="3745614"/>
            <a:ext cx="757139" cy="177851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" name="CuadroTexto 1052"/>
          <p:cNvSpPr txBox="1"/>
          <p:nvPr/>
        </p:nvSpPr>
        <p:spPr>
          <a:xfrm>
            <a:off x="2009899" y="3701895"/>
            <a:ext cx="1625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 smtClean="0"/>
              <a:t>SQL </a:t>
            </a:r>
            <a:r>
              <a:rPr lang="es-CL" sz="1400" dirty="0" err="1" smtClean="0"/>
              <a:t>Loader</a:t>
            </a:r>
            <a:r>
              <a:rPr lang="es-CL" sz="1400" dirty="0" smtClean="0"/>
              <a:t> (Oracle)</a:t>
            </a:r>
            <a:endParaRPr lang="es-CL" sz="1400" dirty="0" smtClean="0"/>
          </a:p>
          <a:p>
            <a:r>
              <a:rPr lang="es-CL" sz="1400" dirty="0" smtClean="0"/>
              <a:t>COPY (</a:t>
            </a:r>
            <a:r>
              <a:rPr lang="es-CL" sz="1400" dirty="0" err="1" smtClean="0"/>
              <a:t>postgreSQL</a:t>
            </a:r>
            <a:r>
              <a:rPr lang="es-CL" sz="1400" dirty="0" smtClean="0"/>
              <a:t>)</a:t>
            </a:r>
            <a:endParaRPr lang="en-US" sz="1400" dirty="0"/>
          </a:p>
        </p:txBody>
      </p:sp>
      <p:sp>
        <p:nvSpPr>
          <p:cNvPr id="1054" name="Decisión 1053"/>
          <p:cNvSpPr/>
          <p:nvPr/>
        </p:nvSpPr>
        <p:spPr>
          <a:xfrm>
            <a:off x="3512228" y="4681413"/>
            <a:ext cx="715881" cy="404051"/>
          </a:xfrm>
          <a:prstGeom prst="flowChartDecisi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6" name="Conector angular 1055"/>
          <p:cNvCxnSpPr>
            <a:stCxn id="86" idx="1"/>
            <a:endCxn id="1046" idx="3"/>
          </p:cNvCxnSpPr>
          <p:nvPr/>
        </p:nvCxnSpPr>
        <p:spPr>
          <a:xfrm rot="10800000" flipV="1">
            <a:off x="4205260" y="3923465"/>
            <a:ext cx="296034" cy="3919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Conector angular 1061"/>
          <p:cNvCxnSpPr>
            <a:stCxn id="1054" idx="2"/>
            <a:endCxn id="23" idx="0"/>
          </p:cNvCxnSpPr>
          <p:nvPr/>
        </p:nvCxnSpPr>
        <p:spPr>
          <a:xfrm rot="16200000" flipH="1">
            <a:off x="3955788" y="4999844"/>
            <a:ext cx="579128" cy="750367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Conector angular 1063"/>
          <p:cNvCxnSpPr>
            <a:stCxn id="1046" idx="2"/>
            <a:endCxn id="1054" idx="0"/>
          </p:cNvCxnSpPr>
          <p:nvPr/>
        </p:nvCxnSpPr>
        <p:spPr>
          <a:xfrm rot="16200000" flipH="1">
            <a:off x="3660701" y="4471944"/>
            <a:ext cx="413901" cy="5036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Conector angular 1065"/>
          <p:cNvCxnSpPr>
            <a:stCxn id="1054" idx="1"/>
            <a:endCxn id="10" idx="3"/>
          </p:cNvCxnSpPr>
          <p:nvPr/>
        </p:nvCxnSpPr>
        <p:spPr>
          <a:xfrm rot="10800000" flipV="1">
            <a:off x="1353788" y="4883438"/>
            <a:ext cx="2158440" cy="304093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7" name="Imagen 106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037748" y="4477662"/>
            <a:ext cx="492295" cy="492295"/>
          </a:xfrm>
          <a:prstGeom prst="rect">
            <a:avLst/>
          </a:prstGeom>
        </p:spPr>
      </p:pic>
      <p:pic>
        <p:nvPicPr>
          <p:cNvPr id="1068" name="Imagen 106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188" y="5038670"/>
            <a:ext cx="307153" cy="307153"/>
          </a:xfrm>
          <a:prstGeom prst="rect">
            <a:avLst/>
          </a:prstGeom>
        </p:spPr>
      </p:pic>
      <p:sp>
        <p:nvSpPr>
          <p:cNvPr id="120" name="CuadroTexto 119"/>
          <p:cNvSpPr txBox="1"/>
          <p:nvPr/>
        </p:nvSpPr>
        <p:spPr>
          <a:xfrm>
            <a:off x="14068" y="39048"/>
            <a:ext cx="1540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u="sng" dirty="0" smtClean="0"/>
              <a:t>Distribuidora</a:t>
            </a:r>
            <a:endParaRPr lang="en-US" sz="2000" u="sng" dirty="0"/>
          </a:p>
        </p:txBody>
      </p:sp>
      <p:sp>
        <p:nvSpPr>
          <p:cNvPr id="121" name="CuadroTexto 120"/>
          <p:cNvSpPr txBox="1"/>
          <p:nvPr/>
        </p:nvSpPr>
        <p:spPr>
          <a:xfrm>
            <a:off x="11156181" y="120163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u="sng" dirty="0" err="1" smtClean="0"/>
              <a:t>ePlus</a:t>
            </a:r>
            <a:endParaRPr lang="en-US" sz="2000" u="sng" dirty="0"/>
          </a:p>
        </p:txBody>
      </p:sp>
      <p:cxnSp>
        <p:nvCxnSpPr>
          <p:cNvPr id="1073" name="Conector angular 1072"/>
          <p:cNvCxnSpPr>
            <a:stCxn id="23" idx="1"/>
          </p:cNvCxnSpPr>
          <p:nvPr/>
        </p:nvCxnSpPr>
        <p:spPr>
          <a:xfrm rot="10800000">
            <a:off x="1353788" y="5398342"/>
            <a:ext cx="1800665" cy="653112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38" y="2167647"/>
            <a:ext cx="930867" cy="93086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38" y="3858133"/>
            <a:ext cx="717450" cy="717450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256513" y="3038613"/>
            <a:ext cx="1460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Enel Sistemas</a:t>
            </a:r>
            <a:endParaRPr lang="es-CL" dirty="0" smtClean="0"/>
          </a:p>
        </p:txBody>
      </p:sp>
      <p:sp>
        <p:nvSpPr>
          <p:cNvPr id="7" name="CuadroTexto 6"/>
          <p:cNvSpPr txBox="1"/>
          <p:nvPr/>
        </p:nvSpPr>
        <p:spPr>
          <a:xfrm>
            <a:off x="228374" y="4567304"/>
            <a:ext cx="16014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Base de Datos</a:t>
            </a:r>
            <a:endParaRPr lang="es-CL" dirty="0" smtClean="0"/>
          </a:p>
          <a:p>
            <a:pPr algn="ctr"/>
            <a:r>
              <a:rPr lang="es-CL" dirty="0" smtClean="0"/>
              <a:t>Integración</a:t>
            </a:r>
            <a:endParaRPr lang="es-CL" dirty="0" smtClean="0"/>
          </a:p>
          <a:p>
            <a:pPr algn="ctr"/>
            <a:r>
              <a:rPr lang="es-CL" dirty="0" smtClean="0"/>
              <a:t>(Enel Sistemas)</a:t>
            </a:r>
            <a:endParaRPr lang="es-CL" dirty="0" smtClean="0"/>
          </a:p>
        </p:txBody>
      </p:sp>
      <p:sp>
        <p:nvSpPr>
          <p:cNvPr id="8" name="CuadroTexto 7"/>
          <p:cNvSpPr txBox="1"/>
          <p:nvPr/>
        </p:nvSpPr>
        <p:spPr>
          <a:xfrm>
            <a:off x="168811" y="1122252"/>
            <a:ext cx="1540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u="sng" dirty="0" smtClean="0"/>
              <a:t>Distribuidora</a:t>
            </a:r>
            <a:endParaRPr lang="en-US" sz="2000" u="sng" dirty="0"/>
          </a:p>
        </p:txBody>
      </p:sp>
      <p:sp>
        <p:nvSpPr>
          <p:cNvPr id="9" name="Rectángulo 8"/>
          <p:cNvSpPr/>
          <p:nvPr/>
        </p:nvSpPr>
        <p:spPr>
          <a:xfrm>
            <a:off x="1829839" y="1522362"/>
            <a:ext cx="7444835" cy="420318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3781862" y="1119912"/>
            <a:ext cx="35982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u="sng" dirty="0" smtClean="0"/>
              <a:t>Solicitudes a sistema SMM-</a:t>
            </a:r>
            <a:r>
              <a:rPr lang="es-CL" sz="2000" u="sng" dirty="0" err="1" smtClean="0"/>
              <a:t>ePlus</a:t>
            </a:r>
            <a:endParaRPr lang="en-US" sz="2000" u="sng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7216" y="3172994"/>
            <a:ext cx="718097" cy="588943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2346" y="1825642"/>
            <a:ext cx="741131" cy="706545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046" y="3828200"/>
            <a:ext cx="718097" cy="588943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792811" y="4443048"/>
            <a:ext cx="851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dirty="0" smtClean="0"/>
              <a:t>Smart </a:t>
            </a:r>
            <a:endParaRPr lang="es-CL" dirty="0" smtClean="0"/>
          </a:p>
          <a:p>
            <a:pPr algn="ctr"/>
            <a:r>
              <a:rPr lang="es-CL" dirty="0" err="1" smtClean="0"/>
              <a:t>Meters</a:t>
            </a:r>
            <a:endParaRPr lang="en-US" dirty="0"/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562" y="3485437"/>
            <a:ext cx="998194" cy="998194"/>
          </a:xfrm>
          <a:prstGeom prst="rect">
            <a:avLst/>
          </a:prstGeom>
        </p:spPr>
      </p:pic>
      <p:sp>
        <p:nvSpPr>
          <p:cNvPr id="19" name="Flecha izquierda y derecha 18"/>
          <p:cNvSpPr/>
          <p:nvPr/>
        </p:nvSpPr>
        <p:spPr>
          <a:xfrm>
            <a:off x="10367892" y="3687517"/>
            <a:ext cx="506437" cy="345944"/>
          </a:xfrm>
          <a:prstGeom prst="left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echa arriba y abajo 19"/>
          <p:cNvSpPr/>
          <p:nvPr/>
        </p:nvSpPr>
        <p:spPr>
          <a:xfrm>
            <a:off x="9457558" y="2968280"/>
            <a:ext cx="305418" cy="513196"/>
          </a:xfrm>
          <a:prstGeom prst="upDown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uadroTexto 21"/>
          <p:cNvSpPr txBox="1"/>
          <p:nvPr/>
        </p:nvSpPr>
        <p:spPr>
          <a:xfrm>
            <a:off x="10133421" y="1119707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u="sng" dirty="0" err="1" smtClean="0"/>
              <a:t>ePlus</a:t>
            </a:r>
            <a:endParaRPr lang="en-US" sz="2000" u="sng" dirty="0"/>
          </a:p>
        </p:txBody>
      </p:sp>
      <p:sp>
        <p:nvSpPr>
          <p:cNvPr id="23" name="CuadroTexto 22"/>
          <p:cNvSpPr txBox="1"/>
          <p:nvPr/>
        </p:nvSpPr>
        <p:spPr>
          <a:xfrm>
            <a:off x="9302816" y="2437292"/>
            <a:ext cx="1822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dirty="0" err="1" smtClean="0"/>
              <a:t>ePlus</a:t>
            </a:r>
            <a:r>
              <a:rPr lang="es-CL" dirty="0" smtClean="0"/>
              <a:t> </a:t>
            </a:r>
            <a:r>
              <a:rPr lang="es-CL" dirty="0" err="1" smtClean="0"/>
              <a:t>Integration</a:t>
            </a:r>
            <a:r>
              <a:rPr lang="es-CL" dirty="0" smtClean="0"/>
              <a:t> </a:t>
            </a:r>
            <a:endParaRPr lang="es-CL" dirty="0" smtClean="0"/>
          </a:p>
          <a:p>
            <a:pPr algn="ctr"/>
            <a:r>
              <a:rPr lang="es-CL" dirty="0" err="1" smtClean="0"/>
              <a:t>Services</a:t>
            </a:r>
            <a:endParaRPr lang="en-US" dirty="0"/>
          </a:p>
        </p:txBody>
      </p:sp>
      <p:sp>
        <p:nvSpPr>
          <p:cNvPr id="24" name="CuadroTexto 23"/>
          <p:cNvSpPr txBox="1"/>
          <p:nvPr/>
        </p:nvSpPr>
        <p:spPr>
          <a:xfrm>
            <a:off x="9423078" y="4459453"/>
            <a:ext cx="851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dirty="0" err="1" smtClean="0"/>
              <a:t>ePlus</a:t>
            </a:r>
            <a:endParaRPr lang="es-CL" dirty="0" smtClean="0"/>
          </a:p>
          <a:p>
            <a:pPr algn="ctr"/>
            <a:r>
              <a:rPr lang="es-CL" dirty="0" err="1" smtClean="0"/>
              <a:t>System</a:t>
            </a:r>
            <a:endParaRPr lang="en-US" dirty="0"/>
          </a:p>
        </p:txBody>
      </p:sp>
      <p:pic>
        <p:nvPicPr>
          <p:cNvPr id="25" name="Imagen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630" y="1953447"/>
            <a:ext cx="609520" cy="581076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4288362" y="1856930"/>
            <a:ext cx="2760842" cy="7484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CL" dirty="0" err="1" smtClean="0">
                <a:solidFill>
                  <a:schemeClr val="tx1"/>
                </a:solidFill>
              </a:rPr>
              <a:t>GatewaySMMcxWs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3515327" y="2912140"/>
            <a:ext cx="609290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CL" sz="1600" dirty="0" smtClean="0"/>
              <a:t>Conexión / Reconexión (</a:t>
            </a:r>
            <a:r>
              <a:rPr lang="es-CL" sz="1600" i="1" dirty="0" err="1" smtClean="0"/>
              <a:t>solicitaRepo</a:t>
            </a:r>
            <a:r>
              <a:rPr lang="es-CL" sz="1600" dirty="0" smtClean="0"/>
              <a:t>)</a:t>
            </a:r>
            <a:endParaRPr lang="es-CL" sz="1600" dirty="0" smtClean="0"/>
          </a:p>
          <a:p>
            <a:pPr marL="285750" indent="-285750">
              <a:buFontTx/>
              <a:buChar char="-"/>
            </a:pPr>
            <a:r>
              <a:rPr lang="es-CL" sz="1600" dirty="0" smtClean="0"/>
              <a:t>Desconexión </a:t>
            </a:r>
            <a:r>
              <a:rPr lang="es-CL" sz="1600" dirty="0" smtClean="0"/>
              <a:t>(</a:t>
            </a:r>
            <a:r>
              <a:rPr lang="es-CL" sz="1600" i="1" dirty="0" err="1" smtClean="0"/>
              <a:t>solicitaCorte</a:t>
            </a:r>
            <a:r>
              <a:rPr lang="es-CL" sz="1600" dirty="0" smtClean="0"/>
              <a:t>)</a:t>
            </a:r>
            <a:endParaRPr lang="es-CL" sz="1600" dirty="0" smtClean="0"/>
          </a:p>
          <a:p>
            <a:pPr marL="285750" indent="-285750">
              <a:buFontTx/>
              <a:buChar char="-"/>
            </a:pPr>
            <a:r>
              <a:rPr lang="es-CL" sz="1600" dirty="0" smtClean="0"/>
              <a:t>Reducción de potencia </a:t>
            </a:r>
            <a:r>
              <a:rPr lang="es-CL" sz="1600" dirty="0" smtClean="0"/>
              <a:t>(</a:t>
            </a:r>
            <a:r>
              <a:rPr lang="es-CL" sz="1600" i="1" dirty="0" err="1" smtClean="0"/>
              <a:t>solicitaCorte</a:t>
            </a:r>
            <a:r>
              <a:rPr lang="es-CL" sz="1600" dirty="0" smtClean="0"/>
              <a:t>)</a:t>
            </a:r>
            <a:endParaRPr lang="es-CL" sz="1600" dirty="0" smtClean="0"/>
          </a:p>
          <a:p>
            <a:pPr marL="285750" indent="-285750">
              <a:buFontTx/>
              <a:buChar char="-"/>
            </a:pPr>
            <a:r>
              <a:rPr lang="es-CL" sz="1600" dirty="0" smtClean="0"/>
              <a:t>Lectura </a:t>
            </a:r>
            <a:r>
              <a:rPr lang="es-CL" sz="1600" dirty="0" err="1" smtClean="0"/>
              <a:t>onDemand</a:t>
            </a:r>
            <a:r>
              <a:rPr lang="es-CL" sz="1600" dirty="0" smtClean="0"/>
              <a:t> (</a:t>
            </a:r>
            <a:r>
              <a:rPr lang="es-CL" sz="1600" i="1" dirty="0" err="1" smtClean="0"/>
              <a:t>solicitaLectura</a:t>
            </a:r>
            <a:r>
              <a:rPr lang="es-CL" sz="1600" dirty="0" smtClean="0"/>
              <a:t>)</a:t>
            </a:r>
            <a:endParaRPr lang="es-CL" sz="1600" dirty="0" smtClean="0"/>
          </a:p>
          <a:p>
            <a:pPr marL="285750" indent="-285750">
              <a:buFontTx/>
              <a:buChar char="-"/>
            </a:pPr>
            <a:r>
              <a:rPr lang="es-CL" sz="1600" dirty="0" smtClean="0"/>
              <a:t>Ping (</a:t>
            </a:r>
            <a:r>
              <a:rPr lang="es-CL" sz="1600" i="1" dirty="0" err="1" smtClean="0"/>
              <a:t>validaCorte</a:t>
            </a:r>
            <a:r>
              <a:rPr lang="es-CL" sz="1600" dirty="0" smtClean="0"/>
              <a:t>) </a:t>
            </a:r>
            <a:endParaRPr lang="es-CL" sz="1600" dirty="0" smtClean="0"/>
          </a:p>
          <a:p>
            <a:pPr marL="285750" indent="-285750">
              <a:buFontTx/>
              <a:buChar char="-"/>
            </a:pPr>
            <a:r>
              <a:rPr lang="es-CL" sz="1600" dirty="0" smtClean="0"/>
              <a:t>Habilita / deshabilita modo prepago (</a:t>
            </a:r>
            <a:r>
              <a:rPr lang="es-CL" sz="1600" i="1" dirty="0" err="1" smtClean="0"/>
              <a:t>habilitaPrepago</a:t>
            </a:r>
            <a:r>
              <a:rPr lang="es-CL" sz="1600" dirty="0" smtClean="0"/>
              <a:t>)</a:t>
            </a:r>
            <a:endParaRPr lang="es-CL" sz="1600" dirty="0" smtClean="0"/>
          </a:p>
          <a:p>
            <a:pPr marL="285750" indent="-285750">
              <a:buFontTx/>
              <a:buChar char="-"/>
            </a:pPr>
            <a:r>
              <a:rPr lang="es-CL" sz="1600" dirty="0" smtClean="0"/>
              <a:t>Carga / reducción crédito (</a:t>
            </a:r>
            <a:r>
              <a:rPr lang="es-CL" sz="1600" i="1" dirty="0" err="1" smtClean="0"/>
              <a:t>creditCharge</a:t>
            </a:r>
            <a:r>
              <a:rPr lang="es-CL" sz="1600" dirty="0" smtClean="0"/>
              <a:t>)</a:t>
            </a:r>
            <a:endParaRPr lang="es-CL" sz="1600" dirty="0" smtClean="0"/>
          </a:p>
          <a:p>
            <a:pPr marL="285750" indent="-285750">
              <a:buFontTx/>
              <a:buChar char="-"/>
            </a:pPr>
            <a:r>
              <a:rPr lang="es-CL" sz="1600" dirty="0" smtClean="0"/>
              <a:t>Consulta de saldo (</a:t>
            </a:r>
            <a:r>
              <a:rPr lang="es-CL" sz="1600" i="1" dirty="0" err="1" smtClean="0"/>
              <a:t>consultaSaldo</a:t>
            </a:r>
            <a:r>
              <a:rPr lang="es-CL" sz="1600" dirty="0" smtClean="0"/>
              <a:t>)</a:t>
            </a:r>
            <a:endParaRPr lang="es-CL" sz="1600" dirty="0" smtClean="0"/>
          </a:p>
          <a:p>
            <a:pPr marL="285750" indent="-285750">
              <a:buFontTx/>
              <a:buChar char="-"/>
            </a:pPr>
            <a:r>
              <a:rPr lang="es-CL" sz="1600" dirty="0" smtClean="0"/>
              <a:t>Ejecución script ACM (</a:t>
            </a:r>
            <a:r>
              <a:rPr lang="es-CL" sz="1600" i="1" dirty="0" err="1" smtClean="0"/>
              <a:t>programmedConfigurationACM</a:t>
            </a:r>
            <a:r>
              <a:rPr lang="es-CL" sz="1600" dirty="0" smtClean="0"/>
              <a:t>)</a:t>
            </a:r>
            <a:endParaRPr lang="es-CL" sz="1600" dirty="0" smtClean="0"/>
          </a:p>
          <a:p>
            <a:pPr marL="285750" indent="-285750">
              <a:buFontTx/>
              <a:buChar char="-"/>
            </a:pPr>
            <a:r>
              <a:rPr lang="es-CL" sz="1600" dirty="0" smtClean="0"/>
              <a:t>Provisión/configuración/baja medidores (</a:t>
            </a:r>
            <a:r>
              <a:rPr lang="es-CL" sz="1600" i="1" dirty="0" err="1" smtClean="0"/>
              <a:t>actualizaMedidor</a:t>
            </a:r>
            <a:r>
              <a:rPr lang="es-CL" sz="1600" dirty="0" smtClean="0"/>
              <a:t>)</a:t>
            </a:r>
            <a:endParaRPr lang="en-US" sz="1600" dirty="0"/>
          </a:p>
        </p:txBody>
      </p:sp>
      <p:cxnSp>
        <p:nvCxnSpPr>
          <p:cNvPr id="32" name="Conector angular 31"/>
          <p:cNvCxnSpPr/>
          <p:nvPr/>
        </p:nvCxnSpPr>
        <p:spPr>
          <a:xfrm flipV="1">
            <a:off x="1428573" y="1981583"/>
            <a:ext cx="2735464" cy="679634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angular 33"/>
          <p:cNvCxnSpPr/>
          <p:nvPr/>
        </p:nvCxnSpPr>
        <p:spPr>
          <a:xfrm>
            <a:off x="7216726" y="1870998"/>
            <a:ext cx="2518732" cy="110585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/>
          <p:cNvSpPr txBox="1"/>
          <p:nvPr/>
        </p:nvSpPr>
        <p:spPr>
          <a:xfrm>
            <a:off x="2968285" y="1603711"/>
            <a:ext cx="7774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 err="1" smtClean="0"/>
              <a:t>Request</a:t>
            </a:r>
            <a:endParaRPr lang="en-US" sz="1400" dirty="0"/>
          </a:p>
        </p:txBody>
      </p:sp>
      <p:sp>
        <p:nvSpPr>
          <p:cNvPr id="36" name="CuadroTexto 35"/>
          <p:cNvSpPr txBox="1"/>
          <p:nvPr/>
        </p:nvSpPr>
        <p:spPr>
          <a:xfrm>
            <a:off x="7340993" y="1542792"/>
            <a:ext cx="1207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 err="1" smtClean="0"/>
              <a:t>Request</a:t>
            </a:r>
            <a:r>
              <a:rPr lang="es-CL" sz="1400" dirty="0" smtClean="0"/>
              <a:t> </a:t>
            </a:r>
            <a:r>
              <a:rPr lang="es-CL" sz="1400" dirty="0" err="1" smtClean="0"/>
              <a:t>ePlus</a:t>
            </a:r>
            <a:endParaRPr lang="en-US" sz="1400" dirty="0"/>
          </a:p>
        </p:txBody>
      </p:sp>
      <p:cxnSp>
        <p:nvCxnSpPr>
          <p:cNvPr id="41" name="Conector recto de flecha 40"/>
          <p:cNvCxnSpPr/>
          <p:nvPr/>
        </p:nvCxnSpPr>
        <p:spPr>
          <a:xfrm flipH="1" flipV="1">
            <a:off x="7216726" y="2293264"/>
            <a:ext cx="2479986" cy="114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/>
          <p:cNvSpPr txBox="1"/>
          <p:nvPr/>
        </p:nvSpPr>
        <p:spPr>
          <a:xfrm>
            <a:off x="7734889" y="2304748"/>
            <a:ext cx="13351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 smtClean="0"/>
              <a:t>Recibido OK/KO</a:t>
            </a:r>
            <a:endParaRPr lang="en-US" sz="1400" dirty="0"/>
          </a:p>
        </p:txBody>
      </p:sp>
      <p:cxnSp>
        <p:nvCxnSpPr>
          <p:cNvPr id="46" name="Conector angular 45"/>
          <p:cNvCxnSpPr/>
          <p:nvPr/>
        </p:nvCxnSpPr>
        <p:spPr>
          <a:xfrm rot="10800000" flipV="1">
            <a:off x="1414505" y="2458636"/>
            <a:ext cx="2735464" cy="453504"/>
          </a:xfrm>
          <a:prstGeom prst="bentConnector3">
            <a:avLst>
              <a:gd name="adj1" fmla="val 3662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/>
          <p:cNvSpPr txBox="1"/>
          <p:nvPr/>
        </p:nvSpPr>
        <p:spPr>
          <a:xfrm>
            <a:off x="1823195" y="2911951"/>
            <a:ext cx="13351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 smtClean="0"/>
              <a:t>Recibido OK/KO</a:t>
            </a:r>
            <a:endParaRPr lang="en-US" sz="1400" dirty="0"/>
          </a:p>
        </p:txBody>
      </p:sp>
      <p:cxnSp>
        <p:nvCxnSpPr>
          <p:cNvPr id="50" name="Conector angular 49"/>
          <p:cNvCxnSpPr/>
          <p:nvPr/>
        </p:nvCxnSpPr>
        <p:spPr>
          <a:xfrm rot="10800000" flipV="1">
            <a:off x="1499527" y="2939928"/>
            <a:ext cx="1658843" cy="1276929"/>
          </a:xfrm>
          <a:prstGeom prst="bentConnector3">
            <a:avLst>
              <a:gd name="adj1" fmla="val 81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/>
          <p:cNvSpPr txBox="1"/>
          <p:nvPr/>
        </p:nvSpPr>
        <p:spPr>
          <a:xfrm>
            <a:off x="1969476" y="4206231"/>
            <a:ext cx="1228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 smtClean="0"/>
              <a:t>Traza Solicitud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13" y="2767219"/>
            <a:ext cx="717450" cy="717450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101763" y="3554431"/>
            <a:ext cx="16014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Base de Datos</a:t>
            </a:r>
            <a:endParaRPr lang="es-CL" dirty="0" smtClean="0"/>
          </a:p>
          <a:p>
            <a:pPr algn="ctr"/>
            <a:r>
              <a:rPr lang="es-CL" dirty="0" smtClean="0"/>
              <a:t>Integración</a:t>
            </a:r>
            <a:endParaRPr lang="es-CL" dirty="0" smtClean="0"/>
          </a:p>
          <a:p>
            <a:pPr algn="ctr"/>
            <a:r>
              <a:rPr lang="es-CL" dirty="0" smtClean="0"/>
              <a:t>(Enel Sistemas)</a:t>
            </a:r>
            <a:endParaRPr lang="es-CL" dirty="0" smtClean="0"/>
          </a:p>
        </p:txBody>
      </p:sp>
      <p:sp>
        <p:nvSpPr>
          <p:cNvPr id="8" name="CuadroTexto 7"/>
          <p:cNvSpPr txBox="1"/>
          <p:nvPr/>
        </p:nvSpPr>
        <p:spPr>
          <a:xfrm>
            <a:off x="168811" y="1122252"/>
            <a:ext cx="1540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u="sng" dirty="0" smtClean="0"/>
              <a:t>Distribuidora</a:t>
            </a:r>
            <a:endParaRPr lang="en-US" sz="2000" u="sng" dirty="0"/>
          </a:p>
        </p:txBody>
      </p:sp>
      <p:sp>
        <p:nvSpPr>
          <p:cNvPr id="9" name="Rectángulo 8"/>
          <p:cNvSpPr/>
          <p:nvPr/>
        </p:nvSpPr>
        <p:spPr>
          <a:xfrm>
            <a:off x="1829839" y="1522362"/>
            <a:ext cx="7444835" cy="420318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2951865" y="1049573"/>
            <a:ext cx="5367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u="sng" dirty="0" smtClean="0"/>
              <a:t>Respuesta de las solicitudes a sistema SMM-</a:t>
            </a:r>
            <a:r>
              <a:rPr lang="es-CL" sz="2000" u="sng" dirty="0" err="1" smtClean="0"/>
              <a:t>ePlus</a:t>
            </a:r>
            <a:endParaRPr lang="en-US" sz="2000" u="sng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9081" y="3679428"/>
            <a:ext cx="718097" cy="588943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911" y="4334634"/>
            <a:ext cx="718097" cy="588943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10764676" y="4949482"/>
            <a:ext cx="851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dirty="0" smtClean="0"/>
              <a:t>Smart </a:t>
            </a:r>
            <a:endParaRPr lang="es-CL" dirty="0" smtClean="0"/>
          </a:p>
          <a:p>
            <a:pPr algn="ctr"/>
            <a:r>
              <a:rPr lang="es-CL" dirty="0" err="1" smtClean="0"/>
              <a:t>Meters</a:t>
            </a:r>
            <a:endParaRPr lang="en-US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427" y="3991871"/>
            <a:ext cx="998194" cy="998194"/>
          </a:xfrm>
          <a:prstGeom prst="rect">
            <a:avLst/>
          </a:prstGeom>
        </p:spPr>
      </p:pic>
      <p:sp>
        <p:nvSpPr>
          <p:cNvPr id="16" name="Flecha izquierda y derecha 15"/>
          <p:cNvSpPr/>
          <p:nvPr/>
        </p:nvSpPr>
        <p:spPr>
          <a:xfrm>
            <a:off x="10339757" y="4193951"/>
            <a:ext cx="506437" cy="345944"/>
          </a:xfrm>
          <a:prstGeom prst="left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uadroTexto 17"/>
          <p:cNvSpPr txBox="1"/>
          <p:nvPr/>
        </p:nvSpPr>
        <p:spPr>
          <a:xfrm>
            <a:off x="10177516" y="1119231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u="sng" dirty="0" err="1" smtClean="0"/>
              <a:t>ePlus</a:t>
            </a:r>
            <a:endParaRPr lang="en-US" sz="2000" u="sng" dirty="0"/>
          </a:p>
        </p:txBody>
      </p:sp>
      <p:sp>
        <p:nvSpPr>
          <p:cNvPr id="20" name="CuadroTexto 19"/>
          <p:cNvSpPr txBox="1"/>
          <p:nvPr/>
        </p:nvSpPr>
        <p:spPr>
          <a:xfrm>
            <a:off x="9394943" y="4965887"/>
            <a:ext cx="851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dirty="0" err="1" smtClean="0"/>
              <a:t>ePlus</a:t>
            </a:r>
            <a:endParaRPr lang="es-CL" dirty="0" smtClean="0"/>
          </a:p>
          <a:p>
            <a:pPr algn="ctr"/>
            <a:r>
              <a:rPr lang="es-CL" dirty="0" err="1" smtClean="0"/>
              <a:t>System</a:t>
            </a:r>
            <a:endParaRPr lang="en-US" dirty="0"/>
          </a:p>
        </p:txBody>
      </p:sp>
      <p:pic>
        <p:nvPicPr>
          <p:cNvPr id="36" name="Imagen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063" y="1846448"/>
            <a:ext cx="1074156" cy="1074156"/>
          </a:xfrm>
          <a:prstGeom prst="rect">
            <a:avLst/>
          </a:prstGeom>
        </p:spPr>
      </p:pic>
      <p:sp>
        <p:nvSpPr>
          <p:cNvPr id="37" name="CuadroTexto 36"/>
          <p:cNvSpPr txBox="1"/>
          <p:nvPr/>
        </p:nvSpPr>
        <p:spPr>
          <a:xfrm>
            <a:off x="9302814" y="2896027"/>
            <a:ext cx="2422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err="1" smtClean="0"/>
              <a:t>Azure</a:t>
            </a:r>
            <a:r>
              <a:rPr lang="es-CL" dirty="0" smtClean="0"/>
              <a:t> </a:t>
            </a:r>
            <a:r>
              <a:rPr lang="es-CL" dirty="0" err="1" smtClean="0"/>
              <a:t>EventHub</a:t>
            </a:r>
            <a:r>
              <a:rPr lang="es-CL" dirty="0" smtClean="0"/>
              <a:t> </a:t>
            </a:r>
            <a:r>
              <a:rPr lang="es-CL" dirty="0" err="1" smtClean="0"/>
              <a:t>queues</a:t>
            </a:r>
            <a:endParaRPr lang="en-US" dirty="0"/>
          </a:p>
        </p:txBody>
      </p:sp>
      <p:sp>
        <p:nvSpPr>
          <p:cNvPr id="38" name="Flecha arriba 37"/>
          <p:cNvSpPr/>
          <p:nvPr/>
        </p:nvSpPr>
        <p:spPr>
          <a:xfrm>
            <a:off x="9513828" y="3413755"/>
            <a:ext cx="537078" cy="461665"/>
          </a:xfrm>
          <a:prstGeom prst="up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Imagen 3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768" y="1883229"/>
            <a:ext cx="525118" cy="635808"/>
          </a:xfrm>
          <a:prstGeom prst="rect">
            <a:avLst/>
          </a:prstGeom>
        </p:spPr>
      </p:pic>
      <p:sp>
        <p:nvSpPr>
          <p:cNvPr id="40" name="Rectángulo 39"/>
          <p:cNvSpPr/>
          <p:nvPr/>
        </p:nvSpPr>
        <p:spPr>
          <a:xfrm>
            <a:off x="6086697" y="1852244"/>
            <a:ext cx="2569593" cy="7085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err="1" smtClean="0">
                <a:solidFill>
                  <a:schemeClr val="tx1"/>
                </a:solidFill>
              </a:rPr>
              <a:t>IntegradorEH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2" name="Conector angular 41"/>
          <p:cNvCxnSpPr>
            <a:stCxn id="36" idx="1"/>
            <a:endCxn id="40" idx="3"/>
          </p:cNvCxnSpPr>
          <p:nvPr/>
        </p:nvCxnSpPr>
        <p:spPr>
          <a:xfrm rot="10800000">
            <a:off x="8656291" y="2206500"/>
            <a:ext cx="1321773" cy="177026"/>
          </a:xfrm>
          <a:prstGeom prst="bentConnector3">
            <a:avLst>
              <a:gd name="adj1" fmla="val 1274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Imagen 4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05" y="1884096"/>
            <a:ext cx="645376" cy="645376"/>
          </a:xfrm>
          <a:prstGeom prst="rect">
            <a:avLst/>
          </a:prstGeom>
        </p:spPr>
      </p:pic>
      <p:cxnSp>
        <p:nvCxnSpPr>
          <p:cNvPr id="45" name="Conector angular 44"/>
          <p:cNvCxnSpPr>
            <a:stCxn id="40" idx="1"/>
            <a:endCxn id="43" idx="3"/>
          </p:cNvCxnSpPr>
          <p:nvPr/>
        </p:nvCxnSpPr>
        <p:spPr>
          <a:xfrm rot="10800000" flipV="1">
            <a:off x="5687881" y="2206500"/>
            <a:ext cx="398816" cy="284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Imagen 4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080" y="4561898"/>
            <a:ext cx="564985" cy="564985"/>
          </a:xfrm>
          <a:prstGeom prst="rect">
            <a:avLst/>
          </a:prstGeom>
        </p:spPr>
      </p:pic>
      <p:sp>
        <p:nvSpPr>
          <p:cNvPr id="50" name="Rectángulo 49"/>
          <p:cNvSpPr/>
          <p:nvPr/>
        </p:nvSpPr>
        <p:spPr>
          <a:xfrm>
            <a:off x="2257163" y="4457529"/>
            <a:ext cx="2750935" cy="7737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CL" dirty="0" err="1" smtClean="0">
                <a:solidFill>
                  <a:schemeClr val="tx1"/>
                </a:solidFill>
              </a:rPr>
              <a:t>IntegradorEHReinyecta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1" name="Imagen 5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030" y="3982806"/>
            <a:ext cx="494955" cy="494955"/>
          </a:xfrm>
          <a:prstGeom prst="rect">
            <a:avLst/>
          </a:prstGeom>
        </p:spPr>
      </p:pic>
      <p:pic>
        <p:nvPicPr>
          <p:cNvPr id="52" name="Imagen 5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434" y="2257140"/>
            <a:ext cx="680254" cy="680254"/>
          </a:xfrm>
          <a:prstGeom prst="rect">
            <a:avLst/>
          </a:prstGeom>
        </p:spPr>
      </p:pic>
      <p:sp>
        <p:nvSpPr>
          <p:cNvPr id="54" name="CuadroTexto 53"/>
          <p:cNvSpPr txBox="1"/>
          <p:nvPr/>
        </p:nvSpPr>
        <p:spPr>
          <a:xfrm>
            <a:off x="3284800" y="1523146"/>
            <a:ext cx="162531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400" dirty="0" smtClean="0"/>
              <a:t>PERSISTENCIA</a:t>
            </a:r>
            <a:endParaRPr lang="es-CL" sz="1400" dirty="0" smtClean="0"/>
          </a:p>
          <a:p>
            <a:pPr algn="ctr"/>
            <a:r>
              <a:rPr lang="es-CL" sz="1400" dirty="0" smtClean="0"/>
              <a:t>SQL </a:t>
            </a:r>
            <a:r>
              <a:rPr lang="es-CL" sz="1400" dirty="0" err="1" smtClean="0"/>
              <a:t>Loader</a:t>
            </a:r>
            <a:r>
              <a:rPr lang="es-CL" sz="1400" dirty="0" smtClean="0"/>
              <a:t> (Oracle)</a:t>
            </a:r>
            <a:endParaRPr lang="es-CL" sz="1400" dirty="0" smtClean="0"/>
          </a:p>
          <a:p>
            <a:pPr algn="ctr"/>
            <a:r>
              <a:rPr lang="es-CL" sz="1400" dirty="0" smtClean="0"/>
              <a:t>COPY (</a:t>
            </a:r>
            <a:r>
              <a:rPr lang="es-CL" sz="1400" dirty="0" err="1" smtClean="0"/>
              <a:t>PostgreSQL</a:t>
            </a:r>
            <a:r>
              <a:rPr lang="es-CL" sz="1400" dirty="0" smtClean="0"/>
              <a:t>)</a:t>
            </a:r>
            <a:endParaRPr lang="en-US" sz="1400" dirty="0"/>
          </a:p>
        </p:txBody>
      </p:sp>
      <p:sp>
        <p:nvSpPr>
          <p:cNvPr id="55" name="Decisión 54"/>
          <p:cNvSpPr/>
          <p:nvPr/>
        </p:nvSpPr>
        <p:spPr>
          <a:xfrm>
            <a:off x="2715048" y="3282644"/>
            <a:ext cx="715881" cy="404051"/>
          </a:xfrm>
          <a:prstGeom prst="flowChartDecisi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Conector angular 55"/>
          <p:cNvCxnSpPr>
            <a:stCxn id="43" idx="1"/>
            <a:endCxn id="52" idx="3"/>
          </p:cNvCxnSpPr>
          <p:nvPr/>
        </p:nvCxnSpPr>
        <p:spPr>
          <a:xfrm rot="10800000" flipV="1">
            <a:off x="4603689" y="2206783"/>
            <a:ext cx="438817" cy="390483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angular 56"/>
          <p:cNvCxnSpPr>
            <a:stCxn id="55" idx="2"/>
            <a:endCxn id="50" idx="0"/>
          </p:cNvCxnSpPr>
          <p:nvPr/>
        </p:nvCxnSpPr>
        <p:spPr>
          <a:xfrm rot="16200000" flipH="1">
            <a:off x="2967393" y="3792291"/>
            <a:ext cx="770834" cy="559642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r 57"/>
          <p:cNvCxnSpPr>
            <a:stCxn id="52" idx="2"/>
            <a:endCxn id="55" idx="0"/>
          </p:cNvCxnSpPr>
          <p:nvPr/>
        </p:nvCxnSpPr>
        <p:spPr>
          <a:xfrm rot="5400000">
            <a:off x="3495650" y="2514733"/>
            <a:ext cx="345250" cy="1190572"/>
          </a:xfrm>
          <a:prstGeom prst="bentConnector3">
            <a:avLst>
              <a:gd name="adj1" fmla="val 2962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Imagen 5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251545" y="3074887"/>
            <a:ext cx="492295" cy="492295"/>
          </a:xfrm>
          <a:prstGeom prst="rect">
            <a:avLst/>
          </a:prstGeom>
        </p:spPr>
      </p:pic>
      <p:pic>
        <p:nvPicPr>
          <p:cNvPr id="60" name="Imagen 5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457" y="3701417"/>
            <a:ext cx="307153" cy="307153"/>
          </a:xfrm>
          <a:prstGeom prst="rect">
            <a:avLst/>
          </a:prstGeom>
        </p:spPr>
      </p:pic>
      <p:cxnSp>
        <p:nvCxnSpPr>
          <p:cNvPr id="70" name="Conector angular 69"/>
          <p:cNvCxnSpPr>
            <a:stCxn id="55" idx="1"/>
            <a:endCxn id="5" idx="3"/>
          </p:cNvCxnSpPr>
          <p:nvPr/>
        </p:nvCxnSpPr>
        <p:spPr>
          <a:xfrm rot="10800000">
            <a:off x="1320964" y="3125944"/>
            <a:ext cx="1394085" cy="358726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angular 82"/>
          <p:cNvCxnSpPr/>
          <p:nvPr/>
        </p:nvCxnSpPr>
        <p:spPr>
          <a:xfrm rot="16200000" flipV="1">
            <a:off x="1220047" y="3511283"/>
            <a:ext cx="1157269" cy="899955"/>
          </a:xfrm>
          <a:prstGeom prst="bentConnector3">
            <a:avLst>
              <a:gd name="adj1" fmla="val 8039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CuadroTexto 90"/>
          <p:cNvSpPr txBox="1"/>
          <p:nvPr/>
        </p:nvSpPr>
        <p:spPr>
          <a:xfrm>
            <a:off x="4859738" y="2459688"/>
            <a:ext cx="1307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 smtClean="0"/>
              <a:t>Volcado a disco</a:t>
            </a:r>
            <a:endParaRPr lang="en-US" sz="1400" dirty="0"/>
          </a:p>
        </p:txBody>
      </p:sp>
      <p:sp>
        <p:nvSpPr>
          <p:cNvPr id="92" name="CuadroTexto 91"/>
          <p:cNvSpPr txBox="1"/>
          <p:nvPr/>
        </p:nvSpPr>
        <p:spPr>
          <a:xfrm>
            <a:off x="5094724" y="2935901"/>
            <a:ext cx="422692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dirty="0" smtClean="0"/>
              <a:t>3.31.17.42 – </a:t>
            </a:r>
            <a:r>
              <a:rPr lang="es-CL" sz="1600" dirty="0" err="1" smtClean="0"/>
              <a:t>Reconnect</a:t>
            </a:r>
            <a:r>
              <a:rPr lang="es-CL" sz="1600" dirty="0" smtClean="0"/>
              <a:t> OK</a:t>
            </a:r>
            <a:endParaRPr lang="es-CL" sz="1600" dirty="0" smtClean="0"/>
          </a:p>
          <a:p>
            <a:r>
              <a:rPr lang="es-CL" sz="1600" dirty="0" smtClean="0"/>
              <a:t>3.31.17.68 – </a:t>
            </a:r>
            <a:r>
              <a:rPr lang="es-CL" sz="1600" dirty="0" err="1" smtClean="0"/>
              <a:t>Disconnect</a:t>
            </a:r>
            <a:r>
              <a:rPr lang="es-CL" sz="1600" dirty="0" smtClean="0"/>
              <a:t> OK</a:t>
            </a:r>
            <a:endParaRPr lang="es-CL" sz="1600" dirty="0" smtClean="0"/>
          </a:p>
          <a:p>
            <a:r>
              <a:rPr lang="es-CL" sz="1600" dirty="0" smtClean="0"/>
              <a:t>3.31.17.76 – </a:t>
            </a:r>
            <a:r>
              <a:rPr lang="es-CL" sz="1600" dirty="0" err="1" smtClean="0"/>
              <a:t>Power</a:t>
            </a:r>
            <a:r>
              <a:rPr lang="es-CL" sz="1600" dirty="0" smtClean="0"/>
              <a:t> </a:t>
            </a:r>
            <a:r>
              <a:rPr lang="es-CL" sz="1600" dirty="0" err="1" smtClean="0"/>
              <a:t>reduction</a:t>
            </a:r>
            <a:r>
              <a:rPr lang="es-CL" sz="1600" dirty="0" smtClean="0"/>
              <a:t> OK</a:t>
            </a:r>
            <a:endParaRPr lang="es-CL" sz="1600" dirty="0" smtClean="0"/>
          </a:p>
          <a:p>
            <a:r>
              <a:rPr lang="es-CL" sz="1600" dirty="0" smtClean="0"/>
              <a:t>3.26.17.16 – </a:t>
            </a:r>
            <a:r>
              <a:rPr lang="es-CL" sz="1600" dirty="0" err="1" smtClean="0"/>
              <a:t>Outage</a:t>
            </a:r>
            <a:r>
              <a:rPr lang="es-CL" sz="1600" dirty="0" smtClean="0"/>
              <a:t> </a:t>
            </a:r>
            <a:r>
              <a:rPr lang="es-CL" sz="1600" dirty="0" err="1" smtClean="0"/>
              <a:t>check</a:t>
            </a:r>
            <a:r>
              <a:rPr lang="es-CL" sz="1600" dirty="0" smtClean="0"/>
              <a:t> OK</a:t>
            </a:r>
            <a:endParaRPr lang="es-CL" sz="1600" dirty="0" smtClean="0"/>
          </a:p>
          <a:p>
            <a:r>
              <a:rPr lang="es-CL" sz="1600" dirty="0" smtClean="0"/>
              <a:t>3.20.81.15 – </a:t>
            </a:r>
            <a:r>
              <a:rPr lang="es-CL" sz="1600" dirty="0" err="1" smtClean="0"/>
              <a:t>Credit</a:t>
            </a:r>
            <a:r>
              <a:rPr lang="es-CL" sz="1600" dirty="0" smtClean="0"/>
              <a:t> </a:t>
            </a:r>
            <a:r>
              <a:rPr lang="es-CL" sz="1600" dirty="0" err="1" smtClean="0"/>
              <a:t>charge</a:t>
            </a:r>
            <a:r>
              <a:rPr lang="es-CL" sz="1600" dirty="0" smtClean="0"/>
              <a:t> OK</a:t>
            </a:r>
            <a:endParaRPr lang="es-CL" sz="1600" dirty="0" smtClean="0"/>
          </a:p>
          <a:p>
            <a:r>
              <a:rPr lang="es-CL" sz="1600" dirty="0" smtClean="0"/>
              <a:t>3.20.81.76 – </a:t>
            </a:r>
            <a:r>
              <a:rPr lang="es-CL" sz="1600" dirty="0" err="1" smtClean="0"/>
              <a:t>Prepay</a:t>
            </a:r>
            <a:r>
              <a:rPr lang="es-CL" sz="1600" dirty="0" smtClean="0"/>
              <a:t> </a:t>
            </a:r>
            <a:r>
              <a:rPr lang="es-CL" sz="1600" dirty="0" err="1" smtClean="0"/>
              <a:t>configuration</a:t>
            </a:r>
            <a:r>
              <a:rPr lang="es-CL" sz="1600" dirty="0" smtClean="0"/>
              <a:t> OK</a:t>
            </a:r>
            <a:endParaRPr lang="es-CL" sz="1600" dirty="0" smtClean="0"/>
          </a:p>
          <a:p>
            <a:r>
              <a:rPr lang="es-CL" sz="1600" dirty="0" smtClean="0"/>
              <a:t>3.20.81.66 – </a:t>
            </a:r>
            <a:r>
              <a:rPr lang="es-CL" sz="1600" dirty="0" err="1" smtClean="0"/>
              <a:t>Prepay</a:t>
            </a:r>
            <a:r>
              <a:rPr lang="es-CL" sz="1600" dirty="0" smtClean="0"/>
              <a:t> </a:t>
            </a:r>
            <a:r>
              <a:rPr lang="es-CL" sz="1600" dirty="0" err="1" smtClean="0"/>
              <a:t>disable</a:t>
            </a:r>
            <a:r>
              <a:rPr lang="es-CL" sz="1600" dirty="0" smtClean="0"/>
              <a:t> OK</a:t>
            </a:r>
            <a:endParaRPr lang="es-CL" sz="1600" dirty="0" smtClean="0"/>
          </a:p>
          <a:p>
            <a:r>
              <a:rPr lang="es-CL" sz="1600" dirty="0" smtClean="0"/>
              <a:t>3.7.83.58   – </a:t>
            </a:r>
            <a:r>
              <a:rPr lang="es-CL" sz="1600" dirty="0" err="1" smtClean="0"/>
              <a:t>Programmed</a:t>
            </a:r>
            <a:r>
              <a:rPr lang="es-CL" sz="1600" dirty="0" smtClean="0"/>
              <a:t> </a:t>
            </a:r>
            <a:r>
              <a:rPr lang="es-CL" sz="1600" dirty="0" err="1" smtClean="0"/>
              <a:t>configuration</a:t>
            </a:r>
            <a:r>
              <a:rPr lang="es-CL" sz="1600" dirty="0" smtClean="0"/>
              <a:t> ACM OK</a:t>
            </a:r>
            <a:endParaRPr lang="es-CL" sz="1600" dirty="0" smtClean="0"/>
          </a:p>
          <a:p>
            <a:r>
              <a:rPr lang="es-CL" sz="1600" dirty="0" smtClean="0"/>
              <a:t>3.21.87.30 – Response Reading OK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126607" y="1150388"/>
            <a:ext cx="1540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u="sng" dirty="0" smtClean="0"/>
              <a:t>Distribuidora</a:t>
            </a:r>
            <a:endParaRPr lang="en-US" sz="2000" u="sng" dirty="0"/>
          </a:p>
        </p:txBody>
      </p:sp>
      <p:sp>
        <p:nvSpPr>
          <p:cNvPr id="7" name="Rectángulo 6"/>
          <p:cNvSpPr/>
          <p:nvPr/>
        </p:nvSpPr>
        <p:spPr>
          <a:xfrm>
            <a:off x="1829839" y="1522363"/>
            <a:ext cx="7444835" cy="342712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2318822" y="1035505"/>
            <a:ext cx="64146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u="sng" dirty="0" smtClean="0"/>
              <a:t>Envío respuesta de las solicitudes hacia </a:t>
            </a:r>
            <a:r>
              <a:rPr lang="es-ES" sz="2000" u="sng" dirty="0" err="1" smtClean="0"/>
              <a:t>WebService</a:t>
            </a:r>
            <a:r>
              <a:rPr lang="es-ES" sz="2000" u="sng" dirty="0" smtClean="0"/>
              <a:t> externo</a:t>
            </a:r>
            <a:endParaRPr lang="en-US" sz="2000" u="sng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606" y="3271466"/>
            <a:ext cx="593048" cy="486385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10581792" y="4246097"/>
            <a:ext cx="851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dirty="0" smtClean="0"/>
              <a:t>Smart </a:t>
            </a:r>
            <a:endParaRPr lang="es-CL" dirty="0" smtClean="0"/>
          </a:p>
          <a:p>
            <a:pPr algn="ctr"/>
            <a:r>
              <a:rPr lang="es-CL" dirty="0" err="1" smtClean="0"/>
              <a:t>Meters</a:t>
            </a:r>
            <a:endParaRPr lang="en-US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427" y="3471366"/>
            <a:ext cx="931706" cy="931706"/>
          </a:xfrm>
          <a:prstGeom prst="rect">
            <a:avLst/>
          </a:prstGeom>
        </p:spPr>
      </p:pic>
      <p:sp>
        <p:nvSpPr>
          <p:cNvPr id="13" name="Flecha izquierda y derecha 12"/>
          <p:cNvSpPr/>
          <p:nvPr/>
        </p:nvSpPr>
        <p:spPr>
          <a:xfrm>
            <a:off x="10255350" y="3729715"/>
            <a:ext cx="506437" cy="283810"/>
          </a:xfrm>
          <a:prstGeom prst="left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adroTexto 13"/>
          <p:cNvSpPr txBox="1"/>
          <p:nvPr/>
        </p:nvSpPr>
        <p:spPr>
          <a:xfrm>
            <a:off x="9910227" y="1231774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u="sng" dirty="0" err="1" smtClean="0"/>
              <a:t>ePlus</a:t>
            </a:r>
            <a:endParaRPr lang="en-US" sz="2000" u="sng" dirty="0"/>
          </a:p>
        </p:txBody>
      </p:sp>
      <p:sp>
        <p:nvSpPr>
          <p:cNvPr id="15" name="CuadroTexto 14"/>
          <p:cNvSpPr txBox="1"/>
          <p:nvPr/>
        </p:nvSpPr>
        <p:spPr>
          <a:xfrm>
            <a:off x="9394943" y="4304706"/>
            <a:ext cx="851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dirty="0" err="1" smtClean="0"/>
              <a:t>ePlus</a:t>
            </a:r>
            <a:endParaRPr lang="es-CL" dirty="0" smtClean="0"/>
          </a:p>
          <a:p>
            <a:pPr algn="ctr"/>
            <a:r>
              <a:rPr lang="es-CL" dirty="0" err="1" smtClean="0"/>
              <a:t>System</a:t>
            </a:r>
            <a:endParaRPr lang="en-US" dirty="0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4353" y="1858851"/>
            <a:ext cx="920771" cy="920771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9302814" y="2713145"/>
            <a:ext cx="1736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err="1" smtClean="0"/>
              <a:t>Azure</a:t>
            </a:r>
            <a:r>
              <a:rPr lang="es-CL" dirty="0" smtClean="0"/>
              <a:t> </a:t>
            </a:r>
            <a:r>
              <a:rPr lang="es-CL" dirty="0" err="1" smtClean="0"/>
              <a:t>EventHub</a:t>
            </a:r>
            <a:endParaRPr lang="en-US" dirty="0"/>
          </a:p>
        </p:txBody>
      </p:sp>
      <p:sp>
        <p:nvSpPr>
          <p:cNvPr id="18" name="Flecha arriba 17"/>
          <p:cNvSpPr/>
          <p:nvPr/>
        </p:nvSpPr>
        <p:spPr>
          <a:xfrm>
            <a:off x="9429420" y="3076129"/>
            <a:ext cx="269722" cy="428393"/>
          </a:xfrm>
          <a:prstGeom prst="up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768" y="1883229"/>
            <a:ext cx="525118" cy="635808"/>
          </a:xfrm>
          <a:prstGeom prst="rect">
            <a:avLst/>
          </a:prstGeom>
        </p:spPr>
      </p:pic>
      <p:sp>
        <p:nvSpPr>
          <p:cNvPr id="20" name="Rectángulo 19"/>
          <p:cNvSpPr/>
          <p:nvPr/>
        </p:nvSpPr>
        <p:spPr>
          <a:xfrm>
            <a:off x="6086697" y="1852244"/>
            <a:ext cx="2569593" cy="7085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err="1" smtClean="0">
                <a:solidFill>
                  <a:schemeClr val="tx1"/>
                </a:solidFill>
              </a:rPr>
              <a:t>IntegradorEH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" name="Conector angular 20"/>
          <p:cNvCxnSpPr>
            <a:stCxn id="16" idx="1"/>
            <a:endCxn id="20" idx="3"/>
          </p:cNvCxnSpPr>
          <p:nvPr/>
        </p:nvCxnSpPr>
        <p:spPr>
          <a:xfrm rot="10800000">
            <a:off x="8656291" y="2206501"/>
            <a:ext cx="828063" cy="11273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Imagen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05" y="1982572"/>
            <a:ext cx="645376" cy="645376"/>
          </a:xfrm>
          <a:prstGeom prst="rect">
            <a:avLst/>
          </a:prstGeom>
        </p:spPr>
      </p:pic>
      <p:cxnSp>
        <p:nvCxnSpPr>
          <p:cNvPr id="23" name="Conector angular 22"/>
          <p:cNvCxnSpPr>
            <a:stCxn id="20" idx="1"/>
            <a:endCxn id="22" idx="3"/>
          </p:cNvCxnSpPr>
          <p:nvPr/>
        </p:nvCxnSpPr>
        <p:spPr>
          <a:xfrm rot="10800000" flipV="1">
            <a:off x="5687881" y="2206500"/>
            <a:ext cx="398816" cy="9876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n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0012" y="3519763"/>
            <a:ext cx="564985" cy="674558"/>
          </a:xfrm>
          <a:prstGeom prst="rect">
            <a:avLst/>
          </a:prstGeom>
        </p:spPr>
      </p:pic>
      <p:sp>
        <p:nvSpPr>
          <p:cNvPr id="25" name="Rectángulo 24"/>
          <p:cNvSpPr/>
          <p:nvPr/>
        </p:nvSpPr>
        <p:spPr>
          <a:xfrm>
            <a:off x="4748512" y="3473751"/>
            <a:ext cx="3041785" cy="7737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CL" dirty="0" err="1" smtClean="0">
                <a:solidFill>
                  <a:schemeClr val="tx1"/>
                </a:solidFill>
              </a:rPr>
              <a:t>IntegradorEHCallServices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Decisión 28"/>
          <p:cNvSpPr/>
          <p:nvPr/>
        </p:nvSpPr>
        <p:spPr>
          <a:xfrm>
            <a:off x="3057712" y="2670836"/>
            <a:ext cx="715881" cy="404051"/>
          </a:xfrm>
          <a:prstGeom prst="flowChartDecisi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onector angular 31"/>
          <p:cNvCxnSpPr>
            <a:stCxn id="25" idx="1"/>
            <a:endCxn id="29" idx="3"/>
          </p:cNvCxnSpPr>
          <p:nvPr/>
        </p:nvCxnSpPr>
        <p:spPr>
          <a:xfrm rot="10800000">
            <a:off x="3773594" y="2872863"/>
            <a:ext cx="974919" cy="98775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Imagen 3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503890" y="2809423"/>
            <a:ext cx="492295" cy="492295"/>
          </a:xfrm>
          <a:prstGeom prst="rect">
            <a:avLst/>
          </a:prstGeom>
        </p:spPr>
      </p:pic>
      <p:cxnSp>
        <p:nvCxnSpPr>
          <p:cNvPr id="35" name="Conector angular 34"/>
          <p:cNvCxnSpPr>
            <a:stCxn id="29" idx="1"/>
          </p:cNvCxnSpPr>
          <p:nvPr/>
        </p:nvCxnSpPr>
        <p:spPr>
          <a:xfrm rot="10800000" flipV="1">
            <a:off x="1320964" y="2872862"/>
            <a:ext cx="1736749" cy="253082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/>
          <p:cNvSpPr txBox="1"/>
          <p:nvPr/>
        </p:nvSpPr>
        <p:spPr>
          <a:xfrm>
            <a:off x="4747194" y="2558164"/>
            <a:ext cx="1307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 smtClean="0"/>
              <a:t>Volcado a disco</a:t>
            </a:r>
            <a:endParaRPr lang="en-US" sz="1400" dirty="0"/>
          </a:p>
        </p:txBody>
      </p:sp>
      <p:pic>
        <p:nvPicPr>
          <p:cNvPr id="39" name="Imagen 3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101" y="3020441"/>
            <a:ext cx="494955" cy="494955"/>
          </a:xfrm>
          <a:prstGeom prst="rect">
            <a:avLst/>
          </a:prstGeom>
        </p:spPr>
      </p:pic>
      <p:cxnSp>
        <p:nvCxnSpPr>
          <p:cNvPr id="45" name="Conector recto de flecha 44"/>
          <p:cNvCxnSpPr/>
          <p:nvPr/>
        </p:nvCxnSpPr>
        <p:spPr>
          <a:xfrm>
            <a:off x="5372795" y="2809669"/>
            <a:ext cx="0" cy="60408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angular 47"/>
          <p:cNvCxnSpPr>
            <a:stCxn id="29" idx="0"/>
            <a:endCxn id="22" idx="0"/>
          </p:cNvCxnSpPr>
          <p:nvPr/>
        </p:nvCxnSpPr>
        <p:spPr>
          <a:xfrm rot="5400000" flipH="1" flipV="1">
            <a:off x="4046291" y="1351934"/>
            <a:ext cx="688264" cy="1949540"/>
          </a:xfrm>
          <a:prstGeom prst="bentConnector3">
            <a:avLst>
              <a:gd name="adj1" fmla="val 13321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Imagen 4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510" y="2365460"/>
            <a:ext cx="307153" cy="307153"/>
          </a:xfrm>
          <a:prstGeom prst="rect">
            <a:avLst/>
          </a:prstGeom>
        </p:spPr>
      </p:pic>
      <p:pic>
        <p:nvPicPr>
          <p:cNvPr id="52" name="Imagen 5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2329" y="3845896"/>
            <a:ext cx="593048" cy="486385"/>
          </a:xfrm>
          <a:prstGeom prst="rect">
            <a:avLst/>
          </a:prstGeom>
        </p:spPr>
      </p:pic>
      <p:pic>
        <p:nvPicPr>
          <p:cNvPr id="53" name="Imagen 5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79" y="2686340"/>
            <a:ext cx="917445" cy="874632"/>
          </a:xfrm>
          <a:prstGeom prst="rect">
            <a:avLst/>
          </a:prstGeom>
        </p:spPr>
      </p:pic>
      <p:sp>
        <p:nvSpPr>
          <p:cNvPr id="54" name="CuadroTexto 53"/>
          <p:cNvSpPr txBox="1"/>
          <p:nvPr/>
        </p:nvSpPr>
        <p:spPr>
          <a:xfrm>
            <a:off x="59560" y="3481953"/>
            <a:ext cx="16014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dirty="0" err="1" smtClean="0"/>
              <a:t>WebService</a:t>
            </a:r>
            <a:endParaRPr lang="es-CL" dirty="0"/>
          </a:p>
          <a:p>
            <a:pPr algn="ctr"/>
            <a:r>
              <a:rPr lang="es-CL" dirty="0" smtClean="0"/>
              <a:t>Integración</a:t>
            </a:r>
            <a:endParaRPr lang="es-CL" dirty="0" smtClean="0"/>
          </a:p>
          <a:p>
            <a:pPr algn="ctr"/>
            <a:r>
              <a:rPr lang="es-CL" dirty="0" smtClean="0"/>
              <a:t>(Enel Sistemas)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31" y="4132243"/>
            <a:ext cx="717450" cy="71745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01763" y="4792388"/>
            <a:ext cx="16014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Base de Datos</a:t>
            </a:r>
            <a:endParaRPr lang="es-CL" dirty="0" smtClean="0"/>
          </a:p>
          <a:p>
            <a:pPr algn="ctr"/>
            <a:r>
              <a:rPr lang="es-CL" dirty="0" smtClean="0"/>
              <a:t>Integración</a:t>
            </a:r>
            <a:endParaRPr lang="es-CL" dirty="0" smtClean="0"/>
          </a:p>
          <a:p>
            <a:pPr algn="ctr"/>
            <a:r>
              <a:rPr lang="es-CL" dirty="0" smtClean="0"/>
              <a:t>(Enel Sistemas)</a:t>
            </a:r>
            <a:endParaRPr lang="es-CL" dirty="0" smtClean="0"/>
          </a:p>
        </p:txBody>
      </p:sp>
      <p:sp>
        <p:nvSpPr>
          <p:cNvPr id="6" name="CuadroTexto 5"/>
          <p:cNvSpPr txBox="1"/>
          <p:nvPr/>
        </p:nvSpPr>
        <p:spPr>
          <a:xfrm>
            <a:off x="168811" y="1122252"/>
            <a:ext cx="1540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u="sng" dirty="0" smtClean="0"/>
              <a:t>Distribuidora</a:t>
            </a:r>
            <a:endParaRPr lang="en-US" sz="2000" u="sng" dirty="0"/>
          </a:p>
        </p:txBody>
      </p:sp>
      <p:sp>
        <p:nvSpPr>
          <p:cNvPr id="7" name="Rectángulo 6"/>
          <p:cNvSpPr/>
          <p:nvPr/>
        </p:nvSpPr>
        <p:spPr>
          <a:xfrm>
            <a:off x="1829840" y="1522362"/>
            <a:ext cx="7239306" cy="420318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1981194" y="1049573"/>
            <a:ext cx="6989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u="sng" dirty="0" smtClean="0"/>
              <a:t>Recepción de lecturas y curva de carga desde sistema SMM-</a:t>
            </a:r>
            <a:r>
              <a:rPr lang="es-ES" sz="2000" u="sng" dirty="0" err="1" smtClean="0"/>
              <a:t>ePlus</a:t>
            </a:r>
            <a:endParaRPr lang="en-US" sz="2000" u="sng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8062" y="3693496"/>
            <a:ext cx="718097" cy="588943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6892" y="4348702"/>
            <a:ext cx="718097" cy="588943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10553657" y="4963550"/>
            <a:ext cx="851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dirty="0" smtClean="0"/>
              <a:t>Smart </a:t>
            </a:r>
            <a:endParaRPr lang="es-CL" dirty="0" smtClean="0"/>
          </a:p>
          <a:p>
            <a:pPr algn="ctr"/>
            <a:r>
              <a:rPr lang="es-CL" dirty="0" err="1" smtClean="0"/>
              <a:t>Meters</a:t>
            </a:r>
            <a:endParaRPr lang="en-US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680" y="3991871"/>
            <a:ext cx="998194" cy="998194"/>
          </a:xfrm>
          <a:prstGeom prst="rect">
            <a:avLst/>
          </a:prstGeom>
        </p:spPr>
      </p:pic>
      <p:sp>
        <p:nvSpPr>
          <p:cNvPr id="13" name="Flecha izquierda y derecha 12"/>
          <p:cNvSpPr/>
          <p:nvPr/>
        </p:nvSpPr>
        <p:spPr>
          <a:xfrm>
            <a:off x="10156874" y="4193951"/>
            <a:ext cx="506437" cy="345944"/>
          </a:xfrm>
          <a:prstGeom prst="left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adroTexto 13"/>
          <p:cNvSpPr txBox="1"/>
          <p:nvPr/>
        </p:nvSpPr>
        <p:spPr>
          <a:xfrm>
            <a:off x="10022769" y="1119231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u="sng" dirty="0" err="1" smtClean="0"/>
              <a:t>ePlus</a:t>
            </a:r>
            <a:endParaRPr lang="en-US" sz="2000" u="sng" dirty="0"/>
          </a:p>
        </p:txBody>
      </p:sp>
      <p:sp>
        <p:nvSpPr>
          <p:cNvPr id="15" name="CuadroTexto 14"/>
          <p:cNvSpPr txBox="1"/>
          <p:nvPr/>
        </p:nvSpPr>
        <p:spPr>
          <a:xfrm>
            <a:off x="9240196" y="4965887"/>
            <a:ext cx="851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dirty="0" err="1" smtClean="0"/>
              <a:t>ePlus</a:t>
            </a:r>
            <a:endParaRPr lang="es-CL" dirty="0" smtClean="0"/>
          </a:p>
          <a:p>
            <a:pPr algn="ctr"/>
            <a:r>
              <a:rPr lang="es-CL" dirty="0" err="1" smtClean="0"/>
              <a:t>System</a:t>
            </a:r>
            <a:endParaRPr lang="en-US" dirty="0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3316" y="1846448"/>
            <a:ext cx="1074156" cy="1074156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9148067" y="2896027"/>
            <a:ext cx="2422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err="1" smtClean="0"/>
              <a:t>Azure</a:t>
            </a:r>
            <a:r>
              <a:rPr lang="es-CL" dirty="0" smtClean="0"/>
              <a:t> </a:t>
            </a:r>
            <a:r>
              <a:rPr lang="es-CL" dirty="0" err="1" smtClean="0"/>
              <a:t>EventHub</a:t>
            </a:r>
            <a:r>
              <a:rPr lang="es-CL" dirty="0" smtClean="0"/>
              <a:t> </a:t>
            </a:r>
            <a:r>
              <a:rPr lang="es-CL" dirty="0" err="1" smtClean="0"/>
              <a:t>queues</a:t>
            </a:r>
            <a:endParaRPr lang="en-US" dirty="0"/>
          </a:p>
        </p:txBody>
      </p:sp>
      <p:sp>
        <p:nvSpPr>
          <p:cNvPr id="18" name="Flecha arriba 17"/>
          <p:cNvSpPr/>
          <p:nvPr/>
        </p:nvSpPr>
        <p:spPr>
          <a:xfrm>
            <a:off x="9388926" y="3397245"/>
            <a:ext cx="537078" cy="461665"/>
          </a:xfrm>
          <a:prstGeom prst="up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768" y="1883229"/>
            <a:ext cx="525118" cy="635808"/>
          </a:xfrm>
          <a:prstGeom prst="rect">
            <a:avLst/>
          </a:prstGeom>
        </p:spPr>
      </p:pic>
      <p:sp>
        <p:nvSpPr>
          <p:cNvPr id="20" name="Rectángulo 19"/>
          <p:cNvSpPr/>
          <p:nvPr/>
        </p:nvSpPr>
        <p:spPr>
          <a:xfrm>
            <a:off x="6086697" y="1852244"/>
            <a:ext cx="2569593" cy="7085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err="1" smtClean="0">
                <a:solidFill>
                  <a:schemeClr val="tx1"/>
                </a:solidFill>
              </a:rPr>
              <a:t>IntegradorEH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" name="Conector angular 20"/>
          <p:cNvCxnSpPr>
            <a:stCxn id="16" idx="1"/>
            <a:endCxn id="20" idx="3"/>
          </p:cNvCxnSpPr>
          <p:nvPr/>
        </p:nvCxnSpPr>
        <p:spPr>
          <a:xfrm rot="10800000">
            <a:off x="8656290" y="2206500"/>
            <a:ext cx="1167026" cy="17702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Imagen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05" y="1884096"/>
            <a:ext cx="645376" cy="645376"/>
          </a:xfrm>
          <a:prstGeom prst="rect">
            <a:avLst/>
          </a:prstGeom>
        </p:spPr>
      </p:pic>
      <p:cxnSp>
        <p:nvCxnSpPr>
          <p:cNvPr id="23" name="Conector angular 22"/>
          <p:cNvCxnSpPr>
            <a:stCxn id="20" idx="1"/>
            <a:endCxn id="22" idx="3"/>
          </p:cNvCxnSpPr>
          <p:nvPr/>
        </p:nvCxnSpPr>
        <p:spPr>
          <a:xfrm rot="10800000" flipV="1">
            <a:off x="5687881" y="2206500"/>
            <a:ext cx="398816" cy="284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n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490" y="4584455"/>
            <a:ext cx="564985" cy="564985"/>
          </a:xfrm>
          <a:prstGeom prst="rect">
            <a:avLst/>
          </a:prstGeom>
        </p:spPr>
      </p:pic>
      <p:sp>
        <p:nvSpPr>
          <p:cNvPr id="25" name="Rectángulo 24"/>
          <p:cNvSpPr/>
          <p:nvPr/>
        </p:nvSpPr>
        <p:spPr>
          <a:xfrm>
            <a:off x="5407573" y="4480086"/>
            <a:ext cx="2750935" cy="7737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CL" dirty="0" err="1" smtClean="0">
                <a:solidFill>
                  <a:schemeClr val="tx1"/>
                </a:solidFill>
              </a:rPr>
              <a:t>IntegradorEHReinyecta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849" y="4013530"/>
            <a:ext cx="494955" cy="494955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621" y="2257140"/>
            <a:ext cx="680254" cy="680254"/>
          </a:xfrm>
          <a:prstGeom prst="rect">
            <a:avLst/>
          </a:prstGeom>
        </p:spPr>
      </p:pic>
      <p:sp>
        <p:nvSpPr>
          <p:cNvPr id="28" name="CuadroTexto 27"/>
          <p:cNvSpPr txBox="1"/>
          <p:nvPr/>
        </p:nvSpPr>
        <p:spPr>
          <a:xfrm>
            <a:off x="2201590" y="1931106"/>
            <a:ext cx="162531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400" dirty="0" smtClean="0"/>
              <a:t>PERSISTENCIA</a:t>
            </a:r>
            <a:endParaRPr lang="es-CL" sz="1400" dirty="0" smtClean="0"/>
          </a:p>
          <a:p>
            <a:pPr algn="ctr"/>
            <a:r>
              <a:rPr lang="es-CL" sz="1400" dirty="0" smtClean="0"/>
              <a:t>SQL </a:t>
            </a:r>
            <a:r>
              <a:rPr lang="es-CL" sz="1400" dirty="0" err="1" smtClean="0"/>
              <a:t>Loader</a:t>
            </a:r>
            <a:r>
              <a:rPr lang="es-CL" sz="1400" dirty="0" smtClean="0"/>
              <a:t> (Oracle)</a:t>
            </a:r>
            <a:endParaRPr lang="es-CL" sz="1400" dirty="0" smtClean="0"/>
          </a:p>
          <a:p>
            <a:pPr algn="ctr"/>
            <a:r>
              <a:rPr lang="es-CL" sz="1400" dirty="0" smtClean="0"/>
              <a:t>COPY (</a:t>
            </a:r>
            <a:r>
              <a:rPr lang="es-CL" sz="1400" dirty="0" err="1" smtClean="0"/>
              <a:t>PostgreSQL</a:t>
            </a:r>
            <a:r>
              <a:rPr lang="es-CL" sz="1400" dirty="0" smtClean="0"/>
              <a:t>)</a:t>
            </a:r>
            <a:endParaRPr lang="en-US" sz="1400" dirty="0"/>
          </a:p>
        </p:txBody>
      </p:sp>
      <p:sp>
        <p:nvSpPr>
          <p:cNvPr id="29" name="Decisión 28"/>
          <p:cNvSpPr/>
          <p:nvPr/>
        </p:nvSpPr>
        <p:spPr>
          <a:xfrm>
            <a:off x="3739517" y="3440173"/>
            <a:ext cx="715881" cy="404051"/>
          </a:xfrm>
          <a:prstGeom prst="flowChartDecisi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Conector angular 29"/>
          <p:cNvCxnSpPr>
            <a:stCxn id="22" idx="1"/>
            <a:endCxn id="27" idx="3"/>
          </p:cNvCxnSpPr>
          <p:nvPr/>
        </p:nvCxnSpPr>
        <p:spPr>
          <a:xfrm rot="10800000" flipV="1">
            <a:off x="4434875" y="2206783"/>
            <a:ext cx="607630" cy="390483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angular 30"/>
          <p:cNvCxnSpPr>
            <a:stCxn id="29" idx="2"/>
            <a:endCxn id="25" idx="0"/>
          </p:cNvCxnSpPr>
          <p:nvPr/>
        </p:nvCxnSpPr>
        <p:spPr>
          <a:xfrm rot="16200000" flipH="1">
            <a:off x="5122318" y="2819363"/>
            <a:ext cx="635862" cy="2685583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angular 31"/>
          <p:cNvCxnSpPr>
            <a:stCxn id="27" idx="2"/>
            <a:endCxn id="29" idx="0"/>
          </p:cNvCxnSpPr>
          <p:nvPr/>
        </p:nvCxnSpPr>
        <p:spPr>
          <a:xfrm rot="16200000" flipH="1">
            <a:off x="3844714" y="3187428"/>
            <a:ext cx="502779" cy="271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Imagen 3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249605" y="3225821"/>
            <a:ext cx="492295" cy="492295"/>
          </a:xfrm>
          <a:prstGeom prst="rect">
            <a:avLst/>
          </a:prstGeom>
        </p:spPr>
      </p:pic>
      <p:pic>
        <p:nvPicPr>
          <p:cNvPr id="34" name="Imagen 3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722" y="3788329"/>
            <a:ext cx="307153" cy="307153"/>
          </a:xfrm>
          <a:prstGeom prst="rect">
            <a:avLst/>
          </a:prstGeom>
        </p:spPr>
      </p:pic>
      <p:cxnSp>
        <p:nvCxnSpPr>
          <p:cNvPr id="35" name="Conector angular 34"/>
          <p:cNvCxnSpPr>
            <a:stCxn id="29" idx="1"/>
            <a:endCxn id="4" idx="3"/>
          </p:cNvCxnSpPr>
          <p:nvPr/>
        </p:nvCxnSpPr>
        <p:spPr>
          <a:xfrm rot="10800000" flipV="1">
            <a:off x="1250681" y="3642198"/>
            <a:ext cx="2488836" cy="848769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angular 35"/>
          <p:cNvCxnSpPr>
            <a:stCxn id="25" idx="1"/>
            <a:endCxn id="4" idx="3"/>
          </p:cNvCxnSpPr>
          <p:nvPr/>
        </p:nvCxnSpPr>
        <p:spPr>
          <a:xfrm rot="10800000">
            <a:off x="1250681" y="4490968"/>
            <a:ext cx="4156892" cy="37598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/>
          <p:cNvSpPr txBox="1"/>
          <p:nvPr/>
        </p:nvSpPr>
        <p:spPr>
          <a:xfrm>
            <a:off x="4817534" y="2487824"/>
            <a:ext cx="1307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 smtClean="0"/>
              <a:t>Volcado a disco</a:t>
            </a:r>
            <a:endParaRPr lang="en-US" sz="1400" dirty="0"/>
          </a:p>
        </p:txBody>
      </p:sp>
      <p:sp>
        <p:nvSpPr>
          <p:cNvPr id="49" name="CuadroTexto 48"/>
          <p:cNvSpPr txBox="1"/>
          <p:nvPr/>
        </p:nvSpPr>
        <p:spPr>
          <a:xfrm>
            <a:off x="6301033" y="2658661"/>
            <a:ext cx="27553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CL" sz="1600" dirty="0" smtClean="0"/>
              <a:t>Lecturas</a:t>
            </a:r>
            <a:endParaRPr lang="es-CL" sz="1600" dirty="0" smtClean="0"/>
          </a:p>
          <a:p>
            <a:pPr marL="285750" indent="-285750">
              <a:buFontTx/>
              <a:buChar char="-"/>
            </a:pPr>
            <a:r>
              <a:rPr lang="es-CL" sz="1600" dirty="0" smtClean="0"/>
              <a:t>Demandas</a:t>
            </a:r>
            <a:endParaRPr lang="es-CL" sz="1600" dirty="0" smtClean="0"/>
          </a:p>
          <a:p>
            <a:pPr marL="285750" indent="-285750">
              <a:buFontTx/>
              <a:buChar char="-"/>
            </a:pPr>
            <a:r>
              <a:rPr lang="es-CL" sz="1600" dirty="0" smtClean="0"/>
              <a:t>Consumos cada 15 minutos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31" y="4132243"/>
            <a:ext cx="717450" cy="71745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01763" y="4792388"/>
            <a:ext cx="16014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Base de Datos</a:t>
            </a:r>
            <a:endParaRPr lang="es-CL" dirty="0" smtClean="0"/>
          </a:p>
          <a:p>
            <a:pPr algn="ctr"/>
            <a:r>
              <a:rPr lang="es-CL" dirty="0" smtClean="0"/>
              <a:t>Integración</a:t>
            </a:r>
            <a:endParaRPr lang="es-CL" dirty="0" smtClean="0"/>
          </a:p>
          <a:p>
            <a:pPr algn="ctr"/>
            <a:r>
              <a:rPr lang="es-CL" dirty="0" smtClean="0"/>
              <a:t>(Enel Sistemas)</a:t>
            </a:r>
            <a:endParaRPr lang="es-CL" dirty="0" smtClean="0"/>
          </a:p>
        </p:txBody>
      </p:sp>
      <p:sp>
        <p:nvSpPr>
          <p:cNvPr id="6" name="CuadroTexto 5"/>
          <p:cNvSpPr txBox="1"/>
          <p:nvPr/>
        </p:nvSpPr>
        <p:spPr>
          <a:xfrm>
            <a:off x="168811" y="1122252"/>
            <a:ext cx="1540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u="sng" dirty="0" smtClean="0"/>
              <a:t>Distribuidora</a:t>
            </a:r>
            <a:endParaRPr lang="en-US" sz="2000" u="sng" dirty="0"/>
          </a:p>
        </p:txBody>
      </p:sp>
      <p:sp>
        <p:nvSpPr>
          <p:cNvPr id="7" name="Rectángulo 6"/>
          <p:cNvSpPr/>
          <p:nvPr/>
        </p:nvSpPr>
        <p:spPr>
          <a:xfrm>
            <a:off x="1829840" y="1522362"/>
            <a:ext cx="7239306" cy="420318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1981194" y="1049573"/>
            <a:ext cx="668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u="sng" dirty="0" smtClean="0"/>
              <a:t>Recepción de lecturas y curva de carga desde sistema </a:t>
            </a:r>
            <a:r>
              <a:rPr lang="es-ES" sz="2000" u="sng" dirty="0" err="1" smtClean="0"/>
              <a:t>StarBeat</a:t>
            </a:r>
            <a:endParaRPr lang="en-US" sz="2000" u="sng" dirty="0"/>
          </a:p>
        </p:txBody>
      </p:sp>
      <p:sp>
        <p:nvSpPr>
          <p:cNvPr id="14" name="CuadroTexto 13"/>
          <p:cNvSpPr txBox="1"/>
          <p:nvPr/>
        </p:nvSpPr>
        <p:spPr>
          <a:xfrm>
            <a:off x="9249048" y="1161433"/>
            <a:ext cx="10752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u="sng" dirty="0" err="1" smtClean="0"/>
              <a:t>StarBeat</a:t>
            </a:r>
            <a:endParaRPr lang="en-US" sz="2000" u="sng" dirty="0"/>
          </a:p>
        </p:txBody>
      </p:sp>
      <p:sp>
        <p:nvSpPr>
          <p:cNvPr id="17" name="CuadroTexto 16"/>
          <p:cNvSpPr txBox="1"/>
          <p:nvPr/>
        </p:nvSpPr>
        <p:spPr>
          <a:xfrm>
            <a:off x="9232428" y="3168459"/>
            <a:ext cx="1215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smtClean="0"/>
              <a:t>JMS Server</a:t>
            </a:r>
            <a:endParaRPr lang="en-US" dirty="0"/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768" y="1883229"/>
            <a:ext cx="525118" cy="635808"/>
          </a:xfrm>
          <a:prstGeom prst="rect">
            <a:avLst/>
          </a:prstGeom>
        </p:spPr>
      </p:pic>
      <p:sp>
        <p:nvSpPr>
          <p:cNvPr id="20" name="Rectángulo 19"/>
          <p:cNvSpPr/>
          <p:nvPr/>
        </p:nvSpPr>
        <p:spPr>
          <a:xfrm>
            <a:off x="6086697" y="1852244"/>
            <a:ext cx="2569593" cy="7085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err="1" smtClean="0">
                <a:solidFill>
                  <a:schemeClr val="tx1"/>
                </a:solidFill>
              </a:rPr>
              <a:t>IntegradorJMS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" name="Conector angular 20"/>
          <p:cNvCxnSpPr>
            <a:stCxn id="48" idx="1"/>
            <a:endCxn id="20" idx="3"/>
          </p:cNvCxnSpPr>
          <p:nvPr/>
        </p:nvCxnSpPr>
        <p:spPr>
          <a:xfrm rot="10800000">
            <a:off x="8656290" y="2206500"/>
            <a:ext cx="545006" cy="32297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Imagen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05" y="1884096"/>
            <a:ext cx="645376" cy="645376"/>
          </a:xfrm>
          <a:prstGeom prst="rect">
            <a:avLst/>
          </a:prstGeom>
        </p:spPr>
      </p:pic>
      <p:cxnSp>
        <p:nvCxnSpPr>
          <p:cNvPr id="23" name="Conector angular 22"/>
          <p:cNvCxnSpPr>
            <a:stCxn id="20" idx="1"/>
            <a:endCxn id="22" idx="3"/>
          </p:cNvCxnSpPr>
          <p:nvPr/>
        </p:nvCxnSpPr>
        <p:spPr>
          <a:xfrm rot="10800000" flipV="1">
            <a:off x="5687881" y="2206500"/>
            <a:ext cx="398816" cy="284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n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559" y="4581268"/>
            <a:ext cx="564985" cy="564985"/>
          </a:xfrm>
          <a:prstGeom prst="rect">
            <a:avLst/>
          </a:prstGeom>
        </p:spPr>
      </p:pic>
      <p:sp>
        <p:nvSpPr>
          <p:cNvPr id="25" name="Rectángulo 24"/>
          <p:cNvSpPr/>
          <p:nvPr/>
        </p:nvSpPr>
        <p:spPr>
          <a:xfrm>
            <a:off x="5512013" y="4480086"/>
            <a:ext cx="2983790" cy="7737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CL" dirty="0" err="1" smtClean="0">
                <a:solidFill>
                  <a:schemeClr val="tx1"/>
                </a:solidFill>
              </a:rPr>
              <a:t>IntegradorJMSReinyecta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407" y="4013530"/>
            <a:ext cx="494955" cy="494955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621" y="2257140"/>
            <a:ext cx="680254" cy="680254"/>
          </a:xfrm>
          <a:prstGeom prst="rect">
            <a:avLst/>
          </a:prstGeom>
        </p:spPr>
      </p:pic>
      <p:sp>
        <p:nvSpPr>
          <p:cNvPr id="28" name="CuadroTexto 27"/>
          <p:cNvSpPr txBox="1"/>
          <p:nvPr/>
        </p:nvSpPr>
        <p:spPr>
          <a:xfrm>
            <a:off x="2201590" y="1931106"/>
            <a:ext cx="1625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400" dirty="0" smtClean="0"/>
              <a:t>PERSISTENCIA</a:t>
            </a:r>
            <a:endParaRPr lang="es-CL" sz="1400" dirty="0" smtClean="0"/>
          </a:p>
          <a:p>
            <a:pPr algn="ctr"/>
            <a:r>
              <a:rPr lang="es-CL" sz="1400" dirty="0" smtClean="0"/>
              <a:t>SQL </a:t>
            </a:r>
            <a:r>
              <a:rPr lang="es-CL" sz="1400" dirty="0" err="1" smtClean="0"/>
              <a:t>Loader</a:t>
            </a:r>
            <a:r>
              <a:rPr lang="es-CL" sz="1400" dirty="0" smtClean="0"/>
              <a:t> (Oracle)</a:t>
            </a:r>
            <a:endParaRPr lang="es-CL" sz="1400" dirty="0" smtClean="0"/>
          </a:p>
        </p:txBody>
      </p:sp>
      <p:sp>
        <p:nvSpPr>
          <p:cNvPr id="29" name="Decisión 28"/>
          <p:cNvSpPr/>
          <p:nvPr/>
        </p:nvSpPr>
        <p:spPr>
          <a:xfrm>
            <a:off x="3739517" y="3440173"/>
            <a:ext cx="715881" cy="404051"/>
          </a:xfrm>
          <a:prstGeom prst="flowChartDecisi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Conector angular 29"/>
          <p:cNvCxnSpPr>
            <a:stCxn id="22" idx="1"/>
            <a:endCxn id="27" idx="3"/>
          </p:cNvCxnSpPr>
          <p:nvPr/>
        </p:nvCxnSpPr>
        <p:spPr>
          <a:xfrm rot="10800000" flipV="1">
            <a:off x="4434875" y="2206783"/>
            <a:ext cx="607630" cy="390483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angular 30"/>
          <p:cNvCxnSpPr>
            <a:stCxn id="29" idx="2"/>
            <a:endCxn id="25" idx="0"/>
          </p:cNvCxnSpPr>
          <p:nvPr/>
        </p:nvCxnSpPr>
        <p:spPr>
          <a:xfrm rot="16200000" flipH="1">
            <a:off x="5232752" y="2708930"/>
            <a:ext cx="635862" cy="290645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angular 31"/>
          <p:cNvCxnSpPr>
            <a:stCxn id="27" idx="2"/>
            <a:endCxn id="29" idx="0"/>
          </p:cNvCxnSpPr>
          <p:nvPr/>
        </p:nvCxnSpPr>
        <p:spPr>
          <a:xfrm rot="16200000" flipH="1">
            <a:off x="3844714" y="3187428"/>
            <a:ext cx="502779" cy="271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Imagen 3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249605" y="3225821"/>
            <a:ext cx="492295" cy="492295"/>
          </a:xfrm>
          <a:prstGeom prst="rect">
            <a:avLst/>
          </a:prstGeom>
        </p:spPr>
      </p:pic>
      <p:pic>
        <p:nvPicPr>
          <p:cNvPr id="34" name="Imagen 3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722" y="3788329"/>
            <a:ext cx="307153" cy="307153"/>
          </a:xfrm>
          <a:prstGeom prst="rect">
            <a:avLst/>
          </a:prstGeom>
        </p:spPr>
      </p:pic>
      <p:cxnSp>
        <p:nvCxnSpPr>
          <p:cNvPr id="35" name="Conector angular 34"/>
          <p:cNvCxnSpPr>
            <a:stCxn id="29" idx="1"/>
            <a:endCxn id="4" idx="3"/>
          </p:cNvCxnSpPr>
          <p:nvPr/>
        </p:nvCxnSpPr>
        <p:spPr>
          <a:xfrm rot="10800000" flipV="1">
            <a:off x="1250681" y="3642198"/>
            <a:ext cx="2488836" cy="848769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angular 35"/>
          <p:cNvCxnSpPr>
            <a:stCxn id="25" idx="1"/>
            <a:endCxn id="4" idx="3"/>
          </p:cNvCxnSpPr>
          <p:nvPr/>
        </p:nvCxnSpPr>
        <p:spPr>
          <a:xfrm rot="10800000">
            <a:off x="1250681" y="4490968"/>
            <a:ext cx="4261332" cy="37598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/>
          <p:cNvSpPr txBox="1"/>
          <p:nvPr/>
        </p:nvSpPr>
        <p:spPr>
          <a:xfrm>
            <a:off x="4817534" y="2487824"/>
            <a:ext cx="1307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 smtClean="0"/>
              <a:t>Volcado a disco</a:t>
            </a:r>
            <a:endParaRPr lang="en-US" sz="1400" dirty="0"/>
          </a:p>
        </p:txBody>
      </p:sp>
      <p:sp>
        <p:nvSpPr>
          <p:cNvPr id="38" name="CuadroTexto 37"/>
          <p:cNvSpPr txBox="1"/>
          <p:nvPr/>
        </p:nvSpPr>
        <p:spPr>
          <a:xfrm>
            <a:off x="6301033" y="2658661"/>
            <a:ext cx="17206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CL" sz="1600" dirty="0" smtClean="0"/>
              <a:t>Lecturas</a:t>
            </a:r>
            <a:endParaRPr lang="es-CL" sz="1600" dirty="0" smtClean="0"/>
          </a:p>
          <a:p>
            <a:pPr marL="285750" indent="-285750">
              <a:buFontTx/>
              <a:buChar char="-"/>
            </a:pPr>
            <a:r>
              <a:rPr lang="es-CL" sz="1600" dirty="0" smtClean="0"/>
              <a:t>Curva de Carga</a:t>
            </a:r>
            <a:endParaRPr lang="es-CL" sz="1600" dirty="0" smtClean="0"/>
          </a:p>
        </p:txBody>
      </p:sp>
      <p:pic>
        <p:nvPicPr>
          <p:cNvPr id="48" name="Imagen 4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1296" y="1890706"/>
            <a:ext cx="1277532" cy="1277532"/>
          </a:xfrm>
          <a:prstGeom prst="rect">
            <a:avLst/>
          </a:prstGeom>
        </p:spPr>
      </p:pic>
      <p:pic>
        <p:nvPicPr>
          <p:cNvPr id="10" name="Marcador de posición de contenido 9"/>
          <p:cNvPicPr>
            <a:picLocks noChangeAspect="1"/>
          </p:cNvPicPr>
          <p:nvPr>
            <p:ph idx="1"/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640" y="4184650"/>
            <a:ext cx="718820" cy="589915"/>
          </a:xfrm>
          <a:prstGeom prst="rect">
            <a:avLst/>
          </a:prstGeom>
        </p:spPr>
      </p:pic>
      <p:sp>
        <p:nvSpPr>
          <p:cNvPr id="13" name="Flecha izquierda y derecha 12"/>
          <p:cNvSpPr/>
          <p:nvPr/>
        </p:nvSpPr>
        <p:spPr>
          <a:xfrm>
            <a:off x="10447069" y="4317776"/>
            <a:ext cx="506437" cy="345944"/>
          </a:xfrm>
          <a:prstGeom prst="leftRight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467" y="4013656"/>
            <a:ext cx="931706" cy="931706"/>
          </a:xfrm>
          <a:prstGeom prst="rect">
            <a:avLst/>
          </a:prstGeom>
        </p:spPr>
      </p:pic>
      <p:sp>
        <p:nvSpPr>
          <p:cNvPr id="18" name="Flecha arriba 17"/>
          <p:cNvSpPr/>
          <p:nvPr/>
        </p:nvSpPr>
        <p:spPr>
          <a:xfrm>
            <a:off x="9648006" y="3545200"/>
            <a:ext cx="537078" cy="461665"/>
          </a:xfrm>
          <a:prstGeom prst="upArrow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CuadroTexto 10"/>
          <p:cNvSpPr txBox="1"/>
          <p:nvPr/>
        </p:nvSpPr>
        <p:spPr>
          <a:xfrm>
            <a:off x="10653185" y="4952120"/>
            <a:ext cx="12268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s-CL" dirty="0" smtClean="0"/>
              <a:t>Monitoring</a:t>
            </a:r>
            <a:endParaRPr lang="es-CL" dirty="0" smtClean="0"/>
          </a:p>
          <a:p>
            <a:pPr algn="ctr"/>
            <a:r>
              <a:rPr lang="es-CL" dirty="0" err="1" smtClean="0"/>
              <a:t>Meters</a:t>
            </a:r>
            <a:endParaRPr lang="en-U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9432716" y="4952552"/>
            <a:ext cx="9677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s-CL" dirty="0" err="1" smtClean="0"/>
              <a:t>Starbeat</a:t>
            </a:r>
            <a:endParaRPr lang="es-CL" dirty="0" err="1" smtClean="0"/>
          </a:p>
          <a:p>
            <a:pPr algn="ctr"/>
            <a:r>
              <a:rPr lang="es-CL" dirty="0" err="1" smtClean="0"/>
              <a:t>System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2348</Words>
  <Application>WPS Presentation</Application>
  <PresentationFormat>Panorámica</PresentationFormat>
  <Paragraphs>220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Tema de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LynxSPA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Lenovo</dc:creator>
  <cp:lastModifiedBy>CL146041000</cp:lastModifiedBy>
  <cp:revision>66</cp:revision>
  <dcterms:created xsi:type="dcterms:W3CDTF">2021-01-07T13:18:00Z</dcterms:created>
  <dcterms:modified xsi:type="dcterms:W3CDTF">2021-10-06T17:30:02Z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0x010100519AFFBCE879BC45BFF8E1E520784B63</vt:lpwstr>
  </property>
  <property fmtid="{D5CDD505-2E9C-101B-9397-08002B2CF9AE}" pid="3" name="ICV">
    <vt:lpwstr>993F2AF8AADA48358ABD20A1A6201E5E</vt:lpwstr>
  </property>
  <property fmtid="{D5CDD505-2E9C-101B-9397-08002B2CF9AE}" pid="4" name="KSOProductBuildVer">
    <vt:lpwstr>2058-11.2.0.10323</vt:lpwstr>
  </property>
</Properties>
</file>
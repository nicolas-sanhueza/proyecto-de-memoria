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11" r:id="rId2"/>
    <p:sldId id="512" r:id="rId3"/>
  </p:sldIdLst>
  <p:sldSz cx="12192000" cy="6858000"/>
  <p:notesSz cx="9928225" cy="6797675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1728" userDrawn="1">
          <p15:clr>
            <a:srgbClr val="A4A3A4"/>
          </p15:clr>
        </p15:guide>
        <p15:guide id="4" orient="horz" pos="1296" userDrawn="1">
          <p15:clr>
            <a:srgbClr val="A4A3A4"/>
          </p15:clr>
        </p15:guide>
        <p15:guide id="5" orient="horz" pos="864" userDrawn="1">
          <p15:clr>
            <a:srgbClr val="A4A3A4"/>
          </p15:clr>
        </p15:guide>
        <p15:guide id="6" orient="horz" pos="434" userDrawn="1">
          <p15:clr>
            <a:srgbClr val="A4A3A4"/>
          </p15:clr>
        </p15:guide>
        <p15:guide id="7" orient="horz" pos="2590" userDrawn="1">
          <p15:clr>
            <a:srgbClr val="A4A3A4"/>
          </p15:clr>
        </p15:guide>
        <p15:guide id="8" orient="horz" pos="3022" userDrawn="1">
          <p15:clr>
            <a:srgbClr val="A4A3A4"/>
          </p15:clr>
        </p15:guide>
        <p15:guide id="9" orient="horz" pos="3454" userDrawn="1">
          <p15:clr>
            <a:srgbClr val="A4A3A4"/>
          </p15:clr>
        </p15:guide>
        <p15:guide id="10" orient="horz" pos="3884" userDrawn="1">
          <p15:clr>
            <a:srgbClr val="A4A3A4"/>
          </p15:clr>
        </p15:guide>
        <p15:guide id="11" pos="3359" userDrawn="1">
          <p15:clr>
            <a:srgbClr val="A4A3A4"/>
          </p15:clr>
        </p15:guide>
        <p15:guide id="12" pos="2880" userDrawn="1">
          <p15:clr>
            <a:srgbClr val="A4A3A4"/>
          </p15:clr>
        </p15:guide>
        <p15:guide id="13" pos="2398" userDrawn="1">
          <p15:clr>
            <a:srgbClr val="A4A3A4"/>
          </p15:clr>
        </p15:guide>
        <p15:guide id="14" pos="1920" userDrawn="1">
          <p15:clr>
            <a:srgbClr val="A4A3A4"/>
          </p15:clr>
        </p15:guide>
        <p15:guide id="15" pos="1438" userDrawn="1">
          <p15:clr>
            <a:srgbClr val="A4A3A4"/>
          </p15:clr>
        </p15:guide>
        <p15:guide id="16" pos="960" userDrawn="1">
          <p15:clr>
            <a:srgbClr val="A4A3A4"/>
          </p15:clr>
        </p15:guide>
        <p15:guide id="17" pos="479" userDrawn="1">
          <p15:clr>
            <a:srgbClr val="A4A3A4"/>
          </p15:clr>
        </p15:guide>
        <p15:guide id="18" pos="4320" userDrawn="1">
          <p15:clr>
            <a:srgbClr val="A4A3A4"/>
          </p15:clr>
        </p15:guide>
        <p15:guide id="19" pos="4798" userDrawn="1">
          <p15:clr>
            <a:srgbClr val="A4A3A4"/>
          </p15:clr>
        </p15:guide>
        <p15:guide id="20" pos="5278" userDrawn="1">
          <p15:clr>
            <a:srgbClr val="A4A3A4"/>
          </p15:clr>
        </p15:guide>
        <p15:guide id="21" pos="5756" userDrawn="1">
          <p15:clr>
            <a:srgbClr val="A4A3A4"/>
          </p15:clr>
        </p15:guide>
        <p15:guide id="22" pos="6236" userDrawn="1">
          <p15:clr>
            <a:srgbClr val="A4A3A4"/>
          </p15:clr>
        </p15:guide>
        <p15:guide id="23" pos="6718" userDrawn="1">
          <p15:clr>
            <a:srgbClr val="A4A3A4"/>
          </p15:clr>
        </p15:guide>
        <p15:guide id="24" pos="7198" userDrawn="1">
          <p15:clr>
            <a:srgbClr val="A4A3A4"/>
          </p15:clr>
        </p15:guide>
        <p15:guide id="25" orient="horz" pos="2152">
          <p15:clr>
            <a:srgbClr val="A4A3A4"/>
          </p15:clr>
        </p15:guide>
        <p15:guide id="26" orient="horz" pos="870">
          <p15:clr>
            <a:srgbClr val="A4A3A4"/>
          </p15:clr>
        </p15:guide>
        <p15:guide id="27" pos="49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clrMru>
    <a:srgbClr val="F17C3F"/>
    <a:srgbClr val="40515A"/>
    <a:srgbClr val="021C54"/>
    <a:srgbClr val="FE4C8C"/>
    <a:srgbClr val="02A668"/>
    <a:srgbClr val="FD492B"/>
    <a:srgbClr val="3376FB"/>
    <a:srgbClr val="EC2502"/>
    <a:srgbClr val="BFBFBF"/>
    <a:srgbClr val="E7EFF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2029" autoAdjust="0"/>
  </p:normalViewPr>
  <p:slideViewPr>
    <p:cSldViewPr snapToGrid="0" snapToObjects="1">
      <p:cViewPr varScale="1">
        <p:scale>
          <a:sx n="110" d="100"/>
          <a:sy n="110" d="100"/>
        </p:scale>
        <p:origin x="438" y="108"/>
      </p:cViewPr>
      <p:guideLst>
        <p:guide pos="3840"/>
        <p:guide orient="horz" pos="2160"/>
        <p:guide orient="horz" pos="1728"/>
        <p:guide orient="horz" pos="1296"/>
        <p:guide orient="horz" pos="864"/>
        <p:guide orient="horz" pos="434"/>
        <p:guide orient="horz" pos="2590"/>
        <p:guide orient="horz" pos="3022"/>
        <p:guide orient="horz" pos="3454"/>
        <p:guide orient="horz" pos="3884"/>
        <p:guide pos="3359"/>
        <p:guide pos="2880"/>
        <p:guide pos="2398"/>
        <p:guide pos="1920"/>
        <p:guide pos="1438"/>
        <p:guide pos="960"/>
        <p:guide pos="479"/>
        <p:guide pos="4320"/>
        <p:guide pos="4798"/>
        <p:guide pos="5278"/>
        <p:guide pos="5756"/>
        <p:guide pos="6236"/>
        <p:guide pos="6718"/>
        <p:guide pos="7198"/>
        <p:guide orient="horz" pos="2152"/>
        <p:guide orient="horz" pos="870"/>
        <p:guide pos="4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231" cy="339884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4A71F510-2865-AD40-B295-EFE53B47B615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613"/>
            <a:ext cx="4302231" cy="339884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FB7C96FB-A7F6-4D46-979D-BE69A3DE088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753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231" cy="341064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41064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38A2DA8-FDC1-D147-9E87-8AE9AC161936}" type="datetimeFigureOut">
              <a:rPr lang="en-GB" smtClean="0"/>
              <a:pPr/>
              <a:t>05/05/2021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41063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41063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1A54B304-E99A-554B-A154-AA493B70D9FA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3023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7616824" cy="1368425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2825" y="3429007"/>
            <a:ext cx="6109388" cy="276999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5519" y="3429007"/>
            <a:ext cx="1510613" cy="27699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es-ES"/>
              <a:t>Santiago, 07 de Abril de 2017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1615349" y="-157777"/>
            <a:ext cx="691602" cy="2398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026" name="Picture 2" descr="\\psf\Home\Desktop\ENELLOGO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9519702" y="5483226"/>
            <a:ext cx="1907123" cy="6910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131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s-ES"/>
              <a:t>Santiago, 07 de Abril de 2017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085368"/>
            <a:ext cx="8375650" cy="276999"/>
          </a:xfrm>
        </p:spPr>
        <p:txBody>
          <a:bodyPr rIns="0">
            <a:noAutofit/>
          </a:bodyPr>
          <a:lstStyle>
            <a:lvl1pPr>
              <a:defRPr sz="19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8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ggetto 10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8375651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noProof="0"/>
              <a:t>Fare clic per modificare lo stile del titolo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055703"/>
            <a:ext cx="10664825" cy="4110147"/>
          </a:xfrm>
          <a:prstGeom prst="rect">
            <a:avLst/>
          </a:prstGeom>
        </p:spPr>
        <p:txBody>
          <a:bodyPr vert="horz" wrap="square" lIns="0" tIns="0" rIns="180000" bIns="0" rtlCol="0">
            <a:no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2211" y="6264005"/>
            <a:ext cx="1510613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noProof="0"/>
              <a:t>Santiago, 07 de Abril de 2017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825" y="6264005"/>
            <a:ext cx="8381999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4825" y="6264005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0" name="Rectangle 9"/>
          <p:cNvSpPr/>
          <p:nvPr/>
        </p:nvSpPr>
        <p:spPr>
          <a:xfrm>
            <a:off x="403225" y="688975"/>
            <a:ext cx="196850" cy="6826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/>
          </a:p>
        </p:txBody>
      </p:sp>
      <p:pic>
        <p:nvPicPr>
          <p:cNvPr id="9" name="Picture 2" descr="\\psf\Home\Desktop\ENELLOGO1.jp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100484" y="690090"/>
            <a:ext cx="1326339" cy="4805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22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6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None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8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960" userDrawn="1">
          <p15:clr>
            <a:srgbClr val="F26B43"/>
          </p15:clr>
        </p15:guide>
        <p15:guide id="6" pos="1438" userDrawn="1">
          <p15:clr>
            <a:srgbClr val="F26B43"/>
          </p15:clr>
        </p15:guide>
        <p15:guide id="7" pos="2398" userDrawn="1">
          <p15:clr>
            <a:srgbClr val="F26B43"/>
          </p15:clr>
        </p15:guide>
        <p15:guide id="8" pos="2880" userDrawn="1">
          <p15:clr>
            <a:srgbClr val="F26B43"/>
          </p15:clr>
        </p15:guide>
        <p15:guide id="9" pos="3360" userDrawn="1">
          <p15:clr>
            <a:srgbClr val="F26B43"/>
          </p15:clr>
        </p15:guide>
        <p15:guide id="10" pos="4320" userDrawn="1">
          <p15:clr>
            <a:srgbClr val="F26B43"/>
          </p15:clr>
        </p15:guide>
        <p15:guide id="11" pos="4798" userDrawn="1">
          <p15:clr>
            <a:srgbClr val="F26B43"/>
          </p15:clr>
        </p15:guide>
        <p15:guide id="12" pos="5278" userDrawn="1">
          <p15:clr>
            <a:srgbClr val="F26B43"/>
          </p15:clr>
        </p15:guide>
        <p15:guide id="13" pos="5756" userDrawn="1">
          <p15:clr>
            <a:srgbClr val="F26B43"/>
          </p15:clr>
        </p15:guide>
        <p15:guide id="14" pos="6236" userDrawn="1">
          <p15:clr>
            <a:srgbClr val="F26B43"/>
          </p15:clr>
        </p15:guide>
        <p15:guide id="15" pos="6718" userDrawn="1">
          <p15:clr>
            <a:srgbClr val="F26B43"/>
          </p15:clr>
        </p15:guide>
        <p15:guide id="16" pos="7197" userDrawn="1">
          <p15:clr>
            <a:srgbClr val="F26B43"/>
          </p15:clr>
        </p15:guide>
        <p15:guide id="17" orient="horz" pos="1728" userDrawn="1">
          <p15:clr>
            <a:srgbClr val="F26B43"/>
          </p15:clr>
        </p15:guide>
        <p15:guide id="18" orient="horz" pos="1296" userDrawn="1">
          <p15:clr>
            <a:srgbClr val="F26B43"/>
          </p15:clr>
        </p15:guide>
        <p15:guide id="19" orient="horz" pos="864" userDrawn="1">
          <p15:clr>
            <a:srgbClr val="F26B43"/>
          </p15:clr>
        </p15:guide>
        <p15:guide id="20" orient="horz" pos="434" userDrawn="1">
          <p15:clr>
            <a:srgbClr val="F26B43"/>
          </p15:clr>
        </p15:guide>
        <p15:guide id="21" orient="horz" pos="2590" userDrawn="1">
          <p15:clr>
            <a:srgbClr val="F26B43"/>
          </p15:clr>
        </p15:guide>
        <p15:guide id="22" orient="horz" pos="3022" userDrawn="1">
          <p15:clr>
            <a:srgbClr val="F26B43"/>
          </p15:clr>
        </p15:guide>
        <p15:guide id="23" orient="horz" pos="3454" userDrawn="1">
          <p15:clr>
            <a:srgbClr val="F26B43"/>
          </p15:clr>
        </p15:guide>
        <p15:guide id="24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1</a:t>
            </a:fld>
            <a:endParaRPr lang="en-GB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51" y="1028072"/>
            <a:ext cx="11583404" cy="556613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FCC1A49A-97A5-4AE2-8056-F088A965D8C6}"/>
              </a:ext>
            </a:extLst>
          </p:cNvPr>
          <p:cNvSpPr txBox="1">
            <a:spLocks/>
          </p:cNvSpPr>
          <p:nvPr/>
        </p:nvSpPr>
        <p:spPr>
          <a:xfrm>
            <a:off x="555635" y="355502"/>
            <a:ext cx="7173475" cy="394838"/>
          </a:xfrm>
          <a:prstGeom prst="rect">
            <a:avLst/>
          </a:prstGeom>
        </p:spPr>
        <p:txBody>
          <a:bodyPr vert="horz" wrap="square" lIns="121870" tIns="60935" rIns="121870" bIns="60935" rtlCol="0" anchor="t">
            <a:noAutofit/>
          </a:bodyPr>
          <a:lstStyle/>
          <a:p>
            <a:pPr defTabSz="914126">
              <a:lnSpc>
                <a:spcPct val="90000"/>
              </a:lnSpc>
              <a:defRPr/>
            </a:pPr>
            <a:r>
              <a:rPr lang="es-E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Homologación: Plazos y pagos</a:t>
            </a:r>
            <a:endParaRPr lang="en-US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75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41AFD-E086-4F60-A439-EE00BA8C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 documentación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620497-41E1-475A-BADC-008D26B2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471749"/>
            <a:ext cx="10664825" cy="4694101"/>
          </a:xfrm>
        </p:spPr>
        <p:txBody>
          <a:bodyPr/>
          <a:lstStyle/>
          <a:p>
            <a:r>
              <a:rPr lang="es-CL" sz="1600" b="1" dirty="0"/>
              <a:t>Requerimientos regulatorios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chemeClr val="accent5"/>
                </a:solidFill>
              </a:rPr>
              <a:t>Anexo norma técnica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chemeClr val="accent5"/>
                </a:solidFill>
                <a:highlight>
                  <a:srgbClr val="FFFF00"/>
                </a:highlight>
              </a:rPr>
              <a:t>Interpretación SEC – listado de requerimientos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chemeClr val="accent5"/>
                </a:solidFill>
                <a:highlight>
                  <a:srgbClr val="FFFF00"/>
                </a:highlight>
              </a:rPr>
              <a:t>Autoevaluación Enel</a:t>
            </a:r>
          </a:p>
          <a:p>
            <a:r>
              <a:rPr lang="es-CL" sz="1600" b="1" dirty="0"/>
              <a:t>Descripción arquitectura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chemeClr val="accent5"/>
                </a:solidFill>
              </a:rPr>
              <a:t>Solución tecnológica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chemeClr val="accent5"/>
                </a:solidFill>
              </a:rPr>
              <a:t>Casos de uso i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rgbClr val="FF0000"/>
                </a:solidFill>
              </a:rPr>
              <a:t>Documentos de especificaciones técnicas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rgbClr val="FF0000"/>
                </a:solidFill>
              </a:rPr>
              <a:t>Otros documentos funcionales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rgbClr val="FF0000"/>
                </a:solidFill>
              </a:rPr>
              <a:t>Normas internacionales</a:t>
            </a:r>
          </a:p>
          <a:p>
            <a:pPr marL="285750" indent="-285750">
              <a:buFontTx/>
              <a:buChar char="-"/>
            </a:pPr>
            <a:r>
              <a:rPr lang="es-CL" sz="1600" dirty="0">
                <a:solidFill>
                  <a:srgbClr val="FF0000"/>
                </a:solidFill>
              </a:rPr>
              <a:t>Otros antecedentes que solicite el consultor (conceptual vs real)</a:t>
            </a:r>
          </a:p>
          <a:p>
            <a:r>
              <a:rPr lang="es-CL" sz="1600" b="1" dirty="0"/>
              <a:t>Verificación de cumplimientos regulatorios</a:t>
            </a:r>
          </a:p>
          <a:p>
            <a:r>
              <a:rPr lang="es-CL" sz="1600" dirty="0">
                <a:solidFill>
                  <a:srgbClr val="FF0000"/>
                </a:solidFill>
              </a:rPr>
              <a:t>- Interpretación del consultor de Anexo SEC – listado de requerimientos</a:t>
            </a:r>
          </a:p>
          <a:p>
            <a:endParaRPr lang="es-CL" sz="1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DD4B36-A2F7-42F6-9CBD-2F6D9FED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2725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nel_PPTtemplate_26012016">
  <a:themeElements>
    <a:clrScheme name="NEW PRES">
      <a:dk1>
        <a:sysClr val="windowText" lastClr="000000"/>
      </a:dk1>
      <a:lt1>
        <a:sysClr val="window" lastClr="FFFFFF"/>
      </a:lt1>
      <a:dk2>
        <a:srgbClr val="C6C6C6"/>
      </a:dk2>
      <a:lt2>
        <a:srgbClr val="EDEEE8"/>
      </a:lt2>
      <a:accent1>
        <a:srgbClr val="0655FA"/>
      </a:accent1>
      <a:accent2>
        <a:srgbClr val="41B9E6"/>
      </a:accent2>
      <a:accent3>
        <a:srgbClr val="E71401"/>
      </a:accent3>
      <a:accent4>
        <a:srgbClr val="FE0F64"/>
      </a:accent4>
      <a:accent5>
        <a:srgbClr val="028C59"/>
      </a:accent5>
      <a:accent6>
        <a:srgbClr val="55BD5A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el_PPTtemplate_v2-6[JPEG+VECTORLOGO]" id="{A78A76FD-14E2-4D80-A313-D0CAB5E218D4}" vid="{C3814A83-8DC5-4303-A835-89EF9FAE18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Enel_PPTtemplate_26012016</Template>
  <TotalTime>0</TotalTime>
  <Words>66</Words>
  <Application>Microsoft Office PowerPoint</Application>
  <PresentationFormat>Panorámica</PresentationFormat>
  <Paragraphs>17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Lucida Grande</vt:lpstr>
      <vt:lpstr>Enel_PPTtemplate_26012016</vt:lpstr>
      <vt:lpstr>think-cell Slide</vt:lpstr>
      <vt:lpstr>Presentación de PowerPoint</vt:lpstr>
      <vt:lpstr>Estructura de documentación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cp:lastPrinted>2016-01-26T17:14:29Z</cp:lastPrinted>
  <dcterms:created xsi:type="dcterms:W3CDTF">2016-01-28T15:43:06Z</dcterms:created>
  <dcterms:modified xsi:type="dcterms:W3CDTF">2021-05-05T16:13:23Z</dcterms:modified>
</cp:coreProperties>
</file>